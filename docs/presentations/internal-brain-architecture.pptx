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5de7c23d-48f0-3475-b68b-5804ee0f4823}">
          <p14:sldIdLst>
            <p14:sldId id="256"/>
            <p14:sldId id="257"/>
            <p14:sldId id="258"/>
          </p14:sldIdLst>
        </p14:section>
        <p14:section name="Architecture" id="{b569bb20-0b5d-39a4-0cb7-3cda96482380}">
          <p14:sldIdLst>
            <p14:sldId id="259"/>
            <p14:sldId id="260"/>
            <p14:sldId id="261"/>
          </p14:sldIdLst>
        </p14:section>
        <p14:section name="Proof" id="{fb6a4728-f364-47bc-8cd3-2dba567240c0}">
          <p14:sldIdLst>
            <p14:sldId id="262"/>
            <p14:sldId id="263"/>
            <p14:sldId id="264"/>
            <p14:sldId id="265"/>
            <p14:sldId id="266"/>
            <p14:sldId id="267"/>
            <p14:sldId id="268"/>
            <p14:sldId id="269"/>
          </p14:sldIdLst>
        </p14:section>
        <p14:section name="Internal" id="{284762e1-6fd3-8c74-30b2-1519280a7324}">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A6A6A6"/>
            </a:solidFill>
            <a:effectLst/>
          </c:spPr>
          <c:invertIfNegative val="0"/>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549F58"/>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D1D1D"/>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731520"/>
            <a:ext cx="3566160" cy="384048"/>
          </a:xfrm>
          <a:prstGeom prst="roundRect">
            <a:avLst>
              <a:gd name="adj" fmla="val 50000"/>
            </a:avLst>
          </a:prstGeom>
          <a:solidFill>
            <a:srgbClr val="EAF3EA"/>
          </a:solidFill>
          <a:ln/>
        </p:spPr>
        <p:txBody>
          <a:bodyPr wrap="square" lIns="0" tIns="0" rIns="0" bIns="0" rtlCol="0" anchor="ctr"/>
          <a:lstStyle/>
          <a:p>
            <a:pPr algn="ctr" indent="0" marL="0">
              <a:buNone/>
            </a:pPr>
            <a:r>
              <a:rPr lang="en-US" sz="1200" b="1" dirty="0">
                <a:solidFill>
                  <a:schemeClr val="accent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6000" b="1" dirty="0">
                <a:solidFill>
                  <a:schemeClr val="tx2"/>
                </a:solidFill>
              </a:rPr>
              <a:t>Brain Sauce.</a:t>
            </a:r>
            <a:endParaRPr lang="en-US" sz="6000" dirty="0"/>
          </a:p>
        </p:txBody>
      </p:sp>
      <p:sp>
        <p:nvSpPr>
          <p:cNvPr id="4" name="text-2"/>
          <p:cNvSpPr txBox="1"/>
          <p:nvPr/>
        </p:nvSpPr>
        <p:spPr>
          <a:xfrm>
            <a:off x="640080" y="2286000"/>
            <a:ext cx="7863840" cy="914400"/>
          </a:xfrm>
          <a:prstGeom prst="rect">
            <a:avLst/>
          </a:prstGeom>
          <a:noFill/>
          <a:ln/>
        </p:spPr>
        <p:txBody>
          <a:bodyPr wrap="square" lIns="0" tIns="0" rIns="0" bIns="0" rtlCol="0" anchor="t"/>
          <a:lstStyle/>
          <a:p>
            <a:pPr algn="l" indent="0" marL="0">
              <a:buNone/>
            </a:pPr>
            <a:r>
              <a:rPr lang="en-US" sz="5400" b="1" dirty="0">
                <a:solidFill>
                  <a:srgbClr val="A6A6A6"/>
                </a:solidFill>
              </a:rPr>
              <a:t>Answers with receipts.</a:t>
            </a:r>
            <a:endParaRPr lang="en-US" sz="5400" dirty="0"/>
          </a:p>
        </p:txBody>
      </p:sp>
      <p:sp>
        <p:nvSpPr>
          <p:cNvPr id="5" name="text-3"/>
          <p:cNvSpPr txBox="1"/>
          <p:nvPr/>
        </p:nvSpPr>
        <p:spPr>
          <a:xfrm>
            <a:off x="640080" y="3520440"/>
            <a:ext cx="6766560" cy="914400"/>
          </a:xfrm>
          <a:prstGeom prst="rect">
            <a:avLst/>
          </a:prstGeom>
          <a:noFill/>
          <a:ln/>
        </p:spPr>
        <p:txBody>
          <a:bodyPr wrap="square" lIns="0" tIns="0" rIns="0" bIns="0" rtlCol="0" anchor="t"/>
          <a:lstStyle/>
          <a:p>
            <a:pPr algn="l" indent="0" marL="0">
              <a:buNone/>
            </a:pPr>
            <a:r>
              <a:rPr lang="en-US" sz="1800" dirty="0">
                <a:solidFill>
                  <a:srgbClr val="666666"/>
                </a:solidFill>
              </a:rPr>
              <a:t>Ask one question across Confluence, Jira, Slack and Google Drive. Get an answer built only from what you are allowed to see, with the proof attached.</a:t>
            </a:r>
            <a:endParaRPr lang="en-US" sz="1800" dirty="0"/>
          </a:p>
        </p:txBody>
      </p:sp>
      <p:sp>
        <p:nvSpPr>
          <p:cNvPr id="6" name="text-4"/>
          <p:cNvSpPr txBox="1"/>
          <p:nvPr/>
        </p:nvSpPr>
        <p:spPr>
          <a:xfrm>
            <a:off x="640080" y="4572000"/>
            <a:ext cx="6766560" cy="640080"/>
          </a:xfrm>
          <a:prstGeom prst="rect">
            <a:avLst/>
          </a:prstGeom>
          <a:noFill/>
          <a:ln/>
        </p:spPr>
        <p:txBody>
          <a:bodyPr wrap="square" lIns="0" tIns="0" rIns="0" bIns="0" rtlCol="0" anchor="t"/>
          <a:lstStyle/>
          <a:p>
            <a:pPr algn="l" indent="0" marL="0">
              <a:buNone/>
            </a:pPr>
            <a:r>
              <a:rPr lang="en-US" sz="1300" b="1" dirty="0">
                <a:solidFill>
                  <a:schemeClr val="tx2"/>
                </a:solidFill>
              </a:rPr>
              <a:t>Challenge: </a:t>
            </a:r>
            <a:pPr algn="l" indent="0" marL="0">
              <a:buNone/>
            </a:pPr>
            <a:r>
              <a:rPr lang="en-US" sz="1300" dirty="0">
                <a:solidFill>
                  <a:srgbClr val="666666"/>
                </a:solidFill>
              </a:rPr>
              <a:t>The Internal Brain: a context-aware enterprise knowledge system with RBAC, security logging and audit trail</a:t>
            </a:r>
            <a:endParaRPr lang="en-US" sz="1300" dirty="0"/>
          </a:p>
        </p:txBody>
      </p:sp>
      <p:sp>
        <p:nvSpPr>
          <p:cNvPr id="7" name="text-5"/>
          <p:cNvSpPr txBox="1"/>
          <p:nvPr/>
        </p:nvSpPr>
        <p:spPr>
          <a:xfrm>
            <a:off x="640080" y="6035040"/>
            <a:ext cx="10515600" cy="320040"/>
          </a:xfrm>
          <a:prstGeom prst="rect">
            <a:avLst/>
          </a:prstGeom>
          <a:noFill/>
          <a:ln/>
        </p:spPr>
        <p:txBody>
          <a:bodyPr wrap="square" lIns="0" tIns="0" rIns="0" bIns="0" rtlCol="0" anchor="t"/>
          <a:lstStyle/>
          <a:p>
            <a:pPr algn="l" indent="0" marL="0">
              <a:buNone/>
            </a:pPr>
            <a:r>
              <a:rPr lang="en-US" sz="1200" dirty="0">
                <a:solidFill>
                  <a:schemeClr val="accent6"/>
                </a:solidFill>
              </a:rPr>
              <a:t>Team: Chai · Raphael · Pavan     |     Tencent Cloud AI CAN DO IT Hackathon Singapore 2026</a:t>
            </a:r>
            <a:endParaRPr lang="en-US" sz="1200" dirty="0"/>
          </a:p>
        </p:txBody>
      </p:sp>
      <p:sp>
        <p:nvSpPr>
          <p:cNvPr id="8" name="icon-bg-6"/>
          <p:cNvSpPr/>
          <p:nvPr/>
        </p:nvSpPr>
        <p:spPr>
          <a:xfrm>
            <a:off x="8366760" y="914400"/>
            <a:ext cx="731520" cy="731520"/>
          </a:xfrm>
          <a:prstGeom prst="ellipse">
            <a:avLst/>
          </a:prstGeom>
          <a:solidFill>
            <a:schemeClr val="bg2"/>
          </a:solidFill>
          <a:ln/>
        </p:spPr>
      </p:sp>
      <p:pic>
        <p:nvPicPr>
          <p:cNvPr id="9" name="icon-7" descr="preencoded.png">    </p:cNvPr>
          <p:cNvPicPr>
            <a:picLocks noChangeAspect="1"/>
          </p:cNvPicPr>
          <p:nvPr/>
        </p:nvPicPr>
        <p:blipFill>
          <a:blip r:embed="rId1"/>
          <a:stretch>
            <a:fillRect/>
          </a:stretch>
        </p:blipFill>
        <p:spPr>
          <a:xfrm>
            <a:off x="8527694" y="1075334"/>
            <a:ext cx="409651" cy="409651"/>
          </a:xfrm>
          <a:prstGeom prst="rect">
            <a:avLst/>
          </a:prstGeom>
        </p:spPr>
      </p:pic>
      <p:sp>
        <p:nvSpPr>
          <p:cNvPr id="10" name="text-8"/>
          <p:cNvSpPr txBox="1"/>
          <p:nvPr/>
        </p:nvSpPr>
        <p:spPr>
          <a:xfrm>
            <a:off x="8183880" y="1682496"/>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Confluence</a:t>
            </a:r>
            <a:endParaRPr lang="en-US" sz="1100" dirty="0"/>
          </a:p>
        </p:txBody>
      </p:sp>
      <p:sp>
        <p:nvSpPr>
          <p:cNvPr id="11" name="arrow-9"/>
          <p:cNvSpPr/>
          <p:nvPr/>
        </p:nvSpPr>
        <p:spPr>
          <a:xfrm>
            <a:off x="9189720" y="1280160"/>
            <a:ext cx="868680" cy="1554480"/>
          </a:xfrm>
          <a:prstGeom prst="line">
            <a:avLst/>
          </a:prstGeom>
          <a:noFill/>
          <a:ln w="15875">
            <a:solidFill>
              <a:srgbClr val="D7D7D7"/>
            </a:solidFill>
            <a:prstDash val="solid"/>
            <a:tailEnd type="triangle"/>
          </a:ln>
        </p:spPr>
      </p:sp>
      <p:sp>
        <p:nvSpPr>
          <p:cNvPr id="12" name="icon-bg-10"/>
          <p:cNvSpPr/>
          <p:nvPr/>
        </p:nvSpPr>
        <p:spPr>
          <a:xfrm>
            <a:off x="8366760" y="1993392"/>
            <a:ext cx="731520" cy="731520"/>
          </a:xfrm>
          <a:prstGeom prst="ellipse">
            <a:avLst/>
          </a:prstGeom>
          <a:solidFill>
            <a:schemeClr val="bg2"/>
          </a:solidFill>
          <a:ln/>
        </p:spPr>
      </p:sp>
      <p:pic>
        <p:nvPicPr>
          <p:cNvPr id="13" name="icon-11" descr="preencoded.png">    </p:cNvPr>
          <p:cNvPicPr>
            <a:picLocks noChangeAspect="1"/>
          </p:cNvPicPr>
          <p:nvPr/>
        </p:nvPicPr>
        <p:blipFill>
          <a:blip r:embed="rId2"/>
          <a:stretch>
            <a:fillRect/>
          </a:stretch>
        </p:blipFill>
        <p:spPr>
          <a:xfrm>
            <a:off x="8527694" y="2154326"/>
            <a:ext cx="409651" cy="409651"/>
          </a:xfrm>
          <a:prstGeom prst="rect">
            <a:avLst/>
          </a:prstGeom>
        </p:spPr>
      </p:pic>
      <p:sp>
        <p:nvSpPr>
          <p:cNvPr id="14" name="text-12"/>
          <p:cNvSpPr txBox="1"/>
          <p:nvPr/>
        </p:nvSpPr>
        <p:spPr>
          <a:xfrm>
            <a:off x="8183880" y="2761488"/>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Jira</a:t>
            </a:r>
            <a:endParaRPr lang="en-US" sz="1100" dirty="0"/>
          </a:p>
        </p:txBody>
      </p:sp>
      <p:sp>
        <p:nvSpPr>
          <p:cNvPr id="15" name="arrow-13"/>
          <p:cNvSpPr/>
          <p:nvPr/>
        </p:nvSpPr>
        <p:spPr>
          <a:xfrm>
            <a:off x="9189720" y="2359152"/>
            <a:ext cx="868680" cy="475488"/>
          </a:xfrm>
          <a:prstGeom prst="line">
            <a:avLst/>
          </a:prstGeom>
          <a:noFill/>
          <a:ln w="15875">
            <a:solidFill>
              <a:srgbClr val="D7D7D7"/>
            </a:solidFill>
            <a:prstDash val="solid"/>
            <a:tailEnd type="triangle"/>
          </a:ln>
        </p:spPr>
      </p:sp>
      <p:sp>
        <p:nvSpPr>
          <p:cNvPr id="16" name="icon-bg-14"/>
          <p:cNvSpPr/>
          <p:nvPr/>
        </p:nvSpPr>
        <p:spPr>
          <a:xfrm>
            <a:off x="8366760" y="3072384"/>
            <a:ext cx="731520" cy="731520"/>
          </a:xfrm>
          <a:prstGeom prst="ellipse">
            <a:avLst/>
          </a:prstGeom>
          <a:solidFill>
            <a:schemeClr val="bg2"/>
          </a:solidFill>
          <a:ln/>
        </p:spPr>
      </p:sp>
      <p:pic>
        <p:nvPicPr>
          <p:cNvPr id="17" name="icon-15" descr="preencoded.png">    </p:cNvPr>
          <p:cNvPicPr>
            <a:picLocks noChangeAspect="1"/>
          </p:cNvPicPr>
          <p:nvPr/>
        </p:nvPicPr>
        <p:blipFill>
          <a:blip r:embed="rId3"/>
          <a:stretch>
            <a:fillRect/>
          </a:stretch>
        </p:blipFill>
        <p:spPr>
          <a:xfrm>
            <a:off x="8527694" y="3233318"/>
            <a:ext cx="409651" cy="409651"/>
          </a:xfrm>
          <a:prstGeom prst="rect">
            <a:avLst/>
          </a:prstGeom>
        </p:spPr>
      </p:pic>
      <p:sp>
        <p:nvSpPr>
          <p:cNvPr id="18" name="text-16"/>
          <p:cNvSpPr txBox="1"/>
          <p:nvPr/>
        </p:nvSpPr>
        <p:spPr>
          <a:xfrm>
            <a:off x="8183880" y="3840480"/>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Slack</a:t>
            </a:r>
            <a:endParaRPr lang="en-US" sz="1100" dirty="0"/>
          </a:p>
        </p:txBody>
      </p:sp>
      <p:sp>
        <p:nvSpPr>
          <p:cNvPr id="19" name="arrow-17"/>
          <p:cNvSpPr/>
          <p:nvPr/>
        </p:nvSpPr>
        <p:spPr>
          <a:xfrm flipV="1">
            <a:off x="9189720" y="2834640"/>
            <a:ext cx="868680" cy="603504"/>
          </a:xfrm>
          <a:prstGeom prst="line">
            <a:avLst/>
          </a:prstGeom>
          <a:noFill/>
          <a:ln w="15875">
            <a:solidFill>
              <a:srgbClr val="D7D7D7"/>
            </a:solidFill>
            <a:prstDash val="solid"/>
            <a:tailEnd type="triangle"/>
          </a:ln>
        </p:spPr>
      </p:sp>
      <p:sp>
        <p:nvSpPr>
          <p:cNvPr id="20" name="icon-bg-18"/>
          <p:cNvSpPr/>
          <p:nvPr/>
        </p:nvSpPr>
        <p:spPr>
          <a:xfrm>
            <a:off x="8366760" y="4151376"/>
            <a:ext cx="731520" cy="731520"/>
          </a:xfrm>
          <a:prstGeom prst="ellipse">
            <a:avLst/>
          </a:prstGeom>
          <a:solidFill>
            <a:schemeClr val="bg2"/>
          </a:solidFill>
          <a:ln/>
        </p:spPr>
      </p:sp>
      <p:pic>
        <p:nvPicPr>
          <p:cNvPr id="21" name="icon-19" descr="preencoded.png">    </p:cNvPr>
          <p:cNvPicPr>
            <a:picLocks noChangeAspect="1"/>
          </p:cNvPicPr>
          <p:nvPr/>
        </p:nvPicPr>
        <p:blipFill>
          <a:blip r:embed="rId4"/>
          <a:stretch>
            <a:fillRect/>
          </a:stretch>
        </p:blipFill>
        <p:spPr>
          <a:xfrm>
            <a:off x="8527694" y="4312310"/>
            <a:ext cx="409651" cy="409651"/>
          </a:xfrm>
          <a:prstGeom prst="rect">
            <a:avLst/>
          </a:prstGeom>
        </p:spPr>
      </p:pic>
      <p:sp>
        <p:nvSpPr>
          <p:cNvPr id="22" name="text-20"/>
          <p:cNvSpPr txBox="1"/>
          <p:nvPr/>
        </p:nvSpPr>
        <p:spPr>
          <a:xfrm>
            <a:off x="8183880" y="4919472"/>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Google Drive</a:t>
            </a:r>
            <a:endParaRPr lang="en-US" sz="1100" dirty="0"/>
          </a:p>
        </p:txBody>
      </p:sp>
      <p:sp>
        <p:nvSpPr>
          <p:cNvPr id="23" name="arrow-21"/>
          <p:cNvSpPr/>
          <p:nvPr/>
        </p:nvSpPr>
        <p:spPr>
          <a:xfrm flipV="1">
            <a:off x="9189720" y="2834640"/>
            <a:ext cx="868680" cy="1682496"/>
          </a:xfrm>
          <a:prstGeom prst="line">
            <a:avLst/>
          </a:prstGeom>
          <a:noFill/>
          <a:ln w="15875">
            <a:solidFill>
              <a:srgbClr val="D7D7D7"/>
            </a:solidFill>
            <a:prstDash val="solid"/>
            <a:tailEnd type="triangle"/>
          </a:ln>
        </p:spPr>
      </p:sp>
      <p:sp>
        <p:nvSpPr>
          <p:cNvPr id="24" name="icon-bg-22"/>
          <p:cNvSpPr/>
          <p:nvPr/>
        </p:nvSpPr>
        <p:spPr>
          <a:xfrm>
            <a:off x="10104120" y="2377440"/>
            <a:ext cx="1005840" cy="1005840"/>
          </a:xfrm>
          <a:prstGeom prst="ellipse">
            <a:avLst/>
          </a:prstGeom>
          <a:solidFill>
            <a:srgbClr val="549F58"/>
          </a:solidFill>
          <a:ln/>
        </p:spPr>
      </p:sp>
      <p:pic>
        <p:nvPicPr>
          <p:cNvPr id="25" name="icon-23"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6" name="text-24"/>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tx2"/>
                </a:solidFill>
              </a:rPr>
              <a:t>Governed answer</a:t>
            </a:r>
            <a:endParaRPr lang="en-US" sz="1200" dirty="0"/>
          </a:p>
        </p:txBody>
      </p:sp>
      <p:sp>
        <p:nvSpPr>
          <p:cNvPr id="27" name="text-25"/>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chemeClr val="accent6"/>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chatbot on top of search fails a fintech</a:t>
            </a:r>
            <a:pPr algn="l" indent="0" marL="0">
              <a:buNone/>
            </a:pPr>
            <a:r>
              <a:rPr lang="en-US" sz="2600" b="1" dirty="0">
                <a:solidFill>
                  <a:srgbClr val="8C8C8C"/>
                </a:solidFill>
              </a:rPr>
              <a:t> in three ways</a:t>
            </a:r>
            <a:endParaRPr lang="en-US" sz="2600" dirty="0"/>
          </a:p>
        </p:txBody>
      </p:sp>
      <p:sp>
        <p:nvSpPr>
          <p:cNvPr id="3" name="problem-card-26"/>
          <p:cNvSpPr/>
          <p:nvPr/>
        </p:nvSpPr>
        <p:spPr>
          <a:xfrm>
            <a:off x="548640" y="1417320"/>
            <a:ext cx="3520440" cy="3246120"/>
          </a:xfrm>
          <a:prstGeom prst="roundRect">
            <a:avLst>
              <a:gd name="adj" fmla="val 1408"/>
            </a:avLst>
          </a:prstGeom>
          <a:solidFill>
            <a:schemeClr val="bg2"/>
          </a:solidFill>
          <a:ln/>
        </p:spPr>
      </p:sp>
      <p:sp>
        <p:nvSpPr>
          <p:cNvPr id="4" name="icon-bg-27"/>
          <p:cNvSpPr/>
          <p:nvPr/>
        </p:nvSpPr>
        <p:spPr>
          <a:xfrm>
            <a:off x="868680" y="1691640"/>
            <a:ext cx="731520" cy="731520"/>
          </a:xfrm>
          <a:prstGeom prst="ellipse">
            <a:avLst/>
          </a:prstGeom>
          <a:solidFill>
            <a:schemeClr val="accent2"/>
          </a:solidFill>
          <a:ln/>
        </p:spPr>
      </p:sp>
      <p:pic>
        <p:nvPicPr>
          <p:cNvPr id="5" name="icon-28"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9"/>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30"/>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1"/>
          <p:cNvSpPr/>
          <p:nvPr/>
        </p:nvSpPr>
        <p:spPr>
          <a:xfrm>
            <a:off x="4297680" y="1417320"/>
            <a:ext cx="3520440" cy="3246120"/>
          </a:xfrm>
          <a:prstGeom prst="roundRect">
            <a:avLst>
              <a:gd name="adj" fmla="val 1408"/>
            </a:avLst>
          </a:prstGeom>
          <a:solidFill>
            <a:schemeClr val="bg2"/>
          </a:solidFill>
          <a:ln/>
        </p:spPr>
      </p:sp>
      <p:sp>
        <p:nvSpPr>
          <p:cNvPr id="9" name="icon-bg-32"/>
          <p:cNvSpPr/>
          <p:nvPr/>
        </p:nvSpPr>
        <p:spPr>
          <a:xfrm>
            <a:off x="4617720" y="1691640"/>
            <a:ext cx="731520" cy="731520"/>
          </a:xfrm>
          <a:prstGeom prst="ellipse">
            <a:avLst/>
          </a:prstGeom>
          <a:solidFill>
            <a:schemeClr val="accent3"/>
          </a:solidFill>
          <a:ln/>
        </p:spPr>
      </p:sp>
      <p:pic>
        <p:nvPicPr>
          <p:cNvPr id="10" name="icon-33"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4"/>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5"/>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6"/>
          <p:cNvSpPr/>
          <p:nvPr/>
        </p:nvSpPr>
        <p:spPr>
          <a:xfrm>
            <a:off x="8046720" y="1417320"/>
            <a:ext cx="3520440" cy="3246120"/>
          </a:xfrm>
          <a:prstGeom prst="roundRect">
            <a:avLst>
              <a:gd name="adj" fmla="val 1408"/>
            </a:avLst>
          </a:prstGeom>
          <a:solidFill>
            <a:schemeClr val="bg2"/>
          </a:solidFill>
          <a:ln/>
        </p:spPr>
      </p:sp>
      <p:sp>
        <p:nvSpPr>
          <p:cNvPr id="14" name="icon-bg-37"/>
          <p:cNvSpPr/>
          <p:nvPr/>
        </p:nvSpPr>
        <p:spPr>
          <a:xfrm>
            <a:off x="8366760" y="1691640"/>
            <a:ext cx="731520" cy="731520"/>
          </a:xfrm>
          <a:prstGeom prst="ellipse">
            <a:avLst/>
          </a:prstGeom>
          <a:solidFill>
            <a:schemeClr val="accent5"/>
          </a:solidFill>
          <a:ln/>
        </p:spPr>
      </p:sp>
      <p:pic>
        <p:nvPicPr>
          <p:cNvPr id="15" name="icon-38"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9"/>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40"/>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1"/>
          <p:cNvSpPr/>
          <p:nvPr/>
        </p:nvSpPr>
        <p:spPr>
          <a:xfrm>
            <a:off x="548640" y="4983480"/>
            <a:ext cx="11064240" cy="1097280"/>
          </a:xfrm>
          <a:prstGeom prst="roundRect">
            <a:avLst>
              <a:gd name="adj" fmla="val 4167"/>
            </a:avLst>
          </a:prstGeom>
          <a:solidFill>
            <a:schemeClr val="tx2"/>
          </a:solidFill>
          <a:ln/>
        </p:spPr>
      </p:sp>
      <p:sp>
        <p:nvSpPr>
          <p:cNvPr id="19" name="text-42"/>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3"/>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employees</a:t>
            </a:r>
            <a:endParaRPr lang="en-US" sz="1300" dirty="0"/>
          </a:p>
        </p:txBody>
      </p:sp>
      <p:sp>
        <p:nvSpPr>
          <p:cNvPr id="21" name="text-44"/>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5"/>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countries</a:t>
            </a:r>
            <a:endParaRPr lang="en-US" sz="1300" dirty="0"/>
          </a:p>
        </p:txBody>
      </p:sp>
      <p:sp>
        <p:nvSpPr>
          <p:cNvPr id="23" name="text-46"/>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7"/>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client markets</a:t>
            </a:r>
            <a:endParaRPr lang="en-US" sz="1300" dirty="0"/>
          </a:p>
        </p:txBody>
      </p:sp>
      <p:sp>
        <p:nvSpPr>
          <p:cNvPr id="25" name="text-48"/>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9"/>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platforms, 4 permission models</a:t>
            </a:r>
            <a:endParaRPr lang="en-US" sz="1300" dirty="0"/>
          </a:p>
        </p:txBody>
      </p:sp>
      <p:sp>
        <p:nvSpPr>
          <p:cNvPr id="27" name="text-50"/>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A6A6A6"/>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One governed pipeline,</a:t>
            </a:r>
            <a:pPr algn="l" indent="0" marL="0">
              <a:buNone/>
            </a:pPr>
            <a:r>
              <a:rPr lang="en-US" sz="2600" b="1" dirty="0">
                <a:solidFill>
                  <a:srgbClr val="8C8C8C"/>
                </a:solidFill>
              </a:rPr>
              <a:t> four guarantees on every answer</a:t>
            </a:r>
            <a:endParaRPr lang="en-US" sz="2600" dirty="0"/>
          </a:p>
        </p:txBody>
      </p:sp>
      <p:sp>
        <p:nvSpPr>
          <p:cNvPr id="3" name="pillar-51"/>
          <p:cNvSpPr/>
          <p:nvPr/>
        </p:nvSpPr>
        <p:spPr>
          <a:xfrm>
            <a:off x="548640" y="1417320"/>
            <a:ext cx="2606040" cy="3657600"/>
          </a:xfrm>
          <a:prstGeom prst="roundRect">
            <a:avLst>
              <a:gd name="adj" fmla="val 1754"/>
            </a:avLst>
          </a:prstGeom>
          <a:solidFill>
            <a:srgbClr val="EAF3EA"/>
          </a:solidFill>
          <a:ln/>
        </p:spPr>
      </p:sp>
      <p:sp>
        <p:nvSpPr>
          <p:cNvPr id="4" name="icon-bg-52"/>
          <p:cNvSpPr/>
          <p:nvPr/>
        </p:nvSpPr>
        <p:spPr>
          <a:xfrm>
            <a:off x="822960" y="1691640"/>
            <a:ext cx="777240" cy="77724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4"/>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5"/>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6"/>
          <p:cNvSpPr/>
          <p:nvPr/>
        </p:nvSpPr>
        <p:spPr>
          <a:xfrm>
            <a:off x="3364992" y="1417320"/>
            <a:ext cx="2606040" cy="3657600"/>
          </a:xfrm>
          <a:prstGeom prst="roundRect">
            <a:avLst>
              <a:gd name="adj" fmla="val 1754"/>
            </a:avLst>
          </a:prstGeom>
          <a:solidFill>
            <a:srgbClr val="FCF3E3"/>
          </a:solidFill>
          <a:ln/>
        </p:spPr>
      </p:sp>
      <p:sp>
        <p:nvSpPr>
          <p:cNvPr id="9" name="icon-bg-57"/>
          <p:cNvSpPr/>
          <p:nvPr/>
        </p:nvSpPr>
        <p:spPr>
          <a:xfrm>
            <a:off x="3639312" y="1691640"/>
            <a:ext cx="777240" cy="777240"/>
          </a:xfrm>
          <a:prstGeom prst="ellipse">
            <a:avLst/>
          </a:prstGeom>
          <a:solidFill>
            <a:schemeClr val="accent3"/>
          </a:solidFill>
          <a:ln/>
        </p:spPr>
      </p:sp>
      <p:pic>
        <p:nvPicPr>
          <p:cNvPr id="10" name="icon-58"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9"/>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60"/>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1"/>
          <p:cNvSpPr/>
          <p:nvPr/>
        </p:nvSpPr>
        <p:spPr>
          <a:xfrm>
            <a:off x="6181344" y="1417320"/>
            <a:ext cx="2606040" cy="3657600"/>
          </a:xfrm>
          <a:prstGeom prst="roundRect">
            <a:avLst>
              <a:gd name="adj" fmla="val 1754"/>
            </a:avLst>
          </a:prstGeom>
          <a:solidFill>
            <a:srgbClr val="F5F5F5"/>
          </a:solidFill>
          <a:ln/>
        </p:spPr>
      </p:sp>
      <p:sp>
        <p:nvSpPr>
          <p:cNvPr id="14" name="icon-bg-62"/>
          <p:cNvSpPr/>
          <p:nvPr/>
        </p:nvSpPr>
        <p:spPr>
          <a:xfrm>
            <a:off x="6455664" y="1691640"/>
            <a:ext cx="777240" cy="777240"/>
          </a:xfrm>
          <a:prstGeom prst="ellipse">
            <a:avLst/>
          </a:prstGeom>
          <a:solidFill>
            <a:schemeClr val="accent4"/>
          </a:solidFill>
          <a:ln/>
        </p:spPr>
      </p:sp>
      <p:pic>
        <p:nvPicPr>
          <p:cNvPr id="15" name="icon-63"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4"/>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5"/>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6"/>
          <p:cNvSpPr/>
          <p:nvPr/>
        </p:nvSpPr>
        <p:spPr>
          <a:xfrm>
            <a:off x="8997696" y="1417320"/>
            <a:ext cx="2606040" cy="3657600"/>
          </a:xfrm>
          <a:prstGeom prst="roundRect">
            <a:avLst>
              <a:gd name="adj" fmla="val 1754"/>
            </a:avLst>
          </a:prstGeom>
          <a:solidFill>
            <a:srgbClr val="F5F5F5"/>
          </a:solidFill>
          <a:ln/>
        </p:spPr>
      </p:sp>
      <p:sp>
        <p:nvSpPr>
          <p:cNvPr id="19" name="icon-bg-67"/>
          <p:cNvSpPr/>
          <p:nvPr/>
        </p:nvSpPr>
        <p:spPr>
          <a:xfrm>
            <a:off x="9272016" y="1691640"/>
            <a:ext cx="777240" cy="777240"/>
          </a:xfrm>
          <a:prstGeom prst="ellipse">
            <a:avLst/>
          </a:prstGeom>
          <a:solidFill>
            <a:schemeClr val="accent5"/>
          </a:solidFill>
          <a:ln/>
        </p:spPr>
      </p:sp>
      <p:pic>
        <p:nvPicPr>
          <p:cNvPr id="20" name="icon-68"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9"/>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70"/>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1"/>
          <p:cNvSpPr txBox="1"/>
          <p:nvPr/>
        </p:nvSpPr>
        <p:spPr>
          <a:xfrm>
            <a:off x="548640" y="525780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Restricted evidence never reaches</a:t>
            </a:r>
            <a:pPr algn="l" indent="0" marL="0">
              <a:buNone/>
            </a:pPr>
            <a:r>
              <a:rPr lang="en-US" sz="2600" b="1" dirty="0">
                <a:solidFill>
                  <a:srgbClr val="8C8C8C"/>
                </a:solidFill>
              </a:rPr>
              <a:t> the language model</a:t>
            </a:r>
            <a:endParaRPr lang="en-US" sz="2600" dirty="0"/>
          </a:p>
        </p:txBody>
      </p:sp>
      <p:sp>
        <p:nvSpPr>
          <p:cNvPr id="3" name="zone-untrusted-72"/>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3"/>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4"/>
          <p:cNvSpPr/>
          <p:nvPr/>
        </p:nvSpPr>
        <p:spPr>
          <a:xfrm>
            <a:off x="1965960" y="1463040"/>
            <a:ext cx="6629400" cy="1755648"/>
          </a:xfrm>
          <a:prstGeom prst="roundRect">
            <a:avLst>
              <a:gd name="adj" fmla="val 3125"/>
            </a:avLst>
          </a:prstGeom>
          <a:solidFill>
            <a:srgbClr val="F5F5F5"/>
          </a:solidFill>
          <a:ln/>
        </p:spPr>
      </p:sp>
      <p:sp>
        <p:nvSpPr>
          <p:cNvPr id="6" name="text-75"/>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6"/>
          <p:cNvSpPr/>
          <p:nvPr/>
        </p:nvSpPr>
        <p:spPr>
          <a:xfrm>
            <a:off x="8659368" y="1463040"/>
            <a:ext cx="1609344" cy="1755648"/>
          </a:xfrm>
          <a:prstGeom prst="roundRect">
            <a:avLst>
              <a:gd name="adj" fmla="val 3409"/>
            </a:avLst>
          </a:prstGeom>
          <a:solidFill>
            <a:srgbClr val="F5F5F5"/>
          </a:solidFill>
          <a:ln w="12700">
            <a:solidFill>
              <a:schemeClr val="accent5"/>
            </a:solidFill>
            <a:prstDash val="dash"/>
          </a:ln>
        </p:spPr>
      </p:sp>
      <p:sp>
        <p:nvSpPr>
          <p:cNvPr id="8" name="text-77"/>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8"/>
          <p:cNvSpPr/>
          <p:nvPr/>
        </p:nvSpPr>
        <p:spPr>
          <a:xfrm>
            <a:off x="10332720" y="1463040"/>
            <a:ext cx="1609344" cy="1755648"/>
          </a:xfrm>
          <a:prstGeom prst="roundRect">
            <a:avLst>
              <a:gd name="adj" fmla="val 3409"/>
            </a:avLst>
          </a:prstGeom>
          <a:solidFill>
            <a:srgbClr val="F5F5F5"/>
          </a:solidFill>
          <a:ln/>
        </p:spPr>
      </p:sp>
      <p:sp>
        <p:nvSpPr>
          <p:cNvPr id="10" name="text-79"/>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80"/>
          <p:cNvSpPr/>
          <p:nvPr/>
        </p:nvSpPr>
        <p:spPr>
          <a:xfrm>
            <a:off x="411480" y="1874520"/>
            <a:ext cx="1371600" cy="1207008"/>
          </a:xfrm>
          <a:prstGeom prst="roundRect">
            <a:avLst>
              <a:gd name="adj" fmla="val 3788"/>
            </a:avLst>
          </a:prstGeom>
          <a:solidFill>
            <a:schemeClr val="bg1"/>
          </a:solidFill>
          <a:ln w="15875">
            <a:solidFill>
              <a:schemeClr val="accent6"/>
            </a:solidFill>
            <a:prstDash val="solid"/>
          </a:ln>
        </p:spPr>
      </p:sp>
      <p:sp>
        <p:nvSpPr>
          <p:cNvPr id="12" name="text-81"/>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2"/>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Employee, contractor, auditor or agent</a:t>
            </a:r>
            <a:endParaRPr lang="en-US" sz="1050" dirty="0"/>
          </a:p>
        </p:txBody>
      </p:sp>
      <p:sp>
        <p:nvSpPr>
          <p:cNvPr id="14" name="arrow-83"/>
          <p:cNvSpPr/>
          <p:nvPr/>
        </p:nvSpPr>
        <p:spPr>
          <a:xfrm>
            <a:off x="1783080" y="2478024"/>
            <a:ext cx="301752" cy="91"/>
          </a:xfrm>
          <a:prstGeom prst="line">
            <a:avLst/>
          </a:prstGeom>
          <a:noFill/>
          <a:ln w="22225">
            <a:solidFill>
              <a:schemeClr val="accent6"/>
            </a:solidFill>
            <a:prstDash val="solid"/>
            <a:tailEnd type="triangle"/>
          </a:ln>
        </p:spPr>
      </p:sp>
      <p:sp>
        <p:nvSpPr>
          <p:cNvPr id="15" name="step-84"/>
          <p:cNvSpPr/>
          <p:nvPr/>
        </p:nvSpPr>
        <p:spPr>
          <a:xfrm>
            <a:off x="2084832" y="1874520"/>
            <a:ext cx="1371600" cy="1207008"/>
          </a:xfrm>
          <a:prstGeom prst="roundRect">
            <a:avLst>
              <a:gd name="adj" fmla="val 3788"/>
            </a:avLst>
          </a:prstGeom>
          <a:solidFill>
            <a:schemeClr val="bg1"/>
          </a:solidFill>
          <a:ln w="15875">
            <a:solidFill>
              <a:schemeClr val="accent4"/>
            </a:solidFill>
            <a:prstDash val="solid"/>
          </a:ln>
        </p:spPr>
      </p:sp>
      <p:sp>
        <p:nvSpPr>
          <p:cNvPr id="16" name="text-85"/>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6"/>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Resolved server-side; demo personas, SSO in production</a:t>
            </a:r>
            <a:endParaRPr lang="en-US" sz="1050" dirty="0"/>
          </a:p>
        </p:txBody>
      </p:sp>
      <p:sp>
        <p:nvSpPr>
          <p:cNvPr id="18" name="arrow-87"/>
          <p:cNvSpPr/>
          <p:nvPr/>
        </p:nvSpPr>
        <p:spPr>
          <a:xfrm>
            <a:off x="3456432" y="2478024"/>
            <a:ext cx="301752" cy="91"/>
          </a:xfrm>
          <a:prstGeom prst="line">
            <a:avLst/>
          </a:prstGeom>
          <a:noFill/>
          <a:ln w="22225">
            <a:solidFill>
              <a:schemeClr val="accent6"/>
            </a:solidFill>
            <a:prstDash val="solid"/>
            <a:tailEnd type="triangle"/>
          </a:ln>
        </p:spPr>
      </p:sp>
      <p:sp>
        <p:nvSpPr>
          <p:cNvPr id="19" name="step-88"/>
          <p:cNvSpPr/>
          <p:nvPr/>
        </p:nvSpPr>
        <p:spPr>
          <a:xfrm>
            <a:off x="3758184" y="1874520"/>
            <a:ext cx="1371600" cy="1207008"/>
          </a:xfrm>
          <a:prstGeom prst="roundRect">
            <a:avLst>
              <a:gd name="adj" fmla="val 3788"/>
            </a:avLst>
          </a:prstGeom>
          <a:solidFill>
            <a:schemeClr val="bg1"/>
          </a:solidFill>
          <a:ln w="15875">
            <a:solidFill>
              <a:schemeClr val="accent4"/>
            </a:solidFill>
            <a:prstDash val="solid"/>
          </a:ln>
        </p:spPr>
      </p:sp>
      <p:sp>
        <p:nvSpPr>
          <p:cNvPr id="20" name="text-89"/>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90"/>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Hybrid keyword + vector search across all four sources</a:t>
            </a:r>
            <a:endParaRPr lang="en-US" sz="1050" dirty="0"/>
          </a:p>
        </p:txBody>
      </p:sp>
      <p:sp>
        <p:nvSpPr>
          <p:cNvPr id="22" name="arrow-91"/>
          <p:cNvSpPr/>
          <p:nvPr/>
        </p:nvSpPr>
        <p:spPr>
          <a:xfrm>
            <a:off x="5129784" y="2478024"/>
            <a:ext cx="301752" cy="91"/>
          </a:xfrm>
          <a:prstGeom prst="line">
            <a:avLst/>
          </a:prstGeom>
          <a:noFill/>
          <a:ln w="22225">
            <a:solidFill>
              <a:schemeClr val="accent6"/>
            </a:solidFill>
            <a:prstDash val="solid"/>
            <a:tailEnd type="triangle"/>
          </a:ln>
        </p:spPr>
      </p:sp>
      <p:sp>
        <p:nvSpPr>
          <p:cNvPr id="23" name="step-92"/>
          <p:cNvSpPr/>
          <p:nvPr/>
        </p:nvSpPr>
        <p:spPr>
          <a:xfrm>
            <a:off x="5431536" y="1874520"/>
            <a:ext cx="1371600" cy="1207008"/>
          </a:xfrm>
          <a:prstGeom prst="roundRect">
            <a:avLst>
              <a:gd name="adj" fmla="val 3788"/>
            </a:avLst>
          </a:prstGeom>
          <a:solidFill>
            <a:srgbClr val="EAF3EA"/>
          </a:solidFill>
          <a:ln w="28575">
            <a:solidFill>
              <a:schemeClr val="accent1"/>
            </a:solidFill>
            <a:prstDash val="solid"/>
          </a:ln>
        </p:spPr>
      </p:sp>
      <p:sp>
        <p:nvSpPr>
          <p:cNvPr id="24" name="text-93"/>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4"/>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Allow/deny per document; permissions under 5 min old</a:t>
            </a:r>
            <a:endParaRPr lang="en-US" sz="1050" dirty="0"/>
          </a:p>
        </p:txBody>
      </p:sp>
      <p:sp>
        <p:nvSpPr>
          <p:cNvPr id="26" name="arrow-95"/>
          <p:cNvSpPr/>
          <p:nvPr/>
        </p:nvSpPr>
        <p:spPr>
          <a:xfrm>
            <a:off x="6803136" y="2478024"/>
            <a:ext cx="301752" cy="91"/>
          </a:xfrm>
          <a:prstGeom prst="line">
            <a:avLst/>
          </a:prstGeom>
          <a:noFill/>
          <a:ln w="22225">
            <a:solidFill>
              <a:schemeClr val="accent1"/>
            </a:solidFill>
            <a:prstDash val="solid"/>
            <a:tailEnd type="triangle"/>
          </a:ln>
        </p:spPr>
      </p:sp>
      <p:sp>
        <p:nvSpPr>
          <p:cNvPr id="27" name="step-96"/>
          <p:cNvSpPr/>
          <p:nvPr/>
        </p:nvSpPr>
        <p:spPr>
          <a:xfrm>
            <a:off x="7104888" y="1874520"/>
            <a:ext cx="1371600" cy="1207008"/>
          </a:xfrm>
          <a:prstGeom prst="roundRect">
            <a:avLst>
              <a:gd name="adj" fmla="val 3788"/>
            </a:avLst>
          </a:prstGeom>
          <a:solidFill>
            <a:schemeClr val="bg1"/>
          </a:solidFill>
          <a:ln w="15875">
            <a:solidFill>
              <a:schemeClr val="accent3"/>
            </a:solidFill>
            <a:prstDash val="solid"/>
          </a:ln>
        </p:spPr>
      </p:sp>
      <p:sp>
        <p:nvSpPr>
          <p:cNvPr id="28" name="text-97"/>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8"/>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Live-verify critical docs; screen injection</a:t>
            </a:r>
            <a:endParaRPr lang="en-US" sz="1050" dirty="0"/>
          </a:p>
        </p:txBody>
      </p:sp>
      <p:sp>
        <p:nvSpPr>
          <p:cNvPr id="30" name="arrow-99"/>
          <p:cNvSpPr/>
          <p:nvPr/>
        </p:nvSpPr>
        <p:spPr>
          <a:xfrm>
            <a:off x="8476488" y="2478024"/>
            <a:ext cx="301752" cy="91"/>
          </a:xfrm>
          <a:prstGeom prst="line">
            <a:avLst/>
          </a:prstGeom>
          <a:noFill/>
          <a:ln w="22225">
            <a:solidFill>
              <a:schemeClr val="accent1"/>
            </a:solidFill>
            <a:prstDash val="solid"/>
            <a:tailEnd type="triangle"/>
          </a:ln>
        </p:spPr>
      </p:sp>
      <p:sp>
        <p:nvSpPr>
          <p:cNvPr id="31" name="step-100"/>
          <p:cNvSpPr/>
          <p:nvPr/>
        </p:nvSpPr>
        <p:spPr>
          <a:xfrm>
            <a:off x="8778240" y="1874520"/>
            <a:ext cx="1371600" cy="1207008"/>
          </a:xfrm>
          <a:prstGeom prst="roundRect">
            <a:avLst>
              <a:gd name="adj" fmla="val 3788"/>
            </a:avLst>
          </a:prstGeom>
          <a:solidFill>
            <a:schemeClr val="bg1"/>
          </a:solidFill>
          <a:ln w="15875">
            <a:solidFill>
              <a:schemeClr val="accent5"/>
            </a:solidFill>
            <a:prstDash val="solid"/>
          </a:ln>
        </p:spPr>
      </p:sp>
      <p:sp>
        <p:nvSpPr>
          <p:cNvPr id="32" name="text-101"/>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2"/>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Tencent Cloud ADP composes from cited spans</a:t>
            </a:r>
            <a:endParaRPr lang="en-US" sz="1050" dirty="0"/>
          </a:p>
        </p:txBody>
      </p:sp>
      <p:sp>
        <p:nvSpPr>
          <p:cNvPr id="34" name="arrow-103"/>
          <p:cNvSpPr/>
          <p:nvPr/>
        </p:nvSpPr>
        <p:spPr>
          <a:xfrm>
            <a:off x="10149840" y="2478024"/>
            <a:ext cx="301752" cy="91"/>
          </a:xfrm>
          <a:prstGeom prst="line">
            <a:avLst/>
          </a:prstGeom>
          <a:noFill/>
          <a:ln w="22225">
            <a:solidFill>
              <a:schemeClr val="accent6"/>
            </a:solidFill>
            <a:prstDash val="solid"/>
            <a:tailEnd type="triangle"/>
          </a:ln>
        </p:spPr>
      </p:sp>
      <p:sp>
        <p:nvSpPr>
          <p:cNvPr id="35" name="step-104"/>
          <p:cNvSpPr/>
          <p:nvPr/>
        </p:nvSpPr>
        <p:spPr>
          <a:xfrm>
            <a:off x="10451592" y="1874520"/>
            <a:ext cx="1371600" cy="1207008"/>
          </a:xfrm>
          <a:prstGeom prst="roundRect">
            <a:avLst>
              <a:gd name="adj" fmla="val 3788"/>
            </a:avLst>
          </a:prstGeom>
          <a:solidFill>
            <a:schemeClr val="bg1"/>
          </a:solidFill>
          <a:ln w="15875">
            <a:solidFill>
              <a:schemeClr val="accent4"/>
            </a:solidFill>
            <a:prstDash val="solid"/>
          </a:ln>
        </p:spPr>
      </p:sp>
      <p:sp>
        <p:nvSpPr>
          <p:cNvPr id="36" name="text-105"/>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6"/>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Deterministic check of each claim; no LLM judge</a:t>
            </a:r>
            <a:endParaRPr lang="en-US" sz="1050" dirty="0"/>
          </a:p>
        </p:txBody>
      </p:sp>
      <p:sp>
        <p:nvSpPr>
          <p:cNvPr id="38" name="arrow-107"/>
          <p:cNvSpPr/>
          <p:nvPr/>
        </p:nvSpPr>
        <p:spPr>
          <a:xfrm flipV="1">
            <a:off x="11137392" y="1298448"/>
            <a:ext cx="91" cy="164592"/>
          </a:xfrm>
          <a:prstGeom prst="line">
            <a:avLst/>
          </a:prstGeom>
          <a:noFill/>
          <a:ln w="22225">
            <a:solidFill>
              <a:schemeClr val="accent1"/>
            </a:solidFill>
            <a:prstDash val="solid"/>
          </a:ln>
        </p:spPr>
      </p:sp>
      <p:sp>
        <p:nvSpPr>
          <p:cNvPr id="39" name="arrow-108"/>
          <p:cNvSpPr/>
          <p:nvPr/>
        </p:nvSpPr>
        <p:spPr>
          <a:xfrm flipH="1">
            <a:off x="1097280" y="1298448"/>
            <a:ext cx="10040112" cy="91"/>
          </a:xfrm>
          <a:prstGeom prst="line">
            <a:avLst/>
          </a:prstGeom>
          <a:noFill/>
          <a:ln w="22225">
            <a:solidFill>
              <a:schemeClr val="accent1"/>
            </a:solidFill>
            <a:prstDash val="solid"/>
          </a:ln>
        </p:spPr>
      </p:sp>
      <p:sp>
        <p:nvSpPr>
          <p:cNvPr id="40" name="arrow-109"/>
          <p:cNvSpPr/>
          <p:nvPr/>
        </p:nvSpPr>
        <p:spPr>
          <a:xfrm>
            <a:off x="1097280" y="1298448"/>
            <a:ext cx="91" cy="164592"/>
          </a:xfrm>
          <a:prstGeom prst="line">
            <a:avLst/>
          </a:prstGeom>
          <a:noFill/>
          <a:ln w="22225">
            <a:solidFill>
              <a:schemeClr val="accent1"/>
            </a:solidFill>
            <a:prstDash val="solid"/>
            <a:tailEnd type="triangle"/>
          </a:ln>
        </p:spPr>
      </p:sp>
      <p:sp>
        <p:nvSpPr>
          <p:cNvPr id="41" name="text-110"/>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1"/>
          <p:cNvSpPr/>
          <p:nvPr/>
        </p:nvSpPr>
        <p:spPr>
          <a:xfrm>
            <a:off x="6949440" y="1417320"/>
            <a:ext cx="91" cy="1783080"/>
          </a:xfrm>
          <a:prstGeom prst="line">
            <a:avLst/>
          </a:prstGeom>
          <a:noFill/>
          <a:ln w="28575">
            <a:solidFill>
              <a:schemeClr val="accent2"/>
            </a:solidFill>
            <a:prstDash val="dash"/>
          </a:ln>
        </p:spPr>
      </p:sp>
      <p:sp>
        <p:nvSpPr>
          <p:cNvPr id="43" name="pill-112"/>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800" b="1" dirty="0">
                <a:solidFill>
                  <a:schemeClr val="bg1"/>
                </a:solidFill>
              </a:rPr>
              <a:t>MODEL-CONTEXT BOUNDARY</a:t>
            </a:r>
            <a:endParaRPr lang="en-US" sz="800" dirty="0"/>
          </a:p>
        </p:txBody>
      </p:sp>
      <p:sp>
        <p:nvSpPr>
          <p:cNvPr id="44" name="denied-callout-113"/>
          <p:cNvSpPr/>
          <p:nvPr/>
        </p:nvSpPr>
        <p:spPr>
          <a:xfrm>
            <a:off x="7086600" y="3611880"/>
            <a:ext cx="2103120" cy="841248"/>
          </a:xfrm>
          <a:prstGeom prst="roundRect">
            <a:avLst>
              <a:gd name="adj" fmla="val 5435"/>
            </a:avLst>
          </a:prstGeom>
          <a:solidFill>
            <a:srgbClr val="FBECEB"/>
          </a:solidFill>
          <a:ln w="12700">
            <a:solidFill>
              <a:schemeClr val="accent2"/>
            </a:solidFill>
            <a:prstDash val="solid"/>
          </a:ln>
        </p:spPr>
      </p:sp>
      <p:pic>
        <p:nvPicPr>
          <p:cNvPr id="45" name="ban-114"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5"/>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6"/>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7"/>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8"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9"/>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20"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1"/>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2"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3"/>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4"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5"/>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6"/>
          <p:cNvSpPr/>
          <p:nvPr/>
        </p:nvSpPr>
        <p:spPr>
          <a:xfrm>
            <a:off x="2377440" y="4663440"/>
            <a:ext cx="2148840" cy="1325880"/>
          </a:xfrm>
          <a:prstGeom prst="roundRect">
            <a:avLst>
              <a:gd name="adj" fmla="val 3448"/>
            </a:avLst>
          </a:prstGeom>
          <a:solidFill>
            <a:schemeClr val="bg1"/>
          </a:solidFill>
          <a:ln w="15875">
            <a:solidFill>
              <a:schemeClr val="accent4"/>
            </a:solidFill>
            <a:prstDash val="solid"/>
          </a:ln>
        </p:spPr>
      </p:sp>
      <p:pic>
        <p:nvPicPr>
          <p:cNvPr id="58" name="store-icon-127"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8"/>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Sync workers</a:t>
            </a:r>
            <a:endParaRPr lang="en-US" sz="1300" dirty="0"/>
          </a:p>
        </p:txBody>
      </p:sp>
      <p:sp>
        <p:nvSpPr>
          <p:cNvPr id="60" name="text-129"/>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30"/>
          <p:cNvSpPr/>
          <p:nvPr/>
        </p:nvSpPr>
        <p:spPr>
          <a:xfrm>
            <a:off x="4800600" y="4663440"/>
            <a:ext cx="2834640" cy="1325880"/>
          </a:xfrm>
          <a:prstGeom prst="roundRect">
            <a:avLst>
              <a:gd name="adj" fmla="val 3448"/>
            </a:avLst>
          </a:prstGeom>
          <a:solidFill>
            <a:schemeClr val="bg1"/>
          </a:solidFill>
          <a:ln w="15875">
            <a:solidFill>
              <a:schemeClr val="accent4"/>
            </a:solidFill>
            <a:prstDash val="solid"/>
          </a:ln>
        </p:spPr>
      </p:sp>
      <p:pic>
        <p:nvPicPr>
          <p:cNvPr id="62" name="store-icon-131"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2"/>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3"/>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4"/>
          <p:cNvSpPr/>
          <p:nvPr/>
        </p:nvSpPr>
        <p:spPr>
          <a:xfrm>
            <a:off x="8778240" y="4663440"/>
            <a:ext cx="3044952" cy="1325880"/>
          </a:xfrm>
          <a:prstGeom prst="roundRect">
            <a:avLst>
              <a:gd name="adj" fmla="val 3448"/>
            </a:avLst>
          </a:prstGeom>
          <a:solidFill>
            <a:schemeClr val="bg1"/>
          </a:solidFill>
          <a:ln w="15875">
            <a:solidFill>
              <a:schemeClr val="accent5"/>
            </a:solidFill>
            <a:prstDash val="solid"/>
          </a:ln>
        </p:spPr>
      </p:sp>
      <p:pic>
        <p:nvPicPr>
          <p:cNvPr id="66" name="store-icon-135"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6"/>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7"/>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8"/>
          <p:cNvSpPr/>
          <p:nvPr/>
        </p:nvSpPr>
        <p:spPr>
          <a:xfrm>
            <a:off x="2121408" y="5326380"/>
            <a:ext cx="256032" cy="91"/>
          </a:xfrm>
          <a:prstGeom prst="line">
            <a:avLst/>
          </a:prstGeom>
          <a:noFill/>
          <a:ln w="22225">
            <a:solidFill>
              <a:schemeClr val="accent6"/>
            </a:solidFill>
            <a:prstDash val="solid"/>
            <a:tailEnd type="triangle"/>
          </a:ln>
        </p:spPr>
      </p:sp>
      <p:sp>
        <p:nvSpPr>
          <p:cNvPr id="70" name="arrow-139"/>
          <p:cNvSpPr/>
          <p:nvPr/>
        </p:nvSpPr>
        <p:spPr>
          <a:xfrm>
            <a:off x="4526280" y="5326380"/>
            <a:ext cx="274320" cy="91"/>
          </a:xfrm>
          <a:prstGeom prst="line">
            <a:avLst/>
          </a:prstGeom>
          <a:noFill/>
          <a:ln w="22225">
            <a:solidFill>
              <a:schemeClr val="accent6"/>
            </a:solidFill>
            <a:prstDash val="solid"/>
            <a:tailEnd type="triangle"/>
          </a:ln>
        </p:spPr>
      </p:sp>
      <p:sp>
        <p:nvSpPr>
          <p:cNvPr id="71" name="arrow-140"/>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1"/>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2"/>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3"/>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4"/>
          <p:cNvSpPr/>
          <p:nvPr/>
        </p:nvSpPr>
        <p:spPr>
          <a:xfrm>
            <a:off x="11137392" y="3081528"/>
            <a:ext cx="91" cy="1581912"/>
          </a:xfrm>
          <a:prstGeom prst="line">
            <a:avLst/>
          </a:prstGeom>
          <a:noFill/>
          <a:ln w="22225">
            <a:solidFill>
              <a:schemeClr val="accent5"/>
            </a:solidFill>
            <a:prstDash val="solid"/>
            <a:tailEnd type="triangle"/>
          </a:ln>
        </p:spPr>
      </p:sp>
      <p:sp>
        <p:nvSpPr>
          <p:cNvPr id="76" name="text-145"/>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6"/>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Green path: authorised evidence only.  Red dashed line: nothing denied crosses it.  Dashed boxes: untrusted or external.  Production Slack is searched live,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Four trust boundaries,</a:t>
            </a:r>
            <a:pPr algn="l" indent="0" marL="0">
              <a:buNone/>
            </a:pPr>
            <a:r>
              <a:rPr lang="en-US" sz="2600" b="1" dirty="0">
                <a:solidFill>
                  <a:srgbClr val="8C8C8C"/>
                </a:solidFill>
              </a:rPr>
              <a:t> each failing closed</a:t>
            </a:r>
            <a:endParaRPr lang="en-US" sz="2600" dirty="0"/>
          </a:p>
        </p:txBody>
      </p:sp>
      <p:sp>
        <p:nvSpPr>
          <p:cNvPr id="3" name="tb-row-147"/>
          <p:cNvSpPr/>
          <p:nvPr/>
        </p:nvSpPr>
        <p:spPr>
          <a:xfrm>
            <a:off x="548640" y="1371600"/>
            <a:ext cx="11064240" cy="1051560"/>
          </a:xfrm>
          <a:prstGeom prst="roundRect">
            <a:avLst>
              <a:gd name="adj" fmla="val 4348"/>
            </a:avLst>
          </a:prstGeom>
          <a:solidFill>
            <a:schemeClr val="bg2"/>
          </a:solidFill>
          <a:ln/>
        </p:spPr>
      </p:sp>
      <p:sp>
        <p:nvSpPr>
          <p:cNvPr id="4" name="num-148"/>
          <p:cNvSpPr txBox="1"/>
          <p:nvPr/>
        </p:nvSpPr>
        <p:spPr>
          <a:xfrm>
            <a:off x="777240" y="1645920"/>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5" name="text-149"/>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50"/>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1"/>
          <p:cNvSpPr/>
          <p:nvPr/>
        </p:nvSpPr>
        <p:spPr>
          <a:xfrm>
            <a:off x="8732520" y="1554480"/>
            <a:ext cx="2697480" cy="685800"/>
          </a:xfrm>
          <a:prstGeom prst="roundRect">
            <a:avLst>
              <a:gd name="adj" fmla="val 6667"/>
            </a:avLst>
          </a:prstGeom>
          <a:solidFill>
            <a:schemeClr val="bg1"/>
          </a:solidFill>
          <a:ln w="12700">
            <a:solidFill>
              <a:schemeClr val="accent4"/>
            </a:solidFill>
            <a:prstDash val="solid"/>
          </a:ln>
        </p:spPr>
      </p:sp>
      <p:sp>
        <p:nvSpPr>
          <p:cNvPr id="8" name="text-152"/>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3"/>
          <p:cNvSpPr/>
          <p:nvPr/>
        </p:nvSpPr>
        <p:spPr>
          <a:xfrm>
            <a:off x="548640" y="2578608"/>
            <a:ext cx="11064240" cy="1051560"/>
          </a:xfrm>
          <a:prstGeom prst="roundRect">
            <a:avLst>
              <a:gd name="adj" fmla="val 4348"/>
            </a:avLst>
          </a:prstGeom>
          <a:solidFill>
            <a:schemeClr val="bg2"/>
          </a:solidFill>
          <a:ln/>
        </p:spPr>
      </p:sp>
      <p:sp>
        <p:nvSpPr>
          <p:cNvPr id="10" name="num-154"/>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text-155"/>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6"/>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7"/>
          <p:cNvSpPr/>
          <p:nvPr/>
        </p:nvSpPr>
        <p:spPr>
          <a:xfrm>
            <a:off x="8732520" y="2761488"/>
            <a:ext cx="2697480" cy="685800"/>
          </a:xfrm>
          <a:prstGeom prst="roundRect">
            <a:avLst>
              <a:gd name="adj" fmla="val 6667"/>
            </a:avLst>
          </a:prstGeom>
          <a:solidFill>
            <a:schemeClr val="bg1"/>
          </a:solidFill>
          <a:ln w="12700">
            <a:solidFill>
              <a:schemeClr val="accent1"/>
            </a:solidFill>
            <a:prstDash val="solid"/>
          </a:ln>
        </p:spPr>
      </p:sp>
      <p:sp>
        <p:nvSpPr>
          <p:cNvPr id="14" name="text-158"/>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9"/>
          <p:cNvSpPr/>
          <p:nvPr/>
        </p:nvSpPr>
        <p:spPr>
          <a:xfrm>
            <a:off x="548640" y="3785616"/>
            <a:ext cx="11064240" cy="1051560"/>
          </a:xfrm>
          <a:prstGeom prst="roundRect">
            <a:avLst>
              <a:gd name="adj" fmla="val 4348"/>
            </a:avLst>
          </a:prstGeom>
          <a:solidFill>
            <a:schemeClr val="bg2"/>
          </a:solidFill>
          <a:ln/>
        </p:spPr>
      </p:sp>
      <p:sp>
        <p:nvSpPr>
          <p:cNvPr id="16" name="num-160"/>
          <p:cNvSpPr txBox="1"/>
          <p:nvPr/>
        </p:nvSpPr>
        <p:spPr>
          <a:xfrm>
            <a:off x="777240" y="4059936"/>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17" name="text-161"/>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2"/>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3"/>
          <p:cNvSpPr/>
          <p:nvPr/>
        </p:nvSpPr>
        <p:spPr>
          <a:xfrm>
            <a:off x="8732520" y="3968496"/>
            <a:ext cx="2697480" cy="685800"/>
          </a:xfrm>
          <a:prstGeom prst="roundRect">
            <a:avLst>
              <a:gd name="adj" fmla="val 6667"/>
            </a:avLst>
          </a:prstGeom>
          <a:solidFill>
            <a:schemeClr val="bg1"/>
          </a:solidFill>
          <a:ln w="12700">
            <a:solidFill>
              <a:schemeClr val="accent2"/>
            </a:solidFill>
            <a:prstDash val="solid"/>
          </a:ln>
        </p:spPr>
      </p:sp>
      <p:sp>
        <p:nvSpPr>
          <p:cNvPr id="20" name="text-164"/>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5"/>
          <p:cNvSpPr/>
          <p:nvPr/>
        </p:nvSpPr>
        <p:spPr>
          <a:xfrm>
            <a:off x="548640" y="4992624"/>
            <a:ext cx="11064240" cy="1051560"/>
          </a:xfrm>
          <a:prstGeom prst="roundRect">
            <a:avLst>
              <a:gd name="adj" fmla="val 4348"/>
            </a:avLst>
          </a:prstGeom>
          <a:solidFill>
            <a:schemeClr val="bg2"/>
          </a:solidFill>
          <a:ln/>
        </p:spPr>
      </p:sp>
      <p:sp>
        <p:nvSpPr>
          <p:cNvPr id="22" name="num-166"/>
          <p:cNvSpPr txBox="1"/>
          <p:nvPr/>
        </p:nvSpPr>
        <p:spPr>
          <a:xfrm>
            <a:off x="777240" y="5266944"/>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04</a:t>
            </a:r>
            <a:endParaRPr lang="en-US" sz="1400" dirty="0"/>
          </a:p>
        </p:txBody>
      </p:sp>
      <p:sp>
        <p:nvSpPr>
          <p:cNvPr id="23" name="text-167"/>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8"/>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9"/>
          <p:cNvSpPr/>
          <p:nvPr/>
        </p:nvSpPr>
        <p:spPr>
          <a:xfrm>
            <a:off x="8732520" y="5175504"/>
            <a:ext cx="2697480" cy="685800"/>
          </a:xfrm>
          <a:prstGeom prst="roundRect">
            <a:avLst>
              <a:gd name="adj" fmla="val 6667"/>
            </a:avLst>
          </a:prstGeom>
          <a:solidFill>
            <a:schemeClr val="bg1"/>
          </a:solidFill>
          <a:ln w="12700">
            <a:solidFill>
              <a:schemeClr val="accent5"/>
            </a:solidFill>
            <a:prstDash val="solid"/>
          </a:ln>
        </p:spPr>
      </p:sp>
      <p:sp>
        <p:nvSpPr>
          <p:cNvPr id="26" name="text-170"/>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1"/>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Each platform keeps its own permission model,</a:t>
            </a:r>
            <a:pPr algn="l" indent="0" marL="0">
              <a:buNone/>
            </a:pPr>
            <a:r>
              <a:rPr lang="en-US" sz="2600" b="1" dirty="0">
                <a:solidFill>
                  <a:srgbClr val="8C8C8C"/>
                </a:solidFill>
              </a:rPr>
              <a:t> never flattened</a:t>
            </a:r>
            <a:endParaRPr lang="en-US" sz="2600" dirty="0"/>
          </a:p>
        </p:txBody>
      </p:sp>
      <p:sp>
        <p:nvSpPr>
          <p:cNvPr id="3" name="src-card-172"/>
          <p:cNvSpPr/>
          <p:nvPr/>
        </p:nvSpPr>
        <p:spPr>
          <a:xfrm>
            <a:off x="548640" y="1325880"/>
            <a:ext cx="5440680" cy="1783080"/>
          </a:xfrm>
          <a:prstGeom prst="roundRect">
            <a:avLst>
              <a:gd name="adj" fmla="val 2564"/>
            </a:avLst>
          </a:prstGeom>
          <a:solidFill>
            <a:schemeClr val="bg1"/>
          </a:solidFill>
          <a:ln w="12700">
            <a:solidFill>
              <a:srgbClr val="D7D7D7"/>
            </a:solidFill>
            <a:prstDash val="solid"/>
          </a:ln>
        </p:spPr>
      </p:sp>
      <p:sp>
        <p:nvSpPr>
          <p:cNvPr id="4" name="icon-bg-173"/>
          <p:cNvSpPr/>
          <p:nvPr/>
        </p:nvSpPr>
        <p:spPr>
          <a:xfrm>
            <a:off x="777240" y="1554480"/>
            <a:ext cx="640080" cy="640080"/>
          </a:xfrm>
          <a:prstGeom prst="ellipse">
            <a:avLst/>
          </a:prstGeom>
          <a:solidFill>
            <a:schemeClr val="bg2"/>
          </a:solidFill>
          <a:ln/>
        </p:spPr>
      </p:sp>
      <p:pic>
        <p:nvPicPr>
          <p:cNvPr id="5" name="icon-174"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5"/>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6"/>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7"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8"/>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9"/>
          <p:cNvSpPr/>
          <p:nvPr/>
        </p:nvSpPr>
        <p:spPr>
          <a:xfrm>
            <a:off x="6172200" y="1325880"/>
            <a:ext cx="5440680" cy="1783080"/>
          </a:xfrm>
          <a:prstGeom prst="roundRect">
            <a:avLst>
              <a:gd name="adj" fmla="val 2564"/>
            </a:avLst>
          </a:prstGeom>
          <a:solidFill>
            <a:schemeClr val="bg1"/>
          </a:solidFill>
          <a:ln w="12700">
            <a:solidFill>
              <a:srgbClr val="D7D7D7"/>
            </a:solidFill>
            <a:prstDash val="solid"/>
          </a:ln>
        </p:spPr>
      </p:sp>
      <p:sp>
        <p:nvSpPr>
          <p:cNvPr id="11" name="icon-bg-180"/>
          <p:cNvSpPr/>
          <p:nvPr/>
        </p:nvSpPr>
        <p:spPr>
          <a:xfrm>
            <a:off x="6400800" y="1554480"/>
            <a:ext cx="640080" cy="640080"/>
          </a:xfrm>
          <a:prstGeom prst="ellipse">
            <a:avLst/>
          </a:prstGeom>
          <a:solidFill>
            <a:schemeClr val="bg2"/>
          </a:solidFill>
          <a:ln/>
        </p:spPr>
      </p:sp>
      <p:pic>
        <p:nvPicPr>
          <p:cNvPr id="12" name="icon-181"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2"/>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3"/>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4"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5"/>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6"/>
          <p:cNvSpPr/>
          <p:nvPr/>
        </p:nvSpPr>
        <p:spPr>
          <a:xfrm>
            <a:off x="548640" y="3291840"/>
            <a:ext cx="5440680" cy="1783080"/>
          </a:xfrm>
          <a:prstGeom prst="roundRect">
            <a:avLst>
              <a:gd name="adj" fmla="val 2564"/>
            </a:avLst>
          </a:prstGeom>
          <a:solidFill>
            <a:schemeClr val="bg1"/>
          </a:solidFill>
          <a:ln w="12700">
            <a:solidFill>
              <a:srgbClr val="D7D7D7"/>
            </a:solidFill>
            <a:prstDash val="solid"/>
          </a:ln>
        </p:spPr>
      </p:sp>
      <p:sp>
        <p:nvSpPr>
          <p:cNvPr id="18" name="icon-bg-187"/>
          <p:cNvSpPr/>
          <p:nvPr/>
        </p:nvSpPr>
        <p:spPr>
          <a:xfrm>
            <a:off x="777240" y="3520440"/>
            <a:ext cx="640080" cy="640080"/>
          </a:xfrm>
          <a:prstGeom prst="ellipse">
            <a:avLst/>
          </a:prstGeom>
          <a:solidFill>
            <a:schemeClr val="bg2"/>
          </a:solidFill>
          <a:ln/>
        </p:spPr>
      </p:sp>
      <p:pic>
        <p:nvPicPr>
          <p:cNvPr id="19" name="icon-188"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9"/>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90"/>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Production: live search as the user, nothing stored</a:t>
            </a:r>
            <a:endParaRPr lang="en-US" sz="1300" dirty="0"/>
          </a:p>
        </p:txBody>
      </p:sp>
      <p:pic>
        <p:nvPicPr>
          <p:cNvPr id="22" name="check-191"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2"/>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3"/>
          <p:cNvSpPr/>
          <p:nvPr/>
        </p:nvSpPr>
        <p:spPr>
          <a:xfrm>
            <a:off x="6172200" y="3291840"/>
            <a:ext cx="5440680" cy="1783080"/>
          </a:xfrm>
          <a:prstGeom prst="roundRect">
            <a:avLst>
              <a:gd name="adj" fmla="val 2564"/>
            </a:avLst>
          </a:prstGeom>
          <a:solidFill>
            <a:schemeClr val="bg1"/>
          </a:solidFill>
          <a:ln w="12700">
            <a:solidFill>
              <a:srgbClr val="D7D7D7"/>
            </a:solidFill>
            <a:prstDash val="solid"/>
          </a:ln>
        </p:spPr>
      </p:sp>
      <p:sp>
        <p:nvSpPr>
          <p:cNvPr id="25" name="icon-bg-194"/>
          <p:cNvSpPr/>
          <p:nvPr/>
        </p:nvSpPr>
        <p:spPr>
          <a:xfrm>
            <a:off x="6400800" y="3520440"/>
            <a:ext cx="640080" cy="640080"/>
          </a:xfrm>
          <a:prstGeom prst="ellipse">
            <a:avLst/>
          </a:prstGeom>
          <a:solidFill>
            <a:schemeClr val="bg2"/>
          </a:solidFill>
          <a:ln/>
        </p:spPr>
      </p:sp>
      <p:pic>
        <p:nvPicPr>
          <p:cNvPr id="26" name="icon-195"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6"/>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7"/>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8"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9"/>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200"/>
          <p:cNvSpPr/>
          <p:nvPr/>
        </p:nvSpPr>
        <p:spPr>
          <a:xfrm>
            <a:off x="548640" y="5349240"/>
            <a:ext cx="11064240" cy="868680"/>
          </a:xfrm>
          <a:prstGeom prst="roundRect">
            <a:avLst>
              <a:gd name="adj" fmla="val 5263"/>
            </a:avLst>
          </a:prstGeom>
          <a:solidFill>
            <a:schemeClr val="tx2"/>
          </a:solidFill>
          <a:ln/>
        </p:spPr>
      </p:sp>
      <p:sp>
        <p:nvSpPr>
          <p:cNvPr id="32" name="text-201"/>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A6A6A6"/>
                </a:solidFill>
              </a:rPr>
              <a:t>A local grant can narrow access, never widen it.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The access-control demo</a:t>
            </a:r>
            <a:pPr algn="l" indent="0" marL="0">
              <a:buNone/>
            </a:pPr>
            <a:r>
              <a:rPr lang="en-US" sz="2600" b="1" dirty="0">
                <a:solidFill>
                  <a:srgbClr val="8C8C8C"/>
                </a:solidFill>
              </a:rPr>
              <a:t> in three scenes</a:t>
            </a:r>
            <a:endParaRPr lang="en-US" sz="2600" dirty="0"/>
          </a:p>
        </p:txBody>
      </p:sp>
      <p:sp>
        <p:nvSpPr>
          <p:cNvPr id="3" name="scene-202"/>
          <p:cNvSpPr/>
          <p:nvPr/>
        </p:nvSpPr>
        <p:spPr>
          <a:xfrm>
            <a:off x="548640" y="1325880"/>
            <a:ext cx="3520440" cy="4846320"/>
          </a:xfrm>
          <a:prstGeom prst="roundRect">
            <a:avLst>
              <a:gd name="adj" fmla="val 1299"/>
            </a:avLst>
          </a:prstGeom>
          <a:solidFill>
            <a:schemeClr val="bg2"/>
          </a:solidFill>
          <a:ln/>
        </p:spPr>
      </p:sp>
      <p:sp>
        <p:nvSpPr>
          <p:cNvPr id="4" name="num-203"/>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204"/>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5"/>
          <p:cNvSpPr/>
          <p:nvPr/>
        </p:nvSpPr>
        <p:spPr>
          <a:xfrm>
            <a:off x="777240" y="2103120"/>
            <a:ext cx="502920" cy="502920"/>
          </a:xfrm>
          <a:prstGeom prst="ellipse">
            <a:avLst/>
          </a:prstGeom>
          <a:solidFill>
            <a:schemeClr val="accent1"/>
          </a:solidFill>
          <a:ln/>
        </p:spPr>
      </p:sp>
      <p:pic>
        <p:nvPicPr>
          <p:cNvPr id="7" name="icon-206"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7"/>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8"/>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9"/>
          <p:cNvSpPr/>
          <p:nvPr/>
        </p:nvSpPr>
        <p:spPr>
          <a:xfrm>
            <a:off x="777240" y="3566160"/>
            <a:ext cx="3063240" cy="1234440"/>
          </a:xfrm>
          <a:prstGeom prst="roundRect">
            <a:avLst>
              <a:gd name="adj" fmla="val 3704"/>
            </a:avLst>
          </a:prstGeom>
          <a:solidFill>
            <a:schemeClr val="bg1"/>
          </a:solidFill>
          <a:ln w="12700">
            <a:solidFill>
              <a:srgbClr val="D7D7D7"/>
            </a:solidFill>
            <a:prstDash val="solid"/>
          </a:ln>
        </p:spPr>
      </p:sp>
      <p:sp>
        <p:nvSpPr>
          <p:cNvPr id="11" name="text-210"/>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Q3 2026 revenue: SGD 48.6 million, up 18% year on year</a:t>
            </a:r>
            <a:endParaRPr lang="en-US" sz="1300" dirty="0"/>
          </a:p>
          <a:p>
            <a:pPr algn="l" indent="0" marL="0">
              <a:buNone/>
            </a:pPr>
            <a:r>
              <a:rPr lang="en-US" sz="1100" dirty="0">
                <a:solidFill>
                  <a:schemeClr val="accent4"/>
                </a:solidFill>
              </a:rPr>
              <a:t>[E4] Q3 2026 Board Deck · Google Drive · 8/8 claims supported</a:t>
            </a:r>
            <a:endParaRPr lang="en-US" sz="1300" dirty="0"/>
          </a:p>
        </p:txBody>
      </p:sp>
      <p:sp>
        <p:nvSpPr>
          <p:cNvPr id="12" name="verdict-211"/>
          <p:cNvSpPr/>
          <p:nvPr/>
        </p:nvSpPr>
        <p:spPr>
          <a:xfrm>
            <a:off x="777240" y="4983480"/>
            <a:ext cx="3063240" cy="960120"/>
          </a:xfrm>
          <a:prstGeom prst="roundRect">
            <a:avLst>
              <a:gd name="adj" fmla="val 4762"/>
            </a:avLst>
          </a:prstGeom>
          <a:solidFill>
            <a:srgbClr val="EAF3EA"/>
          </a:solidFill>
          <a:ln w="12700">
            <a:solidFill>
              <a:schemeClr val="accent1"/>
            </a:solidFill>
            <a:prstDash val="solid"/>
          </a:ln>
        </p:spPr>
      </p:sp>
      <p:sp>
        <p:nvSpPr>
          <p:cNvPr id="13" name="text-212"/>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3"/>
          <p:cNvSpPr/>
          <p:nvPr/>
        </p:nvSpPr>
        <p:spPr>
          <a:xfrm>
            <a:off x="4096512" y="4160520"/>
            <a:ext cx="182880" cy="91"/>
          </a:xfrm>
          <a:prstGeom prst="line">
            <a:avLst/>
          </a:prstGeom>
          <a:noFill/>
          <a:ln w="19050">
            <a:solidFill>
              <a:schemeClr val="accent6"/>
            </a:solidFill>
            <a:prstDash val="solid"/>
            <a:tailEnd type="triangle"/>
          </a:ln>
        </p:spPr>
      </p:sp>
      <p:sp>
        <p:nvSpPr>
          <p:cNvPr id="15" name="scene-214"/>
          <p:cNvSpPr/>
          <p:nvPr/>
        </p:nvSpPr>
        <p:spPr>
          <a:xfrm>
            <a:off x="4297680" y="1325880"/>
            <a:ext cx="3520440" cy="4846320"/>
          </a:xfrm>
          <a:prstGeom prst="roundRect">
            <a:avLst>
              <a:gd name="adj" fmla="val 1299"/>
            </a:avLst>
          </a:prstGeom>
          <a:solidFill>
            <a:schemeClr val="bg2"/>
          </a:solidFill>
          <a:ln/>
        </p:spPr>
      </p:sp>
      <p:sp>
        <p:nvSpPr>
          <p:cNvPr id="16" name="num-215"/>
          <p:cNvSpPr txBox="1"/>
          <p:nvPr/>
        </p:nvSpPr>
        <p:spPr>
          <a:xfrm>
            <a:off x="452628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17" name="text-216"/>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7"/>
          <p:cNvSpPr/>
          <p:nvPr/>
        </p:nvSpPr>
        <p:spPr>
          <a:xfrm>
            <a:off x="4526280" y="2103120"/>
            <a:ext cx="502920" cy="502920"/>
          </a:xfrm>
          <a:prstGeom prst="ellipse">
            <a:avLst/>
          </a:prstGeom>
          <a:solidFill>
            <a:schemeClr val="accent2"/>
          </a:solidFill>
          <a:ln/>
        </p:spPr>
      </p:sp>
      <p:pic>
        <p:nvPicPr>
          <p:cNvPr id="19" name="icon-218"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9"/>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20"/>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1"/>
          <p:cNvSpPr/>
          <p:nvPr/>
        </p:nvSpPr>
        <p:spPr>
          <a:xfrm>
            <a:off x="4526280" y="3566160"/>
            <a:ext cx="3063240" cy="1234440"/>
          </a:xfrm>
          <a:prstGeom prst="roundRect">
            <a:avLst>
              <a:gd name="adj" fmla="val 3704"/>
            </a:avLst>
          </a:prstGeom>
          <a:solidFill>
            <a:schemeClr val="bg1"/>
          </a:solidFill>
          <a:ln w="12700">
            <a:solidFill>
              <a:srgbClr val="D7D7D7"/>
            </a:solidFill>
            <a:prstDash val="solid"/>
          </a:ln>
        </p:spPr>
      </p:sp>
      <p:sp>
        <p:nvSpPr>
          <p:cNvPr id="23" name="text-222"/>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“There is not enough evidence to answer this question.”</a:t>
            </a:r>
            <a:endParaRPr lang="en-US" sz="1300" dirty="0"/>
          </a:p>
          <a:p>
            <a:pPr algn="l" indent="0" marL="0">
              <a:buNone/>
            </a:pPr>
            <a:r>
              <a:rPr lang="en-US" sz="1100" dirty="0">
                <a:solidFill>
                  <a:schemeClr val="accent6"/>
                </a:solidFill>
              </a:rPr>
              <a:t>11 of 11 candidates denied before the model; opening the deck gives the same 404 as a missing file</a:t>
            </a:r>
            <a:endParaRPr lang="en-US" sz="1300" dirty="0"/>
          </a:p>
        </p:txBody>
      </p:sp>
      <p:sp>
        <p:nvSpPr>
          <p:cNvPr id="24" name="verdict-223"/>
          <p:cNvSpPr/>
          <p:nvPr/>
        </p:nvSpPr>
        <p:spPr>
          <a:xfrm>
            <a:off x="4526280" y="4983480"/>
            <a:ext cx="3063240" cy="960120"/>
          </a:xfrm>
          <a:prstGeom prst="roundRect">
            <a:avLst>
              <a:gd name="adj" fmla="val 4762"/>
            </a:avLst>
          </a:prstGeom>
          <a:solidFill>
            <a:srgbClr val="FBECEB"/>
          </a:solidFill>
          <a:ln w="12700">
            <a:solidFill>
              <a:schemeClr val="accent2"/>
            </a:solidFill>
            <a:prstDash val="solid"/>
          </a:ln>
        </p:spPr>
      </p:sp>
      <p:sp>
        <p:nvSpPr>
          <p:cNvPr id="25" name="text-224"/>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5"/>
          <p:cNvSpPr/>
          <p:nvPr/>
        </p:nvSpPr>
        <p:spPr>
          <a:xfrm>
            <a:off x="7845552" y="4160520"/>
            <a:ext cx="182880" cy="91"/>
          </a:xfrm>
          <a:prstGeom prst="line">
            <a:avLst/>
          </a:prstGeom>
          <a:noFill/>
          <a:ln w="19050">
            <a:solidFill>
              <a:schemeClr val="accent6"/>
            </a:solidFill>
            <a:prstDash val="solid"/>
            <a:tailEnd type="triangle"/>
          </a:ln>
        </p:spPr>
      </p:sp>
      <p:sp>
        <p:nvSpPr>
          <p:cNvPr id="27" name="scene-226"/>
          <p:cNvSpPr/>
          <p:nvPr/>
        </p:nvSpPr>
        <p:spPr>
          <a:xfrm>
            <a:off x="8046720" y="1325880"/>
            <a:ext cx="3520440" cy="4846320"/>
          </a:xfrm>
          <a:prstGeom prst="roundRect">
            <a:avLst>
              <a:gd name="adj" fmla="val 1299"/>
            </a:avLst>
          </a:prstGeom>
          <a:solidFill>
            <a:schemeClr val="bg2"/>
          </a:solidFill>
          <a:ln/>
        </p:spPr>
      </p:sp>
      <p:sp>
        <p:nvSpPr>
          <p:cNvPr id="28" name="num-227"/>
          <p:cNvSpPr txBox="1"/>
          <p:nvPr/>
        </p:nvSpPr>
        <p:spPr>
          <a:xfrm>
            <a:off x="827532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29" name="text-228"/>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9"/>
          <p:cNvSpPr/>
          <p:nvPr/>
        </p:nvSpPr>
        <p:spPr>
          <a:xfrm>
            <a:off x="8275320" y="2103120"/>
            <a:ext cx="502920" cy="502920"/>
          </a:xfrm>
          <a:prstGeom prst="ellipse">
            <a:avLst/>
          </a:prstGeom>
          <a:solidFill>
            <a:schemeClr val="accent3"/>
          </a:solidFill>
          <a:ln/>
        </p:spPr>
      </p:sp>
      <p:pic>
        <p:nvPicPr>
          <p:cNvPr id="31" name="icon-230"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1"/>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2"/>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3"/>
          <p:cNvSpPr/>
          <p:nvPr/>
        </p:nvSpPr>
        <p:spPr>
          <a:xfrm>
            <a:off x="8275320" y="3566160"/>
            <a:ext cx="3063240" cy="1234440"/>
          </a:xfrm>
          <a:prstGeom prst="roundRect">
            <a:avLst>
              <a:gd name="adj" fmla="val 3704"/>
            </a:avLst>
          </a:prstGeom>
          <a:solidFill>
            <a:schemeClr val="bg1"/>
          </a:solidFill>
          <a:ln w="12700">
            <a:solidFill>
              <a:srgbClr val="D7D7D7"/>
            </a:solidFill>
            <a:prstDash val="solid"/>
          </a:ln>
        </p:spPr>
      </p:sp>
      <p:sp>
        <p:nvSpPr>
          <p:cNvPr id="35" name="text-234"/>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The saved answer is withheld too</a:t>
            </a:r>
            <a:endParaRPr lang="en-US" sz="1300" dirty="0"/>
          </a:p>
        </p:txBody>
      </p:sp>
      <p:sp>
        <p:nvSpPr>
          <p:cNvPr id="36" name="verdict-235"/>
          <p:cNvSpPr/>
          <p:nvPr/>
        </p:nvSpPr>
        <p:spPr>
          <a:xfrm>
            <a:off x="8275320" y="4983480"/>
            <a:ext cx="3063240" cy="960120"/>
          </a:xfrm>
          <a:prstGeom prst="roundRect">
            <a:avLst>
              <a:gd name="adj" fmla="val 4762"/>
            </a:avLst>
          </a:prstGeom>
          <a:solidFill>
            <a:srgbClr val="FCF3E3"/>
          </a:solidFill>
          <a:ln w="12700">
            <a:solidFill>
              <a:schemeClr val="accent3"/>
            </a:solidFill>
            <a:prstDash val="solid"/>
          </a:ln>
        </p:spPr>
      </p:sp>
      <p:sp>
        <p:nvSpPr>
          <p:cNvPr id="37" name="text-236"/>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7"/>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and test_query_history_access.py.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All five mandatory scenarios run end to end,</a:t>
            </a:r>
            <a:pPr algn="l" indent="0" marL="0">
              <a:buNone/>
            </a:pPr>
            <a:r>
              <a:rPr lang="en-US" sz="2600" b="1" dirty="0">
                <a:solidFill>
                  <a:srgbClr val="8C8C8C"/>
                </a:solidFill>
              </a:rPr>
              <a:t> and each is a test</a:t>
            </a:r>
            <a:endParaRPr lang="en-US" sz="2600" dirty="0"/>
          </a:p>
        </p:txBody>
      </p:sp>
      <p:graphicFrame>
        <p:nvGraphicFramePr>
          <p:cNvPr id="9" name="scenario-table-23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and gets one answer citing an email, Jira PAY-150, two Slack channels and the Drive vendor list (8/8 claims supported)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4" name="text-239"/>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Every answer ships</a:t>
            </a:r>
            <a:pPr algn="l" indent="0" marL="0">
              <a:buNone/>
            </a:pPr>
            <a:r>
              <a:rPr lang="en-US" sz="2600" b="1" dirty="0">
                <a:solidFill>
                  <a:srgbClr val="8C8C8C"/>
                </a:solidFill>
              </a:rPr>
              <a:t> with its own receipts</a:t>
            </a:r>
            <a:endParaRPr lang="en-US" sz="2600" dirty="0"/>
          </a:p>
        </p:txBody>
      </p:sp>
      <p:sp>
        <p:nvSpPr>
          <p:cNvPr id="3" name="answer-card-240"/>
          <p:cNvSpPr/>
          <p:nvPr/>
        </p:nvSpPr>
        <p:spPr>
          <a:xfrm>
            <a:off x="548640" y="1371600"/>
            <a:ext cx="5394960" cy="4754880"/>
          </a:xfrm>
          <a:prstGeom prst="roundRect">
            <a:avLst>
              <a:gd name="adj" fmla="val 962"/>
            </a:avLst>
          </a:prstGeom>
          <a:solidFill>
            <a:schemeClr val="bg1"/>
          </a:solidFill>
          <a:ln w="12700">
            <a:solidFill>
              <a:srgbClr val="D7D7D7"/>
            </a:solidFill>
            <a:prstDash val="solid"/>
          </a:ln>
        </p:spPr>
      </p:sp>
      <p:sp>
        <p:nvSpPr>
          <p:cNvPr id="4" name="text-241"/>
          <p:cNvSpPr txBox="1"/>
          <p:nvPr/>
        </p:nvSpPr>
        <p:spPr>
          <a:xfrm>
            <a:off x="822960" y="1536192"/>
            <a:ext cx="4846320" cy="320040"/>
          </a:xfrm>
          <a:prstGeom prst="rect">
            <a:avLst/>
          </a:prstGeom>
          <a:noFill/>
          <a:ln/>
        </p:spPr>
        <p:txBody>
          <a:bodyPr wrap="square" lIns="0" tIns="0" rIns="0" bIns="0" rtlCol="0" anchor="t"/>
          <a:lstStyle/>
          <a:p>
            <a:pPr algn="l" indent="0" marL="0">
              <a:buNone/>
            </a:pPr>
            <a:r>
              <a:rPr lang="en-US" sz="1200" i="1" dirty="0">
                <a:solidFill>
                  <a:schemeClr val="accent6"/>
                </a:solidFill>
              </a:rPr>
              <a:t>“What were the Q3 board deck revenue figures?”  ·  John Tan</a:t>
            </a:r>
            <a:endParaRPr lang="en-US" sz="1200" dirty="0"/>
          </a:p>
        </p:txBody>
      </p:sp>
      <p:sp>
        <p:nvSpPr>
          <p:cNvPr id="5" name="text-242"/>
          <p:cNvSpPr txBox="1"/>
          <p:nvPr/>
        </p:nvSpPr>
        <p:spPr>
          <a:xfrm>
            <a:off x="822960" y="1901952"/>
            <a:ext cx="4846320" cy="960120"/>
          </a:xfrm>
          <a:prstGeom prst="rect">
            <a:avLst/>
          </a:prstGeom>
          <a:noFill/>
          <a:ln/>
        </p:spPr>
        <p:txBody>
          <a:bodyPr wrap="square" lIns="0" tIns="0" rIns="0" bIns="0" rtlCol="0" anchor="t"/>
          <a:lstStyle/>
          <a:p>
            <a:pPr algn="l" indent="0" marL="0">
              <a:buNone/>
            </a:pPr>
            <a:r>
              <a:rPr lang="en-US" sz="1400" dirty="0">
                <a:solidFill>
                  <a:schemeClr val="tx1"/>
                </a:solidFill>
              </a:rPr>
              <a:t>Q3 2026 revenue: SGD 48.6 million, up 18% year on year (Q3 2025: SGD 41.2 million). </a:t>
            </a:r>
            <a:pPr algn="l" indent="0" marL="0">
              <a:buNone/>
            </a:pPr>
            <a:r>
              <a:rPr lang="en-US" sz="1400" b="1" dirty="0">
                <a:solidFill>
                  <a:schemeClr val="accent1"/>
                </a:solidFill>
              </a:rPr>
              <a:t>[E4]</a:t>
            </a:r>
            <a:pPr algn="l" indent="0" marL="0">
              <a:buNone/>
            </a:pPr>
            <a:r>
              <a:rPr lang="en-US" sz="1400" dirty="0">
                <a:solidFill>
                  <a:schemeClr val="tx1"/>
                </a:solidFill>
              </a:rPr>
              <a:t> Q4 2026 revenue guidance: SGD 50 to 52 million. </a:t>
            </a:r>
            <a:pPr algn="l" indent="0" marL="0">
              <a:buNone/>
            </a:pPr>
            <a:r>
              <a:rPr lang="en-US" sz="1400" b="1" dirty="0">
                <a:solidFill>
                  <a:schemeClr val="accent1"/>
                </a:solidFill>
              </a:rPr>
              <a:t>[E1]</a:t>
            </a:r>
            <a:endParaRPr lang="en-US" sz="1400" dirty="0"/>
          </a:p>
        </p:txBody>
      </p:sp>
      <p:sp>
        <p:nvSpPr>
          <p:cNvPr id="6" name="coverage-tile-243"/>
          <p:cNvSpPr/>
          <p:nvPr/>
        </p:nvSpPr>
        <p:spPr>
          <a:xfrm>
            <a:off x="822960" y="2971800"/>
            <a:ext cx="1463040" cy="1143000"/>
          </a:xfrm>
          <a:prstGeom prst="roundRect">
            <a:avLst>
              <a:gd name="adj" fmla="val 4000"/>
            </a:avLst>
          </a:prstGeom>
          <a:solidFill>
            <a:srgbClr val="549F58"/>
          </a:solidFill>
          <a:ln/>
        </p:spPr>
      </p:sp>
      <p:sp>
        <p:nvSpPr>
          <p:cNvPr id="7" name="text-244"/>
          <p:cNvSpPr txBox="1"/>
          <p:nvPr/>
        </p:nvSpPr>
        <p:spPr>
          <a:xfrm>
            <a:off x="932688" y="3035808"/>
            <a:ext cx="1280160" cy="548640"/>
          </a:xfrm>
          <a:prstGeom prst="rect">
            <a:avLst/>
          </a:prstGeom>
          <a:noFill/>
          <a:ln/>
        </p:spPr>
        <p:txBody>
          <a:bodyPr wrap="square" lIns="0" tIns="0" rIns="0" bIns="0" rtlCol="0" anchor="t"/>
          <a:lstStyle/>
          <a:p>
            <a:pPr algn="l" indent="0" marL="0">
              <a:buNone/>
            </a:pPr>
            <a:r>
              <a:rPr lang="en-US" sz="3000" b="1" dirty="0">
                <a:solidFill>
                  <a:schemeClr val="bg1"/>
                </a:solidFill>
              </a:rPr>
              <a:t>100%</a:t>
            </a:r>
            <a:endParaRPr lang="en-US" sz="3000" dirty="0"/>
          </a:p>
        </p:txBody>
      </p:sp>
      <p:sp>
        <p:nvSpPr>
          <p:cNvPr id="8" name="text-245"/>
          <p:cNvSpPr txBox="1"/>
          <p:nvPr/>
        </p:nvSpPr>
        <p:spPr>
          <a:xfrm>
            <a:off x="932688" y="3749040"/>
            <a:ext cx="1280160" cy="274320"/>
          </a:xfrm>
          <a:prstGeom prst="rect">
            <a:avLst/>
          </a:prstGeom>
          <a:noFill/>
          <a:ln/>
        </p:spPr>
        <p:txBody>
          <a:bodyPr wrap="square" lIns="0" tIns="0" rIns="0" bIns="0" rtlCol="0" anchor="t"/>
          <a:lstStyle/>
          <a:p>
            <a:pPr algn="l" indent="0" marL="0">
              <a:buNone/>
            </a:pPr>
            <a:r>
              <a:rPr lang="en-US" sz="1000" dirty="0">
                <a:solidFill>
                  <a:schemeClr val="bg1"/>
                </a:solidFill>
              </a:rPr>
              <a:t>Claim coverage</a:t>
            </a:r>
            <a:endParaRPr lang="en-US" sz="1000" dirty="0"/>
          </a:p>
        </p:txBody>
      </p:sp>
      <p:sp>
        <p:nvSpPr>
          <p:cNvPr id="9" name="stat-tile-246"/>
          <p:cNvSpPr/>
          <p:nvPr/>
        </p:nvSpPr>
        <p:spPr>
          <a:xfrm>
            <a:off x="2377440" y="2971800"/>
            <a:ext cx="1024128" cy="1143000"/>
          </a:xfrm>
          <a:prstGeom prst="roundRect">
            <a:avLst>
              <a:gd name="adj" fmla="val 4464"/>
            </a:avLst>
          </a:prstGeom>
          <a:solidFill>
            <a:schemeClr val="bg2"/>
          </a:solidFill>
          <a:ln/>
        </p:spPr>
      </p:sp>
      <p:sp>
        <p:nvSpPr>
          <p:cNvPr id="10" name="text-247"/>
          <p:cNvSpPr txBox="1"/>
          <p:nvPr/>
        </p:nvSpPr>
        <p:spPr>
          <a:xfrm>
            <a:off x="2487168"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1" name="text-248"/>
          <p:cNvSpPr txBox="1"/>
          <p:nvPr/>
        </p:nvSpPr>
        <p:spPr>
          <a:xfrm>
            <a:off x="2487168"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claims</a:t>
            </a:r>
            <a:endParaRPr lang="en-US" sz="1000" dirty="0"/>
          </a:p>
        </p:txBody>
      </p:sp>
      <p:sp>
        <p:nvSpPr>
          <p:cNvPr id="12" name="stat-tile-249"/>
          <p:cNvSpPr/>
          <p:nvPr/>
        </p:nvSpPr>
        <p:spPr>
          <a:xfrm>
            <a:off x="3493008" y="2971800"/>
            <a:ext cx="1024128" cy="1143000"/>
          </a:xfrm>
          <a:prstGeom prst="roundRect">
            <a:avLst>
              <a:gd name="adj" fmla="val 4464"/>
            </a:avLst>
          </a:prstGeom>
          <a:solidFill>
            <a:schemeClr val="bg2"/>
          </a:solidFill>
          <a:ln/>
        </p:spPr>
      </p:sp>
      <p:sp>
        <p:nvSpPr>
          <p:cNvPr id="13" name="text-250"/>
          <p:cNvSpPr txBox="1"/>
          <p:nvPr/>
        </p:nvSpPr>
        <p:spPr>
          <a:xfrm>
            <a:off x="3602736"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4" name="text-251"/>
          <p:cNvSpPr txBox="1"/>
          <p:nvPr/>
        </p:nvSpPr>
        <p:spPr>
          <a:xfrm>
            <a:off x="3602736"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supported</a:t>
            </a:r>
            <a:endParaRPr lang="en-US" sz="1000" dirty="0"/>
          </a:p>
        </p:txBody>
      </p:sp>
      <p:sp>
        <p:nvSpPr>
          <p:cNvPr id="15" name="stat-tile-252"/>
          <p:cNvSpPr/>
          <p:nvPr/>
        </p:nvSpPr>
        <p:spPr>
          <a:xfrm>
            <a:off x="4608576" y="2971800"/>
            <a:ext cx="1024128" cy="1143000"/>
          </a:xfrm>
          <a:prstGeom prst="roundRect">
            <a:avLst>
              <a:gd name="adj" fmla="val 4464"/>
            </a:avLst>
          </a:prstGeom>
          <a:solidFill>
            <a:schemeClr val="bg2"/>
          </a:solidFill>
          <a:ln/>
        </p:spPr>
      </p:sp>
      <p:sp>
        <p:nvSpPr>
          <p:cNvPr id="16" name="text-253"/>
          <p:cNvSpPr txBox="1"/>
          <p:nvPr/>
        </p:nvSpPr>
        <p:spPr>
          <a:xfrm>
            <a:off x="4718304" y="3035808"/>
            <a:ext cx="822960" cy="548640"/>
          </a:xfrm>
          <a:prstGeom prst="rect">
            <a:avLst/>
          </a:prstGeom>
          <a:noFill/>
          <a:ln/>
        </p:spPr>
        <p:txBody>
          <a:bodyPr wrap="square" lIns="0" tIns="0" rIns="0" bIns="0" rtlCol="0" anchor="t"/>
          <a:lstStyle/>
          <a:p>
            <a:pPr algn="l" indent="0" marL="0">
              <a:buNone/>
            </a:pPr>
            <a:r>
              <a:rPr lang="en-US" sz="2600" b="1" dirty="0">
                <a:solidFill>
                  <a:schemeClr val="accent2"/>
                </a:solidFill>
              </a:rPr>
              <a:t>2</a:t>
            </a:r>
            <a:endParaRPr lang="en-US" sz="2600" dirty="0"/>
          </a:p>
        </p:txBody>
      </p:sp>
      <p:sp>
        <p:nvSpPr>
          <p:cNvPr id="17" name="text-254"/>
          <p:cNvSpPr txBox="1"/>
          <p:nvPr/>
        </p:nvSpPr>
        <p:spPr>
          <a:xfrm>
            <a:off x="4718304"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injection flags</a:t>
            </a:r>
            <a:endParaRPr lang="en-US" sz="1000" dirty="0"/>
          </a:p>
        </p:txBody>
      </p:sp>
      <p:sp>
        <p:nvSpPr>
          <p:cNvPr id="18" name="receipt-line-255"/>
          <p:cNvSpPr/>
          <p:nvPr/>
        </p:nvSpPr>
        <p:spPr>
          <a:xfrm>
            <a:off x="822960" y="4279392"/>
            <a:ext cx="4846320" cy="310896"/>
          </a:xfrm>
          <a:prstGeom prst="roundRect">
            <a:avLst>
              <a:gd name="adj" fmla="val 50000"/>
            </a:avLst>
          </a:prstGeom>
          <a:solidFill>
            <a:schemeClr val="bg1"/>
          </a:solidFill>
          <a:ln w="12700">
            <a:solidFill>
              <a:srgbClr val="D7D7D7"/>
            </a:solidFill>
            <a:prstDash val="solid"/>
          </a:ln>
        </p:spPr>
      </p:sp>
      <p:sp>
        <p:nvSpPr>
          <p:cNvPr id="19" name="text-256"/>
          <p:cNvSpPr txBox="1"/>
          <p:nvPr/>
        </p:nvSpPr>
        <p:spPr>
          <a:xfrm>
            <a:off x="987552" y="4279392"/>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[E4]  Q3 2026 Board Deck · Google Drive · supported</a:t>
            </a:r>
            <a:endParaRPr lang="en-US" sz="1100" dirty="0"/>
          </a:p>
        </p:txBody>
      </p:sp>
      <p:sp>
        <p:nvSpPr>
          <p:cNvPr id="20" name="receipt-line-257"/>
          <p:cNvSpPr/>
          <p:nvPr/>
        </p:nvSpPr>
        <p:spPr>
          <a:xfrm>
            <a:off x="822960" y="4663440"/>
            <a:ext cx="4846320" cy="310896"/>
          </a:xfrm>
          <a:prstGeom prst="roundRect">
            <a:avLst>
              <a:gd name="adj" fmla="val 50000"/>
            </a:avLst>
          </a:prstGeom>
          <a:solidFill>
            <a:schemeClr val="bg1"/>
          </a:solidFill>
          <a:ln w="12700">
            <a:solidFill>
              <a:srgbClr val="D7D7D7"/>
            </a:solidFill>
            <a:prstDash val="solid"/>
          </a:ln>
        </p:spPr>
      </p:sp>
      <p:sp>
        <p:nvSpPr>
          <p:cNvPr id="21" name="text-258"/>
          <p:cNvSpPr txBox="1"/>
          <p:nvPr/>
        </p:nvSpPr>
        <p:spPr>
          <a:xfrm>
            <a:off x="987552" y="4663440"/>
            <a:ext cx="4572000" cy="310896"/>
          </a:xfrm>
          <a:prstGeom prst="rect">
            <a:avLst/>
          </a:prstGeom>
          <a:noFill/>
          <a:ln/>
        </p:spPr>
        <p:txBody>
          <a:bodyPr wrap="square" lIns="0" tIns="0" rIns="0" bIns="0" rtlCol="0" anchor="ctr"/>
          <a:lstStyle/>
          <a:p>
            <a:pPr algn="l" indent="0" marL="0">
              <a:buNone/>
            </a:pPr>
            <a:r>
              <a:rPr lang="en-US" sz="1100" b="1" dirty="0">
                <a:solidFill>
                  <a:schemeClr val="accent3"/>
                </a:solidFill>
              </a:rPr>
              <a:t>Freshness: mixed · stale failover runbook omitted</a:t>
            </a:r>
            <a:endParaRPr lang="en-US" sz="1100" dirty="0"/>
          </a:p>
        </p:txBody>
      </p:sp>
      <p:sp>
        <p:nvSpPr>
          <p:cNvPr id="22" name="receipt-line-259"/>
          <p:cNvSpPr/>
          <p:nvPr/>
        </p:nvSpPr>
        <p:spPr>
          <a:xfrm>
            <a:off x="822960" y="5047488"/>
            <a:ext cx="4846320" cy="310896"/>
          </a:xfrm>
          <a:prstGeom prst="roundRect">
            <a:avLst>
              <a:gd name="adj" fmla="val 50000"/>
            </a:avLst>
          </a:prstGeom>
          <a:solidFill>
            <a:schemeClr val="bg1"/>
          </a:solidFill>
          <a:ln w="12700">
            <a:solidFill>
              <a:srgbClr val="D7D7D7"/>
            </a:solidFill>
            <a:prstDash val="solid"/>
          </a:ln>
        </p:spPr>
      </p:sp>
      <p:sp>
        <p:nvSpPr>
          <p:cNvPr id="23" name="text-260"/>
          <p:cNvSpPr txBox="1"/>
          <p:nvPr/>
        </p:nvSpPr>
        <p:spPr>
          <a:xfrm>
            <a:off x="987552" y="5047488"/>
            <a:ext cx="4572000" cy="310896"/>
          </a:xfrm>
          <a:prstGeom prst="rect">
            <a:avLst/>
          </a:prstGeom>
          <a:noFill/>
          <a:ln/>
        </p:spPr>
        <p:txBody>
          <a:bodyPr wrap="square" lIns="0" tIns="0" rIns="0" bIns="0" rtlCol="0" anchor="ctr"/>
          <a:lstStyle/>
          <a:p>
            <a:pPr algn="l" indent="0" marL="0">
              <a:buNone/>
            </a:pPr>
            <a:r>
              <a:rPr lang="en-US" sz="1100" b="1" dirty="0">
                <a:solidFill>
                  <a:schemeClr val="accent1"/>
                </a:solidFill>
              </a:rPr>
              <a:t>Access: 11 documents allowed · policy ac-v2</a:t>
            </a:r>
            <a:endParaRPr lang="en-US" sz="1100" dirty="0"/>
          </a:p>
        </p:txBody>
      </p:sp>
      <p:sp>
        <p:nvSpPr>
          <p:cNvPr id="24" name="receipt-line-261"/>
          <p:cNvSpPr/>
          <p:nvPr/>
        </p:nvSpPr>
        <p:spPr>
          <a:xfrm>
            <a:off x="822960" y="5431536"/>
            <a:ext cx="4846320" cy="310896"/>
          </a:xfrm>
          <a:prstGeom prst="roundRect">
            <a:avLst>
              <a:gd name="adj" fmla="val 50000"/>
            </a:avLst>
          </a:prstGeom>
          <a:solidFill>
            <a:schemeClr val="bg1"/>
          </a:solidFill>
          <a:ln w="12700">
            <a:solidFill>
              <a:srgbClr val="D7D7D7"/>
            </a:solidFill>
            <a:prstDash val="solid"/>
          </a:ln>
        </p:spPr>
      </p:sp>
      <p:sp>
        <p:nvSpPr>
          <p:cNvPr id="25" name="text-262"/>
          <p:cNvSpPr txBox="1"/>
          <p:nvPr/>
        </p:nvSpPr>
        <p:spPr>
          <a:xfrm>
            <a:off x="987552" y="5431536"/>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Audit #f40c83b6 · hash chain verified</a:t>
            </a:r>
            <a:endParaRPr lang="en-US" sz="1100" dirty="0"/>
          </a:p>
        </p:txBody>
      </p:sp>
      <p:sp>
        <p:nvSpPr>
          <p:cNvPr id="26" name="text-263"/>
          <p:cNvSpPr txBox="1"/>
          <p:nvPr/>
        </p:nvSpPr>
        <p:spPr>
          <a:xfrm>
            <a:off x="822960" y="5833872"/>
            <a:ext cx="4846320" cy="237744"/>
          </a:xfrm>
          <a:prstGeom prst="rect">
            <a:avLst/>
          </a:prstGeom>
          <a:noFill/>
          <a:ln/>
        </p:spPr>
        <p:txBody>
          <a:bodyPr wrap="square" lIns="0" tIns="0" rIns="0" bIns="0" rtlCol="0" anchor="t"/>
          <a:lstStyle/>
          <a:p>
            <a:pPr algn="l" indent="0" marL="0">
              <a:buNone/>
            </a:pPr>
            <a:r>
              <a:rPr lang="en-US" sz="950" i="1" dirty="0">
                <a:solidFill>
                  <a:schemeClr val="accent6"/>
                </a:solidFill>
              </a:rPr>
              <a:t>Real output on main (demo corpus, mock model), 16 Oct 2026.</a:t>
            </a:r>
            <a:endParaRPr lang="en-US" sz="950" dirty="0"/>
          </a:p>
        </p:txBody>
      </p:sp>
      <p:sp>
        <p:nvSpPr>
          <p:cNvPr id="27" name="num-264"/>
          <p:cNvSpPr txBox="1"/>
          <p:nvPr/>
        </p:nvSpPr>
        <p:spPr>
          <a:xfrm>
            <a:off x="6355080" y="1444752"/>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28" name="text-265"/>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29" name="text-266"/>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30" name="num-267"/>
          <p:cNvSpPr txBox="1"/>
          <p:nvPr/>
        </p:nvSpPr>
        <p:spPr>
          <a:xfrm>
            <a:off x="6355080" y="2395728"/>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31" name="text-268"/>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32" name="text-269"/>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33" name="num-270"/>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34" name="text-271"/>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35" name="text-272"/>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36" name="num-273"/>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37" name="text-274"/>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38" name="text-275"/>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39" name="num-276"/>
          <p:cNvSpPr txBox="1"/>
          <p:nvPr/>
        </p:nvSpPr>
        <p:spPr>
          <a:xfrm>
            <a:off x="6355080" y="5248656"/>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05</a:t>
            </a:r>
            <a:endParaRPr lang="en-US" sz="1400" dirty="0"/>
          </a:p>
        </p:txBody>
      </p:sp>
      <p:sp>
        <p:nvSpPr>
          <p:cNvPr id="40" name="text-277"/>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41" name="text-278"/>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Glean and Copilot's foundation,</a:t>
            </a:r>
            <a:pPr algn="l" indent="0" marL="0">
              <a:buNone/>
            </a:pPr>
            <a:r>
              <a:rPr lang="en-US" sz="2600" b="1" dirty="0">
                <a:solidFill>
                  <a:srgbClr val="8C8C8C"/>
                </a:solidFill>
              </a:rPr>
              <a:t> plus what they don't document</a:t>
            </a:r>
            <a:endParaRPr lang="en-US" sz="2600" dirty="0"/>
          </a:p>
        </p:txBody>
      </p:sp>
      <p:graphicFrame>
        <p:nvGraphicFramePr>
          <p:cNvPr id="11" name="comparison-table-279"/>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bl>
          </a:graphicData>
        </a:graphic>
      </p:graphicFrame>
      <p:sp>
        <p:nvSpPr>
          <p:cNvPr id="4" name="text-280"/>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revocation at the source</a:t>
            </a:r>
            <a:pPr algn="l" indent="0" marL="0">
              <a:buNone/>
            </a:pPr>
            <a:r>
              <a:rPr lang="en-US" sz="2600" b="1" dirty="0">
                <a:solidFill>
                  <a:srgbClr val="8C8C8C"/>
                </a:solidFill>
              </a:rPr>
              <a:t> is enforced within 5 minutes</a:t>
            </a:r>
            <a:endParaRPr lang="en-US" sz="2600" dirty="0"/>
          </a:p>
        </p:txBody>
      </p:sp>
      <p:graphicFrame>
        <p:nvGraphicFramePr>
          <p:cNvPr id="3" name="revocation-chart-281"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82"/>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83"/>
          <p:cNvSpPr/>
          <p:nvPr/>
        </p:nvSpPr>
        <p:spPr>
          <a:xfrm>
            <a:off x="7955280" y="1417320"/>
            <a:ext cx="3657600" cy="3154680"/>
          </a:xfrm>
          <a:prstGeom prst="roundRect">
            <a:avLst>
              <a:gd name="adj" fmla="val 1449"/>
            </a:avLst>
          </a:prstGeom>
          <a:solidFill>
            <a:schemeClr val="bg2"/>
          </a:solidFill>
          <a:ln/>
        </p:spPr>
      </p:sp>
      <p:sp>
        <p:nvSpPr>
          <p:cNvPr id="6" name="text-284"/>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85"/>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Design trade-offs</a:t>
            </a:r>
            <a:pPr algn="l" indent="0" marL="0">
              <a:buNone/>
            </a:pPr>
            <a:r>
              <a:rPr lang="en-US" sz="2600" b="1" dirty="0">
                <a:solidFill>
                  <a:srgbClr val="8C8C8C"/>
                </a:solidFill>
              </a:rPr>
              <a:t> we chose deliberately</a:t>
            </a:r>
            <a:endParaRPr lang="en-US" sz="2600" dirty="0"/>
          </a:p>
        </p:txBody>
      </p:sp>
      <p:graphicFrame>
        <p:nvGraphicFramePr>
          <p:cNvPr id="13" name="tradeoff-table-286"/>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Tested offline,</a:t>
            </a:r>
            <a:pPr algn="l" indent="0" marL="0">
              <a:buNone/>
            </a:pPr>
            <a:r>
              <a:rPr lang="en-US" sz="2600" b="1" dirty="0">
                <a:solidFill>
                  <a:srgbClr val="8C8C8C"/>
                </a:solidFill>
              </a:rPr>
              <a:t> built to run on Tencent Cloud</a:t>
            </a:r>
            <a:endParaRPr lang="en-US" sz="2600" dirty="0"/>
          </a:p>
        </p:txBody>
      </p:sp>
      <p:sp>
        <p:nvSpPr>
          <p:cNvPr id="3" name="text-287"/>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686</a:t>
            </a:r>
            <a:endParaRPr lang="en-US" sz="4800" dirty="0"/>
          </a:p>
        </p:txBody>
      </p:sp>
      <p:sp>
        <p:nvSpPr>
          <p:cNvPr id="4" name="text-288"/>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89"/>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90"/>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91"/>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92"/>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max time a source revocation goes unnoticed (confidential); in-app grants: next query</a:t>
            </a:r>
            <a:endParaRPr lang="en-US" sz="1500" dirty="0"/>
          </a:p>
        </p:txBody>
      </p:sp>
      <p:sp>
        <p:nvSpPr>
          <p:cNvPr id="9" name="stack-293"/>
          <p:cNvSpPr/>
          <p:nvPr/>
        </p:nvSpPr>
        <p:spPr>
          <a:xfrm>
            <a:off x="6263640" y="1371600"/>
            <a:ext cx="5349240" cy="4754880"/>
          </a:xfrm>
          <a:prstGeom prst="roundRect">
            <a:avLst>
              <a:gd name="adj" fmla="val 962"/>
            </a:avLst>
          </a:prstGeom>
          <a:solidFill>
            <a:schemeClr val="bg2"/>
          </a:solidFill>
          <a:ln/>
        </p:spPr>
      </p:sp>
      <p:sp>
        <p:nvSpPr>
          <p:cNvPr id="10" name="text-294"/>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95"/>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96"/>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97"/>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98"/>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99"/>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300"/>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301"/>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302"/>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303"/>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304"/>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305"/>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306"/>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307"/>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16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a:t>
            </a:r>
            <a:pPr algn="l" indent="0" marL="0">
              <a:buNone/>
            </a:pPr>
            <a:r>
              <a:rPr lang="en-US" sz="4000" b="1" dirty="0">
                <a:solidFill>
                  <a:srgbClr val="549F58"/>
                </a:solidFill>
              </a:rPr>
              <a:t> Prove every answer.</a:t>
            </a:r>
            <a:endParaRPr lang="en-US" sz="4000" dirty="0"/>
          </a:p>
        </p:txBody>
      </p:sp>
      <p:sp>
        <p:nvSpPr>
          <p:cNvPr id="3" name="icon-bg-308"/>
          <p:cNvSpPr/>
          <p:nvPr/>
        </p:nvSpPr>
        <p:spPr>
          <a:xfrm>
            <a:off x="640080" y="3429000"/>
            <a:ext cx="731520" cy="731520"/>
          </a:xfrm>
          <a:prstGeom prst="ellipse">
            <a:avLst/>
          </a:prstGeom>
          <a:solidFill>
            <a:schemeClr val="accent1"/>
          </a:solidFill>
          <a:ln/>
        </p:spPr>
      </p:sp>
      <p:pic>
        <p:nvPicPr>
          <p:cNvPr id="4" name="icon-309"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310"/>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11"/>
          <p:cNvSpPr/>
          <p:nvPr/>
        </p:nvSpPr>
        <p:spPr>
          <a:xfrm>
            <a:off x="3291840" y="3429000"/>
            <a:ext cx="731520" cy="731520"/>
          </a:xfrm>
          <a:prstGeom prst="ellipse">
            <a:avLst/>
          </a:prstGeom>
          <a:solidFill>
            <a:schemeClr val="accent3"/>
          </a:solidFill>
          <a:ln/>
        </p:spPr>
      </p:sp>
      <p:pic>
        <p:nvPicPr>
          <p:cNvPr id="7" name="icon-312"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13"/>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14"/>
          <p:cNvSpPr/>
          <p:nvPr/>
        </p:nvSpPr>
        <p:spPr>
          <a:xfrm>
            <a:off x="5943600" y="3429000"/>
            <a:ext cx="731520" cy="731520"/>
          </a:xfrm>
          <a:prstGeom prst="ellipse">
            <a:avLst/>
          </a:prstGeom>
          <a:solidFill>
            <a:schemeClr val="accent4"/>
          </a:solidFill>
          <a:ln/>
        </p:spPr>
      </p:sp>
      <p:pic>
        <p:nvPicPr>
          <p:cNvPr id="10" name="icon-315"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16"/>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17"/>
          <p:cNvSpPr/>
          <p:nvPr/>
        </p:nvSpPr>
        <p:spPr>
          <a:xfrm>
            <a:off x="8595360" y="3429000"/>
            <a:ext cx="731520" cy="731520"/>
          </a:xfrm>
          <a:prstGeom prst="ellipse">
            <a:avLst/>
          </a:prstGeom>
          <a:solidFill>
            <a:schemeClr val="accent5"/>
          </a:solidFill>
          <a:ln/>
        </p:spPr>
      </p:sp>
      <p:pic>
        <p:nvPicPr>
          <p:cNvPr id="13" name="icon-318"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19"/>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20"/>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A6A6A6"/>
                </a:solidFill>
              </a:rPr>
              <a:t>github.com/pavan2184/tencent-hack</a:t>
            </a:r>
            <a:endParaRPr lang="en-US" sz="1600" dirty="0"/>
          </a:p>
        </p:txBody>
      </p:sp>
      <p:sp>
        <p:nvSpPr>
          <p:cNvPr id="16" name="text-321"/>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A6A6A6"/>
                </a:solidFill>
              </a:rPr>
              <a:t>Chai · Raphael · Pavan  ·  Tencent Cloud AI CAN DO IT Hackathon Singapore 2026</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Team status, 13 Oct</a:t>
            </a:r>
            <a:pPr algn="l" indent="0" marL="0">
              <a:buNone/>
            </a:pPr>
            <a:r>
              <a:rPr lang="en-US" sz="2600" b="1" dirty="0">
                <a:solidFill>
                  <a:srgbClr val="8C8C8C"/>
                </a:solidFill>
              </a:rPr>
              <a:t> (internal: remove before submission)</a:t>
            </a:r>
            <a:endParaRPr lang="en-US" sz="2600" dirty="0"/>
          </a:p>
        </p:txBody>
      </p:sp>
      <p:sp>
        <p:nvSpPr>
          <p:cNvPr id="3" name="status-col-322"/>
          <p:cNvSpPr/>
          <p:nvPr/>
        </p:nvSpPr>
        <p:spPr>
          <a:xfrm>
            <a:off x="548640" y="1325880"/>
            <a:ext cx="3520440" cy="3840480"/>
          </a:xfrm>
          <a:prstGeom prst="roundRect">
            <a:avLst>
              <a:gd name="adj" fmla="val 1299"/>
            </a:avLst>
          </a:prstGeom>
          <a:solidFill>
            <a:srgbClr val="EAF3EA"/>
          </a:solidFill>
          <a:ln/>
        </p:spPr>
      </p:sp>
      <p:sp>
        <p:nvSpPr>
          <p:cNvPr id="4" name="text-323"/>
          <p:cNvSpPr txBox="1"/>
          <p:nvPr/>
        </p:nvSpPr>
        <p:spPr>
          <a:xfrm>
            <a:off x="822960" y="1508760"/>
            <a:ext cx="3017520" cy="457200"/>
          </a:xfrm>
          <a:prstGeom prst="rect">
            <a:avLst/>
          </a:prstGeom>
          <a:noFill/>
          <a:ln/>
        </p:spPr>
        <p:txBody>
          <a:bodyPr wrap="square" lIns="0" tIns="0" rIns="0" bIns="0" rtlCol="0" anchor="t"/>
          <a:lstStyle/>
          <a:p>
            <a:pPr algn="l" indent="0" marL="0">
              <a:buNone/>
            </a:pPr>
            <a:r>
              <a:rPr lang="en-US" sz="1900" b="1" dirty="0">
                <a:solidFill>
                  <a:schemeClr val="accent1"/>
                </a:solidFill>
              </a:rPr>
              <a:t>Done</a:t>
            </a:r>
            <a:endParaRPr lang="en-US" sz="1900" dirty="0"/>
          </a:p>
        </p:txBody>
      </p:sp>
      <p:sp>
        <p:nvSpPr>
          <p:cNvPr id="5" name="status-list-324"/>
          <p:cNvSpPr txBox="1"/>
          <p:nvPr/>
        </p:nvSpPr>
        <p:spPr>
          <a:xfrm>
            <a:off x="82296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Access-control library v2: native permission ceiling, fail-closed checks, Slack/Drive normalisers</a:t>
            </a:r>
            <a:endParaRPr lang="en-US" sz="1350" dirty="0"/>
          </a:p>
          <a:p>
            <a:pPr marL="342900" indent="-342900">
              <a:spcAft>
                <a:spcPts val="900"/>
              </a:spcAft>
              <a:buSzPct val="100000"/>
              <a:buChar char="•"/>
            </a:pPr>
            <a:r>
              <a:rPr lang="en-US" sz="1350" dirty="0">
                <a:solidFill>
                  <a:schemeClr val="tx1"/>
                </a:solidFill>
              </a:rPr>
              <a:t>Research note with primary sources for all four platforms</a:t>
            </a:r>
            <a:endParaRPr lang="en-US" sz="1350" dirty="0"/>
          </a:p>
          <a:p>
            <a:pPr marL="342900" indent="-342900">
              <a:spcAft>
                <a:spcPts val="900"/>
              </a:spcAft>
              <a:buSzPct val="100000"/>
              <a:buChar char="•"/>
            </a:pPr>
            <a:r>
              <a:rPr lang="en-US" sz="1350" dirty="0">
                <a:solidFill>
                  <a:schemeClr val="tx1"/>
                </a:solidFill>
              </a:rPr>
              <a:t>Saved-answer revocation fix (PR #6)</a:t>
            </a:r>
            <a:endParaRPr lang="en-US" sz="1350" dirty="0"/>
          </a:p>
          <a:p>
            <a:pPr marL="342900" indent="-342900">
              <a:spcAft>
                <a:spcPts val="900"/>
              </a:spcAft>
              <a:buSzPct val="100000"/>
              <a:buChar char="•"/>
            </a:pPr>
            <a:r>
              <a:rPr lang="en-US" sz="1350" dirty="0">
                <a:solidFill>
                  <a:schemeClr val="tx1"/>
                </a:solidFill>
              </a:rPr>
              <a:t>Permission expiry: source revocation enforced within 5 min (PR #9)</a:t>
            </a:r>
            <a:endParaRPr lang="en-US" sz="1350" dirty="0"/>
          </a:p>
          <a:p>
            <a:pPr marL="342900" indent="-342900">
              <a:spcAft>
                <a:spcPts val="900"/>
              </a:spcAft>
              <a:buSzPct val="100000"/>
              <a:buChar char="•"/>
            </a:pPr>
            <a:r>
              <a:rPr lang="en-US" sz="1350" dirty="0">
                <a:solidFill>
                  <a:schemeClr val="tx1"/>
                </a:solidFill>
              </a:rPr>
              <a:t>Industry review: Glean, Copilot, Gemini, Rovo, MAS rules</a:t>
            </a:r>
            <a:endParaRPr lang="en-US" sz="1350" dirty="0"/>
          </a:p>
        </p:txBody>
      </p:sp>
      <p:sp>
        <p:nvSpPr>
          <p:cNvPr id="6" name="status-col-325"/>
          <p:cNvSpPr/>
          <p:nvPr/>
        </p:nvSpPr>
        <p:spPr>
          <a:xfrm>
            <a:off x="4297680" y="1325880"/>
            <a:ext cx="3520440" cy="3840480"/>
          </a:xfrm>
          <a:prstGeom prst="roundRect">
            <a:avLst>
              <a:gd name="adj" fmla="val 1299"/>
            </a:avLst>
          </a:prstGeom>
          <a:solidFill>
            <a:srgbClr val="FCF3E3"/>
          </a:solidFill>
          <a:ln/>
        </p:spPr>
      </p:sp>
      <p:sp>
        <p:nvSpPr>
          <p:cNvPr id="7" name="text-326"/>
          <p:cNvSpPr txBox="1"/>
          <p:nvPr/>
        </p:nvSpPr>
        <p:spPr>
          <a:xfrm>
            <a:off x="4572000" y="1508760"/>
            <a:ext cx="3017520" cy="457200"/>
          </a:xfrm>
          <a:prstGeom prst="rect">
            <a:avLst/>
          </a:prstGeom>
          <a:noFill/>
          <a:ln/>
        </p:spPr>
        <p:txBody>
          <a:bodyPr wrap="square" lIns="0" tIns="0" rIns="0" bIns="0" rtlCol="0" anchor="t"/>
          <a:lstStyle/>
          <a:p>
            <a:pPr algn="l" indent="0" marL="0">
              <a:buNone/>
            </a:pPr>
            <a:r>
              <a:rPr lang="en-US" sz="1900" b="1" dirty="0">
                <a:solidFill>
                  <a:schemeClr val="accent3"/>
                </a:solidFill>
              </a:rPr>
              <a:t>Needs team agreement</a:t>
            </a:r>
            <a:endParaRPr lang="en-US" sz="1900" dirty="0"/>
          </a:p>
        </p:txBody>
      </p:sp>
      <p:sp>
        <p:nvSpPr>
          <p:cNvPr id="8" name="status-list-327"/>
          <p:cNvSpPr txBox="1"/>
          <p:nvPr/>
        </p:nvSpPr>
        <p:spPr>
          <a:xfrm>
            <a:off x="457200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Adopt v2 rules and permission expiry, PR #9: admins no longer see everything (Raphael, Pavan)</a:t>
            </a:r>
            <a:endParaRPr lang="en-US" sz="1350" dirty="0"/>
          </a:p>
          <a:p>
            <a:pPr marL="342900" indent="-342900">
              <a:spcAft>
                <a:spcPts val="900"/>
              </a:spcAft>
              <a:buSzPct val="100000"/>
              <a:buChar char="•"/>
            </a:pPr>
            <a:r>
              <a:rPr lang="en-US" sz="1350" dirty="0">
                <a:solidFill>
                  <a:schemeClr val="tx1"/>
                </a:solidFill>
              </a:rPr>
              <a:t>Demo stack must run Celery worker and beat, or confidential docs go dark after 5 min (Pavan)</a:t>
            </a:r>
            <a:endParaRPr lang="en-US" sz="1350" dirty="0"/>
          </a:p>
          <a:p>
            <a:pPr marL="342900" indent="-342900">
              <a:spcAft>
                <a:spcPts val="900"/>
              </a:spcAft>
              <a:buSzPct val="100000"/>
              <a:buChar char="•"/>
            </a:pPr>
            <a:r>
              <a:rPr lang="en-US" sz="1350" dirty="0">
                <a:solidFill>
                  <a:schemeClr val="tx1"/>
                </a:solidFill>
              </a:rPr>
              <a:t>Audit need-to-know with recorded reveal, and approval feedback, PR #10 (Raphael)</a:t>
            </a:r>
            <a:endParaRPr lang="en-US" sz="1350" dirty="0"/>
          </a:p>
          <a:p>
            <a:pPr marL="342900" indent="-342900">
              <a:spcAft>
                <a:spcPts val="900"/>
              </a:spcAft>
              <a:buSzPct val="100000"/>
              <a:buChar char="•"/>
            </a:pPr>
            <a:r>
              <a:rPr lang="en-US" sz="1350" dirty="0">
                <a:solidFill>
                  <a:schemeClr val="tx1"/>
                </a:solidFill>
              </a:rPr>
              <a:t>Wire the query-time access service into the app (Pavan)</a:t>
            </a:r>
            <a:endParaRPr lang="en-US" sz="1350" dirty="0"/>
          </a:p>
        </p:txBody>
      </p:sp>
      <p:sp>
        <p:nvSpPr>
          <p:cNvPr id="9" name="status-col-328"/>
          <p:cNvSpPr/>
          <p:nvPr/>
        </p:nvSpPr>
        <p:spPr>
          <a:xfrm>
            <a:off x="8046720" y="1325880"/>
            <a:ext cx="3520440" cy="3840480"/>
          </a:xfrm>
          <a:prstGeom prst="roundRect">
            <a:avLst>
              <a:gd name="adj" fmla="val 1299"/>
            </a:avLst>
          </a:prstGeom>
          <a:solidFill>
            <a:srgbClr val="F5F5F5"/>
          </a:solidFill>
          <a:ln/>
        </p:spPr>
      </p:sp>
      <p:sp>
        <p:nvSpPr>
          <p:cNvPr id="10" name="text-329"/>
          <p:cNvSpPr txBox="1"/>
          <p:nvPr/>
        </p:nvSpPr>
        <p:spPr>
          <a:xfrm>
            <a:off x="8321040" y="1508760"/>
            <a:ext cx="3017520" cy="457200"/>
          </a:xfrm>
          <a:prstGeom prst="rect">
            <a:avLst/>
          </a:prstGeom>
          <a:noFill/>
          <a:ln/>
        </p:spPr>
        <p:txBody>
          <a:bodyPr wrap="square" lIns="0" tIns="0" rIns="0" bIns="0" rtlCol="0" anchor="t"/>
          <a:lstStyle/>
          <a:p>
            <a:pPr algn="l" indent="0" marL="0">
              <a:buNone/>
            </a:pPr>
            <a:r>
              <a:rPr lang="en-US" sz="1900" b="1" dirty="0">
                <a:solidFill>
                  <a:schemeClr val="accent4"/>
                </a:solidFill>
              </a:rPr>
              <a:t>Next</a:t>
            </a:r>
            <a:endParaRPr lang="en-US" sz="1900" dirty="0"/>
          </a:p>
        </p:txBody>
      </p:sp>
      <p:sp>
        <p:nvSpPr>
          <p:cNvPr id="11" name="status-list-330"/>
          <p:cNvSpPr txBox="1"/>
          <p:nvPr/>
        </p:nvSpPr>
        <p:spPr>
          <a:xfrm>
            <a:off x="832104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Store the audit chain's latest hash outside the app database (Raphael)</a:t>
            </a:r>
            <a:endParaRPr lang="en-US" sz="1350" dirty="0"/>
          </a:p>
          <a:p>
            <a:pPr marL="342900" indent="-342900">
              <a:spcAft>
                <a:spcPts val="900"/>
              </a:spcAft>
              <a:buSzPct val="100000"/>
              <a:buChar char="•"/>
            </a:pPr>
            <a:r>
              <a:rPr lang="en-US" sz="1350" dirty="0">
                <a:solidFill>
                  <a:schemeClr val="tx1"/>
                </a:solidFill>
              </a:rPr>
              <a:t>Log model and prompt-template version per answer (Raphael)</a:t>
            </a:r>
            <a:endParaRPr lang="en-US" sz="1350" dirty="0"/>
          </a:p>
          <a:p>
            <a:pPr marL="342900" indent="-342900">
              <a:spcAft>
                <a:spcPts val="900"/>
              </a:spcAft>
              <a:buSzPct val="100000"/>
              <a:buChar char="•"/>
            </a:pPr>
            <a:r>
              <a:rPr lang="en-US" sz="1350" dirty="0">
                <a:solidFill>
                  <a:schemeClr val="tx1"/>
                </a:solidFill>
              </a:rPr>
              <a:t>Signed demo sessions instead of the spoofable persona header (Raphael)</a:t>
            </a:r>
            <a:endParaRPr lang="en-US" sz="1350" dirty="0"/>
          </a:p>
          <a:p>
            <a:pPr marL="342900" indent="-342900">
              <a:spcAft>
                <a:spcPts val="900"/>
              </a:spcAft>
              <a:buSzPct val="100000"/>
              <a:buChar char="•"/>
            </a:pPr>
            <a:r>
              <a:rPr lang="en-US" sz="1350" dirty="0">
                <a:solidFill>
                  <a:schemeClr val="tx1"/>
                </a:solidFill>
              </a:rPr>
              <a:t>CodeBuddy / WorkBuddy screenshots: at least three (everyone)</a:t>
            </a:r>
            <a:endParaRPr lang="en-US" sz="1350" dirty="0"/>
          </a:p>
          <a:p>
            <a:pPr marL="342900" indent="-342900">
              <a:spcAft>
                <a:spcPts val="900"/>
              </a:spcAft>
              <a:buSzPct val="100000"/>
              <a:buChar char="•"/>
            </a:pPr>
            <a:r>
              <a:rPr lang="en-US" sz="1350" dirty="0">
                <a:solidFill>
                  <a:schemeClr val="tx1"/>
                </a:solidFill>
              </a:rPr>
              <a:t>Submit 16 Oct: URL, video, this PPT, GitHub</a:t>
            </a:r>
            <a:endParaRPr lang="en-US" sz="13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Brain Sauce">
  <a:themeElements>
    <a:clrScheme name="Brain Sauce">
      <a:dk1>
        <a:srgbClr val="1D1D1D"/>
      </a:dk1>
      <a:lt1>
        <a:srgbClr val="FFFFFF"/>
      </a:lt1>
      <a:dk2>
        <a:srgbClr val="1D1D1D"/>
      </a:dk2>
      <a:lt2>
        <a:srgbClr val="F5F5F5"/>
      </a:lt2>
      <a:accent1>
        <a:srgbClr val="3F8243"/>
      </a:accent1>
      <a:accent2>
        <a:srgbClr val="D9433B"/>
      </a:accent2>
      <a:accent3>
        <a:srgbClr val="C77A0A"/>
      </a:accent3>
      <a:accent4>
        <a:srgbClr val="8C8C8C"/>
      </a:accent4>
      <a:accent5>
        <a:srgbClr val="666666"/>
      </a:accent5>
      <a:accent6>
        <a:srgbClr val="737373"/>
      </a:accent6>
      <a:hlink>
        <a:srgbClr val="8C8C8C"/>
      </a:hlink>
      <a:folHlink>
        <a:srgbClr val="666666"/>
      </a:folHlink>
    </a:clrScheme>
    <a:fontScheme name="Brain Sau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2026-10-16T09:04:44Z</dcterms:created>
  <dcterms:modified xsi:type="dcterms:W3CDTF">2026-10-16T09:04:44Z</dcterms:modified>
</cp:coreProperties>
</file>