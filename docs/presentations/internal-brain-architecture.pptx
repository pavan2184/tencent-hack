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da5b1e92-e5bb-77df-be84-45971ec08958}">
          <p14:sldIdLst>
            <p14:sldId id="256"/>
            <p14:sldId id="257"/>
            <p14:sldId id="258"/>
          </p14:sldIdLst>
        </p14:section>
        <p14:section name="Architecture" id="{bb8ac8b3-c68c-037e-908c-54d6c94b8d8d}">
          <p14:sldIdLst>
            <p14:sldId id="259"/>
            <p14:sldId id="260"/>
            <p14:sldId id="261"/>
          </p14:sldIdLst>
        </p14:section>
        <p14:section name="Proof" id="{5c4998ae-d3b5-fd09-6d57-2e39e31d51b2}">
          <p14:sldIdLst>
            <p14:sldId id="262"/>
            <p14:sldId id="263"/>
            <p14:sldId id="264"/>
            <p14:sldId id="265"/>
            <p14:sldId id="266"/>
            <p14:sldId id="267"/>
            <p14:sldId id="268"/>
            <p14:sldId id="269"/>
          </p14:sldIdLst>
        </p14:section>
        <p14:section name="Internal" id="{cbb9f449-7bd0-cccc-0d8c-a121edb47ac6}">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475569"/>
            </a:solidFill>
            <a:effectLst/>
          </c:spPr>
          <c:invertIfNegative val="0"/>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475569"/>
              </a:solidFill>
              <a:effectLst/>
            </c:spPr>
          </c:dPt>
          <c:dPt>
            <c:idx val="1"/>
            <c:invertIfNegative val="0"/>
            <c:bubble3D val="0"/>
            <c:spPr>
              <a:solidFill>
                <a:srgbClr val="475569"/>
              </a:solidFill>
              <a:effectLst/>
            </c:spPr>
          </c:dPt>
          <c:dPt>
            <c:idx val="2"/>
            <c:invertIfNegative val="0"/>
            <c:bubble3D val="0"/>
            <c:spPr>
              <a:solidFill>
                <a:srgbClr val="475569"/>
              </a:solidFill>
              <a:effectLst/>
            </c:spPr>
          </c:dPt>
          <c:dPt>
            <c:idx val="3"/>
            <c:invertIfNegative val="0"/>
            <c:bubble3D val="0"/>
            <c:spPr>
              <a:solidFill>
                <a:srgbClr val="0E9F8E"/>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Internal Brain,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F172A"/>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The Internal Brain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685800"/>
            <a:ext cx="35661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5400" b="1" dirty="0">
                <a:solidFill>
                  <a:schemeClr val="bg1"/>
                </a:solidFill>
              </a:rPr>
              <a:t>The Internal Brain</a:t>
            </a:r>
            <a:endParaRPr lang="en-US" sz="5400" dirty="0"/>
          </a:p>
        </p:txBody>
      </p:sp>
      <p:sp>
        <p:nvSpPr>
          <p:cNvPr id="4" name="text-2"/>
          <p:cNvSpPr txBox="1"/>
          <p:nvPr/>
        </p:nvSpPr>
        <p:spPr>
          <a:xfrm>
            <a:off x="640080" y="2606040"/>
            <a:ext cx="6949440" cy="1097280"/>
          </a:xfrm>
          <a:prstGeom prst="rect">
            <a:avLst/>
          </a:prstGeom>
          <a:noFill/>
          <a:ln/>
        </p:spPr>
        <p:txBody>
          <a:bodyPr wrap="square" lIns="0" tIns="0" rIns="0" bIns="0" rtlCol="0" anchor="t"/>
          <a:lstStyle/>
          <a:p>
            <a:pPr algn="l" indent="0" marL="0">
              <a:buNone/>
            </a:pPr>
            <a:r>
              <a:rPr lang="en-US" sz="2000" dirty="0">
                <a:solidFill>
                  <a:schemeClr val="bg2"/>
                </a:solidFill>
              </a:rPr>
              <a:t>Ask one question across Confluence, Jira, Slack and Google Drive. Get an answer built only from what you are allowed to see, with the proof attached.</a:t>
            </a:r>
            <a:endParaRPr lang="en-US" sz="2000" dirty="0"/>
          </a:p>
        </p:txBody>
      </p:sp>
      <p:sp>
        <p:nvSpPr>
          <p:cNvPr id="5" name="text-3"/>
          <p:cNvSpPr txBox="1"/>
          <p:nvPr/>
        </p:nvSpPr>
        <p:spPr>
          <a:xfrm>
            <a:off x="640080" y="3977640"/>
            <a:ext cx="6949440" cy="731520"/>
          </a:xfrm>
          <a:prstGeom prst="rect">
            <a:avLst/>
          </a:prstGeom>
          <a:noFill/>
          <a:ln/>
        </p:spPr>
        <p:txBody>
          <a:bodyPr wrap="square" lIns="0" tIns="0" rIns="0" bIns="0" rtlCol="0" anchor="t"/>
          <a:lstStyle/>
          <a:p>
            <a:pPr algn="l" indent="0" marL="0">
              <a:buNone/>
            </a:pPr>
            <a:r>
              <a:rPr lang="en-US" sz="1400" b="1" dirty="0">
                <a:solidFill>
                  <a:srgbClr val="C9D8EE"/>
                </a:solidFill>
              </a:rPr>
              <a:t>Challenge: </a:t>
            </a:r>
            <a:pPr algn="l" indent="0" marL="0">
              <a:buNone/>
            </a:pPr>
            <a:r>
              <a:rPr lang="en-US" sz="1400" dirty="0">
                <a:solidFill>
                  <a:srgbClr val="C9D8EE"/>
                </a:solidFill>
              </a:rPr>
              <a:t>The Internal Brain: a context-aware enterprise knowledge system with RBAC, security logging and audit trail</a:t>
            </a:r>
            <a:endParaRPr lang="en-US" sz="1400" dirty="0"/>
          </a:p>
        </p:txBody>
      </p:sp>
      <p:sp>
        <p:nvSpPr>
          <p:cNvPr id="6" name="text-4"/>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Team: Chai · Raphael · Pavan     |     Tencent Cloud AI CAN DO IT Hackathon Singapore 2026</a:t>
            </a:r>
            <a:endParaRPr lang="en-US" sz="1300" dirty="0"/>
          </a:p>
        </p:txBody>
      </p:sp>
      <p:sp>
        <p:nvSpPr>
          <p:cNvPr id="7" name="icon-bg-5"/>
          <p:cNvSpPr/>
          <p:nvPr/>
        </p:nvSpPr>
        <p:spPr>
          <a:xfrm>
            <a:off x="8366760" y="914400"/>
            <a:ext cx="731520" cy="731520"/>
          </a:xfrm>
          <a:prstGeom prst="ellipse">
            <a:avLst/>
          </a:prstGeom>
          <a:solidFill>
            <a:schemeClr val="bg1"/>
          </a:solidFill>
          <a:ln/>
        </p:spPr>
      </p:sp>
      <p:pic>
        <p:nvPicPr>
          <p:cNvPr id="8" name="icon-6" descr="preencoded.png">    </p:cNvPr>
          <p:cNvPicPr>
            <a:picLocks noChangeAspect="1"/>
          </p:cNvPicPr>
          <p:nvPr/>
        </p:nvPicPr>
        <p:blipFill>
          <a:blip r:embed="rId1"/>
          <a:stretch>
            <a:fillRect/>
          </a:stretch>
        </p:blipFill>
        <p:spPr>
          <a:xfrm>
            <a:off x="8513064" y="1060704"/>
            <a:ext cx="438912" cy="438912"/>
          </a:xfrm>
          <a:prstGeom prst="rect">
            <a:avLst/>
          </a:prstGeom>
        </p:spPr>
      </p:pic>
      <p:sp>
        <p:nvSpPr>
          <p:cNvPr id="9" name="text-7"/>
          <p:cNvSpPr txBox="1"/>
          <p:nvPr/>
        </p:nvSpPr>
        <p:spPr>
          <a:xfrm>
            <a:off x="8275320" y="1682496"/>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Confluence</a:t>
            </a:r>
            <a:endParaRPr lang="en-US" sz="1100" dirty="0"/>
          </a:p>
        </p:txBody>
      </p:sp>
      <p:sp>
        <p:nvSpPr>
          <p:cNvPr id="10" name="arrow-8"/>
          <p:cNvSpPr/>
          <p:nvPr/>
        </p:nvSpPr>
        <p:spPr>
          <a:xfrm>
            <a:off x="9189720" y="1280160"/>
            <a:ext cx="868680" cy="1554480"/>
          </a:xfrm>
          <a:prstGeom prst="line">
            <a:avLst/>
          </a:prstGeom>
          <a:noFill/>
          <a:ln w="15875">
            <a:solidFill>
              <a:srgbClr val="C9D8EE"/>
            </a:solidFill>
            <a:prstDash val="solid"/>
            <a:tailEnd type="triangle"/>
          </a:ln>
        </p:spPr>
      </p:sp>
      <p:sp>
        <p:nvSpPr>
          <p:cNvPr id="11" name="icon-bg-9"/>
          <p:cNvSpPr/>
          <p:nvPr/>
        </p:nvSpPr>
        <p:spPr>
          <a:xfrm>
            <a:off x="8366760" y="1993392"/>
            <a:ext cx="731520" cy="731520"/>
          </a:xfrm>
          <a:prstGeom prst="ellipse">
            <a:avLst/>
          </a:prstGeom>
          <a:solidFill>
            <a:schemeClr val="bg1"/>
          </a:solidFill>
          <a:ln/>
        </p:spPr>
      </p:sp>
      <p:pic>
        <p:nvPicPr>
          <p:cNvPr id="12" name="icon-10" descr="preencoded.png">    </p:cNvPr>
          <p:cNvPicPr>
            <a:picLocks noChangeAspect="1"/>
          </p:cNvPicPr>
          <p:nvPr/>
        </p:nvPicPr>
        <p:blipFill>
          <a:blip r:embed="rId2"/>
          <a:stretch>
            <a:fillRect/>
          </a:stretch>
        </p:blipFill>
        <p:spPr>
          <a:xfrm>
            <a:off x="8513064" y="2139696"/>
            <a:ext cx="438912" cy="438912"/>
          </a:xfrm>
          <a:prstGeom prst="rect">
            <a:avLst/>
          </a:prstGeom>
        </p:spPr>
      </p:pic>
      <p:sp>
        <p:nvSpPr>
          <p:cNvPr id="13" name="text-11"/>
          <p:cNvSpPr txBox="1"/>
          <p:nvPr/>
        </p:nvSpPr>
        <p:spPr>
          <a:xfrm>
            <a:off x="8275320" y="2761488"/>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Jira</a:t>
            </a:r>
            <a:endParaRPr lang="en-US" sz="1100" dirty="0"/>
          </a:p>
        </p:txBody>
      </p:sp>
      <p:sp>
        <p:nvSpPr>
          <p:cNvPr id="14" name="arrow-12"/>
          <p:cNvSpPr/>
          <p:nvPr/>
        </p:nvSpPr>
        <p:spPr>
          <a:xfrm>
            <a:off x="9189720" y="2359152"/>
            <a:ext cx="868680" cy="475488"/>
          </a:xfrm>
          <a:prstGeom prst="line">
            <a:avLst/>
          </a:prstGeom>
          <a:noFill/>
          <a:ln w="15875">
            <a:solidFill>
              <a:srgbClr val="C9D8EE"/>
            </a:solidFill>
            <a:prstDash val="solid"/>
            <a:tailEnd type="triangle"/>
          </a:ln>
        </p:spPr>
      </p:sp>
      <p:sp>
        <p:nvSpPr>
          <p:cNvPr id="15" name="icon-bg-13"/>
          <p:cNvSpPr/>
          <p:nvPr/>
        </p:nvSpPr>
        <p:spPr>
          <a:xfrm>
            <a:off x="8366760" y="3072384"/>
            <a:ext cx="731520" cy="731520"/>
          </a:xfrm>
          <a:prstGeom prst="ellipse">
            <a:avLst/>
          </a:prstGeom>
          <a:solidFill>
            <a:schemeClr val="bg1"/>
          </a:solidFill>
          <a:ln/>
        </p:spPr>
      </p:sp>
      <p:pic>
        <p:nvPicPr>
          <p:cNvPr id="16" name="icon-14" descr="preencoded.png">    </p:cNvPr>
          <p:cNvPicPr>
            <a:picLocks noChangeAspect="1"/>
          </p:cNvPicPr>
          <p:nvPr/>
        </p:nvPicPr>
        <p:blipFill>
          <a:blip r:embed="rId3"/>
          <a:stretch>
            <a:fillRect/>
          </a:stretch>
        </p:blipFill>
        <p:spPr>
          <a:xfrm>
            <a:off x="8513064" y="3218688"/>
            <a:ext cx="438912" cy="438912"/>
          </a:xfrm>
          <a:prstGeom prst="rect">
            <a:avLst/>
          </a:prstGeom>
        </p:spPr>
      </p:pic>
      <p:sp>
        <p:nvSpPr>
          <p:cNvPr id="17" name="text-15"/>
          <p:cNvSpPr txBox="1"/>
          <p:nvPr/>
        </p:nvSpPr>
        <p:spPr>
          <a:xfrm>
            <a:off x="8275320" y="3840480"/>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Slack</a:t>
            </a:r>
            <a:endParaRPr lang="en-US" sz="1100" dirty="0"/>
          </a:p>
        </p:txBody>
      </p:sp>
      <p:sp>
        <p:nvSpPr>
          <p:cNvPr id="18" name="arrow-16"/>
          <p:cNvSpPr/>
          <p:nvPr/>
        </p:nvSpPr>
        <p:spPr>
          <a:xfrm flipV="1">
            <a:off x="9189720" y="2834640"/>
            <a:ext cx="868680" cy="603504"/>
          </a:xfrm>
          <a:prstGeom prst="line">
            <a:avLst/>
          </a:prstGeom>
          <a:noFill/>
          <a:ln w="15875">
            <a:solidFill>
              <a:srgbClr val="C9D8EE"/>
            </a:solidFill>
            <a:prstDash val="solid"/>
            <a:tailEnd type="triangle"/>
          </a:ln>
        </p:spPr>
      </p:sp>
      <p:sp>
        <p:nvSpPr>
          <p:cNvPr id="19" name="icon-bg-17"/>
          <p:cNvSpPr/>
          <p:nvPr/>
        </p:nvSpPr>
        <p:spPr>
          <a:xfrm>
            <a:off x="8366760" y="4151376"/>
            <a:ext cx="731520" cy="731520"/>
          </a:xfrm>
          <a:prstGeom prst="ellipse">
            <a:avLst/>
          </a:prstGeom>
          <a:solidFill>
            <a:schemeClr val="bg1"/>
          </a:solidFill>
          <a:ln/>
        </p:spPr>
      </p:sp>
      <p:pic>
        <p:nvPicPr>
          <p:cNvPr id="20" name="icon-18" descr="preencoded.png">    </p:cNvPr>
          <p:cNvPicPr>
            <a:picLocks noChangeAspect="1"/>
          </p:cNvPicPr>
          <p:nvPr/>
        </p:nvPicPr>
        <p:blipFill>
          <a:blip r:embed="rId4"/>
          <a:stretch>
            <a:fillRect/>
          </a:stretch>
        </p:blipFill>
        <p:spPr>
          <a:xfrm>
            <a:off x="8513064" y="4297680"/>
            <a:ext cx="438912" cy="438912"/>
          </a:xfrm>
          <a:prstGeom prst="rect">
            <a:avLst/>
          </a:prstGeom>
        </p:spPr>
      </p:pic>
      <p:sp>
        <p:nvSpPr>
          <p:cNvPr id="21" name="text-19"/>
          <p:cNvSpPr txBox="1"/>
          <p:nvPr/>
        </p:nvSpPr>
        <p:spPr>
          <a:xfrm>
            <a:off x="8275320" y="4919472"/>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Google Drive</a:t>
            </a:r>
            <a:endParaRPr lang="en-US" sz="1100" dirty="0"/>
          </a:p>
        </p:txBody>
      </p:sp>
      <p:sp>
        <p:nvSpPr>
          <p:cNvPr id="22" name="arrow-20"/>
          <p:cNvSpPr/>
          <p:nvPr/>
        </p:nvSpPr>
        <p:spPr>
          <a:xfrm flipV="1">
            <a:off x="9189720" y="2834640"/>
            <a:ext cx="868680" cy="1682496"/>
          </a:xfrm>
          <a:prstGeom prst="line">
            <a:avLst/>
          </a:prstGeom>
          <a:noFill/>
          <a:ln w="15875">
            <a:solidFill>
              <a:srgbClr val="C9D8EE"/>
            </a:solidFill>
            <a:prstDash val="solid"/>
            <a:tailEnd type="triangle"/>
          </a:ln>
        </p:spPr>
      </p:sp>
      <p:sp>
        <p:nvSpPr>
          <p:cNvPr id="23" name="icon-bg-21"/>
          <p:cNvSpPr/>
          <p:nvPr/>
        </p:nvSpPr>
        <p:spPr>
          <a:xfrm>
            <a:off x="10104120" y="2377440"/>
            <a:ext cx="1005840" cy="1005840"/>
          </a:xfrm>
          <a:prstGeom prst="ellipse">
            <a:avLst/>
          </a:prstGeom>
          <a:solidFill>
            <a:schemeClr val="accent1"/>
          </a:solidFill>
          <a:ln/>
        </p:spPr>
      </p:sp>
      <p:pic>
        <p:nvPicPr>
          <p:cNvPr id="24" name="icon-22"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5" name="text-23"/>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bg1"/>
                </a:solidFill>
              </a:rPr>
              <a:t>Governed answer</a:t>
            </a:r>
            <a:endParaRPr lang="en-US" sz="1200" dirty="0"/>
          </a:p>
        </p:txBody>
      </p:sp>
      <p:sp>
        <p:nvSpPr>
          <p:cNvPr id="26" name="text-24"/>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rgbClr val="C9D8EE"/>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chatbot on top of search fails a fintech in three ways</a:t>
            </a:r>
            <a:endParaRPr lang="en-US" sz="2800" dirty="0"/>
          </a:p>
        </p:txBody>
      </p:sp>
      <p:sp>
        <p:nvSpPr>
          <p:cNvPr id="3" name="problem-card-25"/>
          <p:cNvSpPr/>
          <p:nvPr/>
        </p:nvSpPr>
        <p:spPr>
          <a:xfrm>
            <a:off x="548640" y="1417320"/>
            <a:ext cx="3520440" cy="3246120"/>
          </a:xfrm>
          <a:prstGeom prst="roundRect">
            <a:avLst>
              <a:gd name="adj" fmla="val 2254"/>
            </a:avLst>
          </a:prstGeom>
          <a:solidFill>
            <a:schemeClr val="bg2"/>
          </a:solidFill>
          <a:ln/>
        </p:spPr>
      </p:sp>
      <p:sp>
        <p:nvSpPr>
          <p:cNvPr id="4" name="icon-bg-26"/>
          <p:cNvSpPr/>
          <p:nvPr/>
        </p:nvSpPr>
        <p:spPr>
          <a:xfrm>
            <a:off x="868680" y="1691640"/>
            <a:ext cx="731520" cy="731520"/>
          </a:xfrm>
          <a:prstGeom prst="ellipse">
            <a:avLst/>
          </a:prstGeom>
          <a:solidFill>
            <a:schemeClr val="accent2"/>
          </a:solidFill>
          <a:ln/>
        </p:spPr>
      </p:sp>
      <p:pic>
        <p:nvPicPr>
          <p:cNvPr id="5" name="icon-27"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8"/>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29"/>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0"/>
          <p:cNvSpPr/>
          <p:nvPr/>
        </p:nvSpPr>
        <p:spPr>
          <a:xfrm>
            <a:off x="4297680" y="1417320"/>
            <a:ext cx="3520440" cy="3246120"/>
          </a:xfrm>
          <a:prstGeom prst="roundRect">
            <a:avLst>
              <a:gd name="adj" fmla="val 2254"/>
            </a:avLst>
          </a:prstGeom>
          <a:solidFill>
            <a:schemeClr val="bg2"/>
          </a:solidFill>
          <a:ln/>
        </p:spPr>
      </p:sp>
      <p:sp>
        <p:nvSpPr>
          <p:cNvPr id="9" name="icon-bg-31"/>
          <p:cNvSpPr/>
          <p:nvPr/>
        </p:nvSpPr>
        <p:spPr>
          <a:xfrm>
            <a:off x="4617720" y="1691640"/>
            <a:ext cx="731520" cy="731520"/>
          </a:xfrm>
          <a:prstGeom prst="ellipse">
            <a:avLst/>
          </a:prstGeom>
          <a:solidFill>
            <a:schemeClr val="accent3"/>
          </a:solidFill>
          <a:ln/>
        </p:spPr>
      </p:sp>
      <p:pic>
        <p:nvPicPr>
          <p:cNvPr id="10" name="icon-32"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3"/>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4"/>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5"/>
          <p:cNvSpPr/>
          <p:nvPr/>
        </p:nvSpPr>
        <p:spPr>
          <a:xfrm>
            <a:off x="8046720" y="1417320"/>
            <a:ext cx="3520440" cy="3246120"/>
          </a:xfrm>
          <a:prstGeom prst="roundRect">
            <a:avLst>
              <a:gd name="adj" fmla="val 2254"/>
            </a:avLst>
          </a:prstGeom>
          <a:solidFill>
            <a:schemeClr val="bg2"/>
          </a:solidFill>
          <a:ln/>
        </p:spPr>
      </p:sp>
      <p:sp>
        <p:nvSpPr>
          <p:cNvPr id="14" name="icon-bg-36"/>
          <p:cNvSpPr/>
          <p:nvPr/>
        </p:nvSpPr>
        <p:spPr>
          <a:xfrm>
            <a:off x="8366760" y="1691640"/>
            <a:ext cx="731520" cy="731520"/>
          </a:xfrm>
          <a:prstGeom prst="ellipse">
            <a:avLst/>
          </a:prstGeom>
          <a:solidFill>
            <a:schemeClr val="accent5"/>
          </a:solidFill>
          <a:ln/>
        </p:spPr>
      </p:sp>
      <p:pic>
        <p:nvPicPr>
          <p:cNvPr id="15" name="icon-37"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8"/>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39"/>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0"/>
          <p:cNvSpPr/>
          <p:nvPr/>
        </p:nvSpPr>
        <p:spPr>
          <a:xfrm>
            <a:off x="548640" y="4983480"/>
            <a:ext cx="11064240" cy="1097280"/>
          </a:xfrm>
          <a:prstGeom prst="roundRect">
            <a:avLst>
              <a:gd name="adj" fmla="val 6667"/>
            </a:avLst>
          </a:prstGeom>
          <a:solidFill>
            <a:schemeClr val="tx2"/>
          </a:solidFill>
          <a:ln/>
        </p:spPr>
      </p:sp>
      <p:sp>
        <p:nvSpPr>
          <p:cNvPr id="19" name="text-41"/>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2"/>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employees</a:t>
            </a:r>
            <a:endParaRPr lang="en-US" sz="1300" dirty="0"/>
          </a:p>
        </p:txBody>
      </p:sp>
      <p:sp>
        <p:nvSpPr>
          <p:cNvPr id="21" name="text-43"/>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4"/>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countries</a:t>
            </a:r>
            <a:endParaRPr lang="en-US" sz="1300" dirty="0"/>
          </a:p>
        </p:txBody>
      </p:sp>
      <p:sp>
        <p:nvSpPr>
          <p:cNvPr id="23" name="text-45"/>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6"/>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client markets</a:t>
            </a:r>
            <a:endParaRPr lang="en-US" sz="1300" dirty="0"/>
          </a:p>
        </p:txBody>
      </p:sp>
      <p:sp>
        <p:nvSpPr>
          <p:cNvPr id="25" name="text-47"/>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8"/>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platforms, 4 permission models</a:t>
            </a:r>
            <a:endParaRPr lang="en-US" sz="1300" dirty="0"/>
          </a:p>
        </p:txBody>
      </p:sp>
      <p:sp>
        <p:nvSpPr>
          <p:cNvPr id="27" name="text-49"/>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C9D8EE"/>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Our answer: one governed pipeline, four guarantees on every response</a:t>
            </a:r>
            <a:endParaRPr lang="en-US" sz="2800" dirty="0"/>
          </a:p>
        </p:txBody>
      </p:sp>
      <p:sp>
        <p:nvSpPr>
          <p:cNvPr id="3" name="pillar-50"/>
          <p:cNvSpPr/>
          <p:nvPr/>
        </p:nvSpPr>
        <p:spPr>
          <a:xfrm>
            <a:off x="548640" y="1417320"/>
            <a:ext cx="2606040" cy="3429000"/>
          </a:xfrm>
          <a:prstGeom prst="roundRect">
            <a:avLst>
              <a:gd name="adj" fmla="val 2807"/>
            </a:avLst>
          </a:prstGeom>
          <a:solidFill>
            <a:srgbClr val="E3F5F2"/>
          </a:solidFill>
          <a:ln/>
        </p:spPr>
      </p:sp>
      <p:sp>
        <p:nvSpPr>
          <p:cNvPr id="4" name="icon-bg-51"/>
          <p:cNvSpPr/>
          <p:nvPr/>
        </p:nvSpPr>
        <p:spPr>
          <a:xfrm>
            <a:off x="822960" y="1691640"/>
            <a:ext cx="777240" cy="777240"/>
          </a:xfrm>
          <a:prstGeom prst="ellipse">
            <a:avLst/>
          </a:prstGeom>
          <a:solidFill>
            <a:schemeClr val="accent1"/>
          </a:solidFill>
          <a:ln/>
        </p:spPr>
      </p:sp>
      <p:pic>
        <p:nvPicPr>
          <p:cNvPr id="5" name="icon-52"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3"/>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4"/>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5"/>
          <p:cNvSpPr/>
          <p:nvPr/>
        </p:nvSpPr>
        <p:spPr>
          <a:xfrm>
            <a:off x="3364992" y="1417320"/>
            <a:ext cx="2606040" cy="3429000"/>
          </a:xfrm>
          <a:prstGeom prst="roundRect">
            <a:avLst>
              <a:gd name="adj" fmla="val 2807"/>
            </a:avLst>
          </a:prstGeom>
          <a:solidFill>
            <a:srgbClr val="FDF4E4"/>
          </a:solidFill>
          <a:ln/>
        </p:spPr>
      </p:sp>
      <p:sp>
        <p:nvSpPr>
          <p:cNvPr id="9" name="icon-bg-56"/>
          <p:cNvSpPr/>
          <p:nvPr/>
        </p:nvSpPr>
        <p:spPr>
          <a:xfrm>
            <a:off x="3639312" y="1691640"/>
            <a:ext cx="777240" cy="777240"/>
          </a:xfrm>
          <a:prstGeom prst="ellipse">
            <a:avLst/>
          </a:prstGeom>
          <a:solidFill>
            <a:schemeClr val="accent3"/>
          </a:solidFill>
          <a:ln/>
        </p:spPr>
      </p:sp>
      <p:pic>
        <p:nvPicPr>
          <p:cNvPr id="10" name="icon-57"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8"/>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59"/>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0"/>
          <p:cNvSpPr/>
          <p:nvPr/>
        </p:nvSpPr>
        <p:spPr>
          <a:xfrm>
            <a:off x="6181344" y="1417320"/>
            <a:ext cx="2606040" cy="3429000"/>
          </a:xfrm>
          <a:prstGeom prst="roundRect">
            <a:avLst>
              <a:gd name="adj" fmla="val 2807"/>
            </a:avLst>
          </a:prstGeom>
          <a:solidFill>
            <a:srgbClr val="E8F0FC"/>
          </a:solidFill>
          <a:ln/>
        </p:spPr>
      </p:sp>
      <p:sp>
        <p:nvSpPr>
          <p:cNvPr id="14" name="icon-bg-61"/>
          <p:cNvSpPr/>
          <p:nvPr/>
        </p:nvSpPr>
        <p:spPr>
          <a:xfrm>
            <a:off x="6455664" y="1691640"/>
            <a:ext cx="777240" cy="777240"/>
          </a:xfrm>
          <a:prstGeom prst="ellipse">
            <a:avLst/>
          </a:prstGeom>
          <a:solidFill>
            <a:schemeClr val="accent4"/>
          </a:solidFill>
          <a:ln/>
        </p:spPr>
      </p:sp>
      <p:pic>
        <p:nvPicPr>
          <p:cNvPr id="15" name="icon-62"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3"/>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4"/>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cites its evidence. Unsupported claims are dropped, and the system abstains rather than guesses.</a:t>
            </a:r>
            <a:endParaRPr lang="en-US" sz="1500" dirty="0"/>
          </a:p>
        </p:txBody>
      </p:sp>
      <p:sp>
        <p:nvSpPr>
          <p:cNvPr id="18" name="pillar-65"/>
          <p:cNvSpPr/>
          <p:nvPr/>
        </p:nvSpPr>
        <p:spPr>
          <a:xfrm>
            <a:off x="8997696" y="1417320"/>
            <a:ext cx="2606040" cy="3429000"/>
          </a:xfrm>
          <a:prstGeom prst="roundRect">
            <a:avLst>
              <a:gd name="adj" fmla="val 2807"/>
            </a:avLst>
          </a:prstGeom>
          <a:solidFill>
            <a:srgbClr val="EFEBFB"/>
          </a:solidFill>
          <a:ln/>
        </p:spPr>
      </p:sp>
      <p:sp>
        <p:nvSpPr>
          <p:cNvPr id="19" name="icon-bg-66"/>
          <p:cNvSpPr/>
          <p:nvPr/>
        </p:nvSpPr>
        <p:spPr>
          <a:xfrm>
            <a:off x="9272016" y="1691640"/>
            <a:ext cx="777240" cy="777240"/>
          </a:xfrm>
          <a:prstGeom prst="ellipse">
            <a:avLst/>
          </a:prstGeom>
          <a:solidFill>
            <a:schemeClr val="accent5"/>
          </a:solidFill>
          <a:ln/>
        </p:spPr>
      </p:sp>
      <p:pic>
        <p:nvPicPr>
          <p:cNvPr id="20" name="icon-67"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8"/>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69"/>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0"/>
          <p:cNvSpPr txBox="1"/>
          <p:nvPr/>
        </p:nvSpPr>
        <p:spPr>
          <a:xfrm>
            <a:off x="548640" y="507492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Restricted evidence never reaches the language model</a:t>
            </a:r>
            <a:endParaRPr lang="en-US" sz="2800" dirty="0"/>
          </a:p>
        </p:txBody>
      </p:sp>
      <p:sp>
        <p:nvSpPr>
          <p:cNvPr id="3" name="zone-untrusted-71"/>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2"/>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3"/>
          <p:cNvSpPr/>
          <p:nvPr/>
        </p:nvSpPr>
        <p:spPr>
          <a:xfrm>
            <a:off x="1965960" y="1463040"/>
            <a:ext cx="6629400" cy="1755648"/>
          </a:xfrm>
          <a:prstGeom prst="roundRect">
            <a:avLst>
              <a:gd name="adj" fmla="val 3125"/>
            </a:avLst>
          </a:prstGeom>
          <a:solidFill>
            <a:srgbClr val="EEF3F8"/>
          </a:solidFill>
          <a:ln/>
        </p:spPr>
      </p:sp>
      <p:sp>
        <p:nvSpPr>
          <p:cNvPr id="6" name="text-74"/>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5"/>
          <p:cNvSpPr/>
          <p:nvPr/>
        </p:nvSpPr>
        <p:spPr>
          <a:xfrm>
            <a:off x="8659368" y="1463040"/>
            <a:ext cx="1609344" cy="1755648"/>
          </a:xfrm>
          <a:prstGeom prst="roundRect">
            <a:avLst>
              <a:gd name="adj" fmla="val 3409"/>
            </a:avLst>
          </a:prstGeom>
          <a:solidFill>
            <a:srgbClr val="EFEBFB"/>
          </a:solidFill>
          <a:ln w="12700">
            <a:solidFill>
              <a:schemeClr val="accent5"/>
            </a:solidFill>
            <a:prstDash val="dash"/>
          </a:ln>
        </p:spPr>
      </p:sp>
      <p:sp>
        <p:nvSpPr>
          <p:cNvPr id="8" name="text-76"/>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7"/>
          <p:cNvSpPr/>
          <p:nvPr/>
        </p:nvSpPr>
        <p:spPr>
          <a:xfrm>
            <a:off x="10332720" y="1463040"/>
            <a:ext cx="1609344" cy="1755648"/>
          </a:xfrm>
          <a:prstGeom prst="roundRect">
            <a:avLst>
              <a:gd name="adj" fmla="val 3409"/>
            </a:avLst>
          </a:prstGeom>
          <a:solidFill>
            <a:srgbClr val="EEF3F8"/>
          </a:solidFill>
          <a:ln/>
        </p:spPr>
      </p:sp>
      <p:sp>
        <p:nvSpPr>
          <p:cNvPr id="10" name="text-78"/>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79"/>
          <p:cNvSpPr/>
          <p:nvPr/>
        </p:nvSpPr>
        <p:spPr>
          <a:xfrm>
            <a:off x="411480" y="1874520"/>
            <a:ext cx="1371600" cy="1207008"/>
          </a:xfrm>
          <a:prstGeom prst="roundRect">
            <a:avLst>
              <a:gd name="adj" fmla="val 6061"/>
            </a:avLst>
          </a:prstGeom>
          <a:solidFill>
            <a:schemeClr val="bg1"/>
          </a:solidFill>
          <a:ln w="15875">
            <a:solidFill>
              <a:schemeClr val="accent6"/>
            </a:solidFill>
            <a:prstDash val="solid"/>
          </a:ln>
        </p:spPr>
      </p:sp>
      <p:sp>
        <p:nvSpPr>
          <p:cNvPr id="12" name="text-80"/>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1"/>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Employee, contractor, auditor or agent</a:t>
            </a:r>
            <a:endParaRPr lang="en-US" sz="1100" dirty="0"/>
          </a:p>
        </p:txBody>
      </p:sp>
      <p:sp>
        <p:nvSpPr>
          <p:cNvPr id="14" name="arrow-82"/>
          <p:cNvSpPr/>
          <p:nvPr/>
        </p:nvSpPr>
        <p:spPr>
          <a:xfrm>
            <a:off x="1783080" y="2478024"/>
            <a:ext cx="301752" cy="91"/>
          </a:xfrm>
          <a:prstGeom prst="line">
            <a:avLst/>
          </a:prstGeom>
          <a:noFill/>
          <a:ln w="22225">
            <a:solidFill>
              <a:schemeClr val="accent6"/>
            </a:solidFill>
            <a:prstDash val="solid"/>
            <a:tailEnd type="triangle"/>
          </a:ln>
        </p:spPr>
      </p:sp>
      <p:sp>
        <p:nvSpPr>
          <p:cNvPr id="15" name="step-83"/>
          <p:cNvSpPr/>
          <p:nvPr/>
        </p:nvSpPr>
        <p:spPr>
          <a:xfrm>
            <a:off x="2084832" y="1874520"/>
            <a:ext cx="1371600" cy="1207008"/>
          </a:xfrm>
          <a:prstGeom prst="roundRect">
            <a:avLst>
              <a:gd name="adj" fmla="val 6061"/>
            </a:avLst>
          </a:prstGeom>
          <a:solidFill>
            <a:schemeClr val="bg1"/>
          </a:solidFill>
          <a:ln w="15875">
            <a:solidFill>
              <a:schemeClr val="accent4"/>
            </a:solidFill>
            <a:prstDash val="solid"/>
          </a:ln>
        </p:spPr>
      </p:sp>
      <p:sp>
        <p:nvSpPr>
          <p:cNvPr id="16" name="text-84"/>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5"/>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Resolved server-side; demo personas, SSO in production</a:t>
            </a:r>
            <a:endParaRPr lang="en-US" sz="1100" dirty="0"/>
          </a:p>
        </p:txBody>
      </p:sp>
      <p:sp>
        <p:nvSpPr>
          <p:cNvPr id="18" name="arrow-86"/>
          <p:cNvSpPr/>
          <p:nvPr/>
        </p:nvSpPr>
        <p:spPr>
          <a:xfrm>
            <a:off x="3456432" y="2478024"/>
            <a:ext cx="301752" cy="91"/>
          </a:xfrm>
          <a:prstGeom prst="line">
            <a:avLst/>
          </a:prstGeom>
          <a:noFill/>
          <a:ln w="22225">
            <a:solidFill>
              <a:schemeClr val="accent6"/>
            </a:solidFill>
            <a:prstDash val="solid"/>
            <a:tailEnd type="triangle"/>
          </a:ln>
        </p:spPr>
      </p:sp>
      <p:sp>
        <p:nvSpPr>
          <p:cNvPr id="19" name="step-87"/>
          <p:cNvSpPr/>
          <p:nvPr/>
        </p:nvSpPr>
        <p:spPr>
          <a:xfrm>
            <a:off x="3758184" y="1874520"/>
            <a:ext cx="1371600" cy="1207008"/>
          </a:xfrm>
          <a:prstGeom prst="roundRect">
            <a:avLst>
              <a:gd name="adj" fmla="val 6061"/>
            </a:avLst>
          </a:prstGeom>
          <a:solidFill>
            <a:schemeClr val="bg1"/>
          </a:solidFill>
          <a:ln w="15875">
            <a:solidFill>
              <a:schemeClr val="accent4"/>
            </a:solidFill>
            <a:prstDash val="solid"/>
          </a:ln>
        </p:spPr>
      </p:sp>
      <p:sp>
        <p:nvSpPr>
          <p:cNvPr id="20" name="text-88"/>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89"/>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Hybrid keyword + vector search across all four sources</a:t>
            </a:r>
            <a:endParaRPr lang="en-US" sz="1100" dirty="0"/>
          </a:p>
        </p:txBody>
      </p:sp>
      <p:sp>
        <p:nvSpPr>
          <p:cNvPr id="22" name="arrow-90"/>
          <p:cNvSpPr/>
          <p:nvPr/>
        </p:nvSpPr>
        <p:spPr>
          <a:xfrm>
            <a:off x="5129784" y="2478024"/>
            <a:ext cx="301752" cy="91"/>
          </a:xfrm>
          <a:prstGeom prst="line">
            <a:avLst/>
          </a:prstGeom>
          <a:noFill/>
          <a:ln w="22225">
            <a:solidFill>
              <a:schemeClr val="accent6"/>
            </a:solidFill>
            <a:prstDash val="solid"/>
            <a:tailEnd type="triangle"/>
          </a:ln>
        </p:spPr>
      </p:sp>
      <p:sp>
        <p:nvSpPr>
          <p:cNvPr id="23" name="step-91"/>
          <p:cNvSpPr/>
          <p:nvPr/>
        </p:nvSpPr>
        <p:spPr>
          <a:xfrm>
            <a:off x="5431536" y="1874520"/>
            <a:ext cx="1371600" cy="1207008"/>
          </a:xfrm>
          <a:prstGeom prst="roundRect">
            <a:avLst>
              <a:gd name="adj" fmla="val 6061"/>
            </a:avLst>
          </a:prstGeom>
          <a:solidFill>
            <a:srgbClr val="E3F5F2"/>
          </a:solidFill>
          <a:ln w="28575">
            <a:solidFill>
              <a:schemeClr val="accent1"/>
            </a:solidFill>
            <a:prstDash val="solid"/>
          </a:ln>
        </p:spPr>
      </p:sp>
      <p:sp>
        <p:nvSpPr>
          <p:cNvPr id="24" name="text-92"/>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3"/>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Allow/deny per document; permissions under 5 min old</a:t>
            </a:r>
            <a:endParaRPr lang="en-US" sz="1100" dirty="0"/>
          </a:p>
        </p:txBody>
      </p:sp>
      <p:sp>
        <p:nvSpPr>
          <p:cNvPr id="26" name="arrow-94"/>
          <p:cNvSpPr/>
          <p:nvPr/>
        </p:nvSpPr>
        <p:spPr>
          <a:xfrm>
            <a:off x="6803136" y="2478024"/>
            <a:ext cx="301752" cy="91"/>
          </a:xfrm>
          <a:prstGeom prst="line">
            <a:avLst/>
          </a:prstGeom>
          <a:noFill/>
          <a:ln w="22225">
            <a:solidFill>
              <a:schemeClr val="accent1"/>
            </a:solidFill>
            <a:prstDash val="solid"/>
            <a:tailEnd type="triangle"/>
          </a:ln>
        </p:spPr>
      </p:sp>
      <p:sp>
        <p:nvSpPr>
          <p:cNvPr id="27" name="step-95"/>
          <p:cNvSpPr/>
          <p:nvPr/>
        </p:nvSpPr>
        <p:spPr>
          <a:xfrm>
            <a:off x="7104888" y="1874520"/>
            <a:ext cx="1371600" cy="1207008"/>
          </a:xfrm>
          <a:prstGeom prst="roundRect">
            <a:avLst>
              <a:gd name="adj" fmla="val 6061"/>
            </a:avLst>
          </a:prstGeom>
          <a:solidFill>
            <a:schemeClr val="bg1"/>
          </a:solidFill>
          <a:ln w="15875">
            <a:solidFill>
              <a:schemeClr val="accent3"/>
            </a:solidFill>
            <a:prstDash val="solid"/>
          </a:ln>
        </p:spPr>
      </p:sp>
      <p:sp>
        <p:nvSpPr>
          <p:cNvPr id="28" name="text-96"/>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7"/>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Live-verify critical docs; screen injection</a:t>
            </a:r>
            <a:endParaRPr lang="en-US" sz="1100" dirty="0"/>
          </a:p>
        </p:txBody>
      </p:sp>
      <p:sp>
        <p:nvSpPr>
          <p:cNvPr id="30" name="arrow-98"/>
          <p:cNvSpPr/>
          <p:nvPr/>
        </p:nvSpPr>
        <p:spPr>
          <a:xfrm>
            <a:off x="8476488" y="2478024"/>
            <a:ext cx="301752" cy="91"/>
          </a:xfrm>
          <a:prstGeom prst="line">
            <a:avLst/>
          </a:prstGeom>
          <a:noFill/>
          <a:ln w="22225">
            <a:solidFill>
              <a:schemeClr val="accent1"/>
            </a:solidFill>
            <a:prstDash val="solid"/>
            <a:tailEnd type="triangle"/>
          </a:ln>
        </p:spPr>
      </p:sp>
      <p:sp>
        <p:nvSpPr>
          <p:cNvPr id="31" name="step-99"/>
          <p:cNvSpPr/>
          <p:nvPr/>
        </p:nvSpPr>
        <p:spPr>
          <a:xfrm>
            <a:off x="8778240" y="1874520"/>
            <a:ext cx="1371600" cy="1207008"/>
          </a:xfrm>
          <a:prstGeom prst="roundRect">
            <a:avLst>
              <a:gd name="adj" fmla="val 6061"/>
            </a:avLst>
          </a:prstGeom>
          <a:solidFill>
            <a:schemeClr val="bg1"/>
          </a:solidFill>
          <a:ln w="15875">
            <a:solidFill>
              <a:schemeClr val="accent5"/>
            </a:solidFill>
            <a:prstDash val="solid"/>
          </a:ln>
        </p:spPr>
      </p:sp>
      <p:sp>
        <p:nvSpPr>
          <p:cNvPr id="32" name="text-100"/>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1"/>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Tencent Cloud ADP composes from cited spans</a:t>
            </a:r>
            <a:endParaRPr lang="en-US" sz="1100" dirty="0"/>
          </a:p>
        </p:txBody>
      </p:sp>
      <p:sp>
        <p:nvSpPr>
          <p:cNvPr id="34" name="arrow-102"/>
          <p:cNvSpPr/>
          <p:nvPr/>
        </p:nvSpPr>
        <p:spPr>
          <a:xfrm>
            <a:off x="10149840" y="2478024"/>
            <a:ext cx="301752" cy="91"/>
          </a:xfrm>
          <a:prstGeom prst="line">
            <a:avLst/>
          </a:prstGeom>
          <a:noFill/>
          <a:ln w="22225">
            <a:solidFill>
              <a:schemeClr val="accent6"/>
            </a:solidFill>
            <a:prstDash val="solid"/>
            <a:tailEnd type="triangle"/>
          </a:ln>
        </p:spPr>
      </p:sp>
      <p:sp>
        <p:nvSpPr>
          <p:cNvPr id="35" name="step-103"/>
          <p:cNvSpPr/>
          <p:nvPr/>
        </p:nvSpPr>
        <p:spPr>
          <a:xfrm>
            <a:off x="10451592" y="1874520"/>
            <a:ext cx="1371600" cy="1207008"/>
          </a:xfrm>
          <a:prstGeom prst="roundRect">
            <a:avLst>
              <a:gd name="adj" fmla="val 6061"/>
            </a:avLst>
          </a:prstGeom>
          <a:solidFill>
            <a:schemeClr val="bg1"/>
          </a:solidFill>
          <a:ln w="15875">
            <a:solidFill>
              <a:schemeClr val="accent4"/>
            </a:solidFill>
            <a:prstDash val="solid"/>
          </a:ln>
        </p:spPr>
      </p:sp>
      <p:sp>
        <p:nvSpPr>
          <p:cNvPr id="36" name="text-104"/>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5"/>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Check every claim; cite or abstain</a:t>
            </a:r>
            <a:endParaRPr lang="en-US" sz="1100" dirty="0"/>
          </a:p>
        </p:txBody>
      </p:sp>
      <p:sp>
        <p:nvSpPr>
          <p:cNvPr id="38" name="arrow-106"/>
          <p:cNvSpPr/>
          <p:nvPr/>
        </p:nvSpPr>
        <p:spPr>
          <a:xfrm flipV="1">
            <a:off x="11137392" y="1298448"/>
            <a:ext cx="91" cy="164592"/>
          </a:xfrm>
          <a:prstGeom prst="line">
            <a:avLst/>
          </a:prstGeom>
          <a:noFill/>
          <a:ln w="22225">
            <a:solidFill>
              <a:schemeClr val="accent1"/>
            </a:solidFill>
            <a:prstDash val="solid"/>
          </a:ln>
        </p:spPr>
      </p:sp>
      <p:sp>
        <p:nvSpPr>
          <p:cNvPr id="39" name="arrow-107"/>
          <p:cNvSpPr/>
          <p:nvPr/>
        </p:nvSpPr>
        <p:spPr>
          <a:xfrm flipH="1">
            <a:off x="1097280" y="1298448"/>
            <a:ext cx="10040112" cy="91"/>
          </a:xfrm>
          <a:prstGeom prst="line">
            <a:avLst/>
          </a:prstGeom>
          <a:noFill/>
          <a:ln w="22225">
            <a:solidFill>
              <a:schemeClr val="accent1"/>
            </a:solidFill>
            <a:prstDash val="solid"/>
          </a:ln>
        </p:spPr>
      </p:sp>
      <p:sp>
        <p:nvSpPr>
          <p:cNvPr id="40" name="arrow-108"/>
          <p:cNvSpPr/>
          <p:nvPr/>
        </p:nvSpPr>
        <p:spPr>
          <a:xfrm>
            <a:off x="1097280" y="1298448"/>
            <a:ext cx="91" cy="164592"/>
          </a:xfrm>
          <a:prstGeom prst="line">
            <a:avLst/>
          </a:prstGeom>
          <a:noFill/>
          <a:ln w="22225">
            <a:solidFill>
              <a:schemeClr val="accent1"/>
            </a:solidFill>
            <a:prstDash val="solid"/>
            <a:tailEnd type="triangle"/>
          </a:ln>
        </p:spPr>
      </p:sp>
      <p:sp>
        <p:nvSpPr>
          <p:cNvPr id="41" name="text-109"/>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0"/>
          <p:cNvSpPr/>
          <p:nvPr/>
        </p:nvSpPr>
        <p:spPr>
          <a:xfrm>
            <a:off x="6949440" y="1417320"/>
            <a:ext cx="91" cy="1783080"/>
          </a:xfrm>
          <a:prstGeom prst="line">
            <a:avLst/>
          </a:prstGeom>
          <a:noFill/>
          <a:ln w="28575">
            <a:solidFill>
              <a:schemeClr val="accent2"/>
            </a:solidFill>
            <a:prstDash val="dash"/>
          </a:ln>
        </p:spPr>
      </p:sp>
      <p:sp>
        <p:nvSpPr>
          <p:cNvPr id="43" name="pill-111"/>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dirty="0">
                <a:solidFill>
                  <a:schemeClr val="bg1"/>
                </a:solidFill>
              </a:rPr>
              <a:t>MODEL-CONTEXT BOUNDARY</a:t>
            </a:r>
            <a:endParaRPr lang="en-US" sz="950" dirty="0"/>
          </a:p>
        </p:txBody>
      </p:sp>
      <p:sp>
        <p:nvSpPr>
          <p:cNvPr id="44" name="denied-callout-112"/>
          <p:cNvSpPr/>
          <p:nvPr/>
        </p:nvSpPr>
        <p:spPr>
          <a:xfrm>
            <a:off x="7086600" y="3611880"/>
            <a:ext cx="2103120" cy="841248"/>
          </a:xfrm>
          <a:prstGeom prst="roundRect">
            <a:avLst>
              <a:gd name="adj" fmla="val 8696"/>
            </a:avLst>
          </a:prstGeom>
          <a:solidFill>
            <a:srgbClr val="FDECEC"/>
          </a:solidFill>
          <a:ln w="12700">
            <a:solidFill>
              <a:schemeClr val="accent2"/>
            </a:solidFill>
            <a:prstDash val="solid"/>
          </a:ln>
        </p:spPr>
      </p:sp>
      <p:pic>
        <p:nvPicPr>
          <p:cNvPr id="45" name="ban-113"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4"/>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5"/>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6"/>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7"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8"/>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19"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0"/>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1"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2"/>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3"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4"/>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5"/>
          <p:cNvSpPr/>
          <p:nvPr/>
        </p:nvSpPr>
        <p:spPr>
          <a:xfrm>
            <a:off x="2377440" y="4663440"/>
            <a:ext cx="2148840" cy="1325880"/>
          </a:xfrm>
          <a:prstGeom prst="roundRect">
            <a:avLst>
              <a:gd name="adj" fmla="val 5517"/>
            </a:avLst>
          </a:prstGeom>
          <a:solidFill>
            <a:schemeClr val="bg1"/>
          </a:solidFill>
          <a:ln w="15875">
            <a:solidFill>
              <a:schemeClr val="accent4"/>
            </a:solidFill>
            <a:prstDash val="solid"/>
          </a:ln>
        </p:spPr>
      </p:sp>
      <p:pic>
        <p:nvPicPr>
          <p:cNvPr id="58" name="store-icon-126"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7"/>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Connectors + workers</a:t>
            </a:r>
            <a:endParaRPr lang="en-US" sz="1300" dirty="0"/>
          </a:p>
        </p:txBody>
      </p:sp>
      <p:sp>
        <p:nvSpPr>
          <p:cNvPr id="60" name="text-128"/>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29"/>
          <p:cNvSpPr/>
          <p:nvPr/>
        </p:nvSpPr>
        <p:spPr>
          <a:xfrm>
            <a:off x="4800600" y="4663440"/>
            <a:ext cx="2834640" cy="1325880"/>
          </a:xfrm>
          <a:prstGeom prst="roundRect">
            <a:avLst>
              <a:gd name="adj" fmla="val 5517"/>
            </a:avLst>
          </a:prstGeom>
          <a:solidFill>
            <a:schemeClr val="bg1"/>
          </a:solidFill>
          <a:ln w="15875">
            <a:solidFill>
              <a:schemeClr val="accent4"/>
            </a:solidFill>
            <a:prstDash val="solid"/>
          </a:ln>
        </p:spPr>
      </p:sp>
      <p:pic>
        <p:nvPicPr>
          <p:cNvPr id="62" name="store-icon-130"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1"/>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2"/>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3"/>
          <p:cNvSpPr/>
          <p:nvPr/>
        </p:nvSpPr>
        <p:spPr>
          <a:xfrm>
            <a:off x="8778240" y="4663440"/>
            <a:ext cx="3044952" cy="1325880"/>
          </a:xfrm>
          <a:prstGeom prst="roundRect">
            <a:avLst>
              <a:gd name="adj" fmla="val 5517"/>
            </a:avLst>
          </a:prstGeom>
          <a:solidFill>
            <a:schemeClr val="bg1"/>
          </a:solidFill>
          <a:ln w="15875">
            <a:solidFill>
              <a:schemeClr val="accent5"/>
            </a:solidFill>
            <a:prstDash val="solid"/>
          </a:ln>
        </p:spPr>
      </p:sp>
      <p:pic>
        <p:nvPicPr>
          <p:cNvPr id="66" name="store-icon-134"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5"/>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6"/>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7"/>
          <p:cNvSpPr/>
          <p:nvPr/>
        </p:nvSpPr>
        <p:spPr>
          <a:xfrm>
            <a:off x="2121408" y="5326380"/>
            <a:ext cx="256032" cy="91"/>
          </a:xfrm>
          <a:prstGeom prst="line">
            <a:avLst/>
          </a:prstGeom>
          <a:noFill/>
          <a:ln w="22225">
            <a:solidFill>
              <a:schemeClr val="accent6"/>
            </a:solidFill>
            <a:prstDash val="solid"/>
            <a:tailEnd type="triangle"/>
          </a:ln>
        </p:spPr>
      </p:sp>
      <p:sp>
        <p:nvSpPr>
          <p:cNvPr id="70" name="arrow-138"/>
          <p:cNvSpPr/>
          <p:nvPr/>
        </p:nvSpPr>
        <p:spPr>
          <a:xfrm>
            <a:off x="4526280" y="5326380"/>
            <a:ext cx="274320" cy="91"/>
          </a:xfrm>
          <a:prstGeom prst="line">
            <a:avLst/>
          </a:prstGeom>
          <a:noFill/>
          <a:ln w="22225">
            <a:solidFill>
              <a:schemeClr val="accent6"/>
            </a:solidFill>
            <a:prstDash val="solid"/>
            <a:tailEnd type="triangle"/>
          </a:ln>
        </p:spPr>
      </p:sp>
      <p:sp>
        <p:nvSpPr>
          <p:cNvPr id="71" name="arrow-139"/>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0"/>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1"/>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2"/>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3"/>
          <p:cNvSpPr/>
          <p:nvPr/>
        </p:nvSpPr>
        <p:spPr>
          <a:xfrm>
            <a:off x="11137392" y="3081528"/>
            <a:ext cx="91" cy="1581912"/>
          </a:xfrm>
          <a:prstGeom prst="line">
            <a:avLst/>
          </a:prstGeom>
          <a:noFill/>
          <a:ln w="22225">
            <a:solidFill>
              <a:schemeClr val="accent5"/>
            </a:solidFill>
            <a:prstDash val="solid"/>
            <a:tailEnd type="triangle"/>
          </a:ln>
        </p:spPr>
      </p:sp>
      <p:sp>
        <p:nvSpPr>
          <p:cNvPr id="76" name="text-144"/>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5"/>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Teal path: only authorised evidence.  Red dashed line: nothing denied crosses it.  Dashed boxes: untrusted or external.  Demo uses a synthetic corpus; in production Slack is searched live as the user and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Four trust boundaries, each failing closed</a:t>
            </a:r>
            <a:endParaRPr lang="en-US" sz="2800" dirty="0"/>
          </a:p>
        </p:txBody>
      </p:sp>
      <p:sp>
        <p:nvSpPr>
          <p:cNvPr id="3" name="tb-row-146"/>
          <p:cNvSpPr/>
          <p:nvPr/>
        </p:nvSpPr>
        <p:spPr>
          <a:xfrm>
            <a:off x="548640" y="1371600"/>
            <a:ext cx="11064240" cy="1051560"/>
          </a:xfrm>
          <a:prstGeom prst="roundRect">
            <a:avLst>
              <a:gd name="adj" fmla="val 6957"/>
            </a:avLst>
          </a:prstGeom>
          <a:solidFill>
            <a:schemeClr val="bg2"/>
          </a:solidFill>
          <a:ln/>
        </p:spPr>
      </p:sp>
      <p:sp>
        <p:nvSpPr>
          <p:cNvPr id="4" name="num-147"/>
          <p:cNvSpPr txBox="1"/>
          <p:nvPr/>
        </p:nvSpPr>
        <p:spPr>
          <a:xfrm>
            <a:off x="777240" y="1645920"/>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148"/>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49"/>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0"/>
          <p:cNvSpPr/>
          <p:nvPr/>
        </p:nvSpPr>
        <p:spPr>
          <a:xfrm>
            <a:off x="8732520" y="1554480"/>
            <a:ext cx="2697480" cy="685800"/>
          </a:xfrm>
          <a:prstGeom prst="roundRect">
            <a:avLst>
              <a:gd name="adj" fmla="val 10667"/>
            </a:avLst>
          </a:prstGeom>
          <a:solidFill>
            <a:schemeClr val="bg1"/>
          </a:solidFill>
          <a:ln w="12700">
            <a:solidFill>
              <a:schemeClr val="accent4"/>
            </a:solidFill>
            <a:prstDash val="solid"/>
          </a:ln>
        </p:spPr>
      </p:sp>
      <p:sp>
        <p:nvSpPr>
          <p:cNvPr id="8" name="text-151"/>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2"/>
          <p:cNvSpPr/>
          <p:nvPr/>
        </p:nvSpPr>
        <p:spPr>
          <a:xfrm>
            <a:off x="548640" y="2578608"/>
            <a:ext cx="11064240" cy="1051560"/>
          </a:xfrm>
          <a:prstGeom prst="roundRect">
            <a:avLst>
              <a:gd name="adj" fmla="val 6957"/>
            </a:avLst>
          </a:prstGeom>
          <a:solidFill>
            <a:schemeClr val="bg2"/>
          </a:solidFill>
          <a:ln/>
        </p:spPr>
      </p:sp>
      <p:sp>
        <p:nvSpPr>
          <p:cNvPr id="10" name="num-153"/>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154"/>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5"/>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6"/>
          <p:cNvSpPr/>
          <p:nvPr/>
        </p:nvSpPr>
        <p:spPr>
          <a:xfrm>
            <a:off x="8732520" y="2761488"/>
            <a:ext cx="2697480" cy="685800"/>
          </a:xfrm>
          <a:prstGeom prst="roundRect">
            <a:avLst>
              <a:gd name="adj" fmla="val 10667"/>
            </a:avLst>
          </a:prstGeom>
          <a:solidFill>
            <a:schemeClr val="bg1"/>
          </a:solidFill>
          <a:ln w="12700">
            <a:solidFill>
              <a:schemeClr val="accent1"/>
            </a:solidFill>
            <a:prstDash val="solid"/>
          </a:ln>
        </p:spPr>
      </p:sp>
      <p:sp>
        <p:nvSpPr>
          <p:cNvPr id="14" name="text-157"/>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8"/>
          <p:cNvSpPr/>
          <p:nvPr/>
        </p:nvSpPr>
        <p:spPr>
          <a:xfrm>
            <a:off x="548640" y="3785616"/>
            <a:ext cx="11064240" cy="1051560"/>
          </a:xfrm>
          <a:prstGeom prst="roundRect">
            <a:avLst>
              <a:gd name="adj" fmla="val 6957"/>
            </a:avLst>
          </a:prstGeom>
          <a:solidFill>
            <a:schemeClr val="bg2"/>
          </a:solidFill>
          <a:ln/>
        </p:spPr>
      </p:sp>
      <p:sp>
        <p:nvSpPr>
          <p:cNvPr id="16" name="num-159"/>
          <p:cNvSpPr txBox="1"/>
          <p:nvPr/>
        </p:nvSpPr>
        <p:spPr>
          <a:xfrm>
            <a:off x="777240" y="4059936"/>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160"/>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1"/>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2"/>
          <p:cNvSpPr/>
          <p:nvPr/>
        </p:nvSpPr>
        <p:spPr>
          <a:xfrm>
            <a:off x="8732520" y="3968496"/>
            <a:ext cx="2697480" cy="685800"/>
          </a:xfrm>
          <a:prstGeom prst="roundRect">
            <a:avLst>
              <a:gd name="adj" fmla="val 10667"/>
            </a:avLst>
          </a:prstGeom>
          <a:solidFill>
            <a:schemeClr val="bg1"/>
          </a:solidFill>
          <a:ln w="12700">
            <a:solidFill>
              <a:schemeClr val="accent2"/>
            </a:solidFill>
            <a:prstDash val="solid"/>
          </a:ln>
        </p:spPr>
      </p:sp>
      <p:sp>
        <p:nvSpPr>
          <p:cNvPr id="20" name="text-163"/>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4"/>
          <p:cNvSpPr/>
          <p:nvPr/>
        </p:nvSpPr>
        <p:spPr>
          <a:xfrm>
            <a:off x="548640" y="4992624"/>
            <a:ext cx="11064240" cy="1051560"/>
          </a:xfrm>
          <a:prstGeom prst="roundRect">
            <a:avLst>
              <a:gd name="adj" fmla="val 6957"/>
            </a:avLst>
          </a:prstGeom>
          <a:solidFill>
            <a:schemeClr val="bg2"/>
          </a:solidFill>
          <a:ln/>
        </p:spPr>
      </p:sp>
      <p:sp>
        <p:nvSpPr>
          <p:cNvPr id="22" name="num-165"/>
          <p:cNvSpPr txBox="1"/>
          <p:nvPr/>
        </p:nvSpPr>
        <p:spPr>
          <a:xfrm>
            <a:off x="777240" y="5266944"/>
            <a:ext cx="502920" cy="502920"/>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166"/>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7"/>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8"/>
          <p:cNvSpPr/>
          <p:nvPr/>
        </p:nvSpPr>
        <p:spPr>
          <a:xfrm>
            <a:off x="8732520" y="5175504"/>
            <a:ext cx="2697480" cy="685800"/>
          </a:xfrm>
          <a:prstGeom prst="roundRect">
            <a:avLst>
              <a:gd name="adj" fmla="val 10667"/>
            </a:avLst>
          </a:prstGeom>
          <a:solidFill>
            <a:schemeClr val="bg1"/>
          </a:solidFill>
          <a:ln w="12700">
            <a:solidFill>
              <a:schemeClr val="accent5"/>
            </a:solidFill>
            <a:prstDash val="solid"/>
          </a:ln>
        </p:spPr>
      </p:sp>
      <p:sp>
        <p:nvSpPr>
          <p:cNvPr id="26" name="text-169"/>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0"/>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We keep each platform's own permission model instead of flattening it</a:t>
            </a:r>
            <a:endParaRPr lang="en-US" sz="2800" dirty="0"/>
          </a:p>
        </p:txBody>
      </p:sp>
      <p:sp>
        <p:nvSpPr>
          <p:cNvPr id="3" name="src-card-171"/>
          <p:cNvSpPr/>
          <p:nvPr/>
        </p:nvSpPr>
        <p:spPr>
          <a:xfrm>
            <a:off x="54864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icon-bg-172"/>
          <p:cNvSpPr/>
          <p:nvPr/>
        </p:nvSpPr>
        <p:spPr>
          <a:xfrm>
            <a:off x="777240" y="1554480"/>
            <a:ext cx="640080" cy="640080"/>
          </a:xfrm>
          <a:prstGeom prst="ellipse">
            <a:avLst/>
          </a:prstGeom>
          <a:solidFill>
            <a:schemeClr val="bg2"/>
          </a:solidFill>
          <a:ln/>
        </p:spPr>
      </p:sp>
      <p:pic>
        <p:nvPicPr>
          <p:cNvPr id="5" name="icon-173"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4"/>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5"/>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6"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7"/>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8"/>
          <p:cNvSpPr/>
          <p:nvPr/>
        </p:nvSpPr>
        <p:spPr>
          <a:xfrm>
            <a:off x="617220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1" name="icon-bg-179"/>
          <p:cNvSpPr/>
          <p:nvPr/>
        </p:nvSpPr>
        <p:spPr>
          <a:xfrm>
            <a:off x="6400800" y="1554480"/>
            <a:ext cx="640080" cy="640080"/>
          </a:xfrm>
          <a:prstGeom prst="ellipse">
            <a:avLst/>
          </a:prstGeom>
          <a:solidFill>
            <a:schemeClr val="bg2"/>
          </a:solidFill>
          <a:ln/>
        </p:spPr>
      </p:sp>
      <p:pic>
        <p:nvPicPr>
          <p:cNvPr id="12" name="icon-180"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1"/>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2"/>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3"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4"/>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5"/>
          <p:cNvSpPr/>
          <p:nvPr/>
        </p:nvSpPr>
        <p:spPr>
          <a:xfrm>
            <a:off x="54864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8" name="icon-bg-186"/>
          <p:cNvSpPr/>
          <p:nvPr/>
        </p:nvSpPr>
        <p:spPr>
          <a:xfrm>
            <a:off x="777240" y="3520440"/>
            <a:ext cx="640080" cy="640080"/>
          </a:xfrm>
          <a:prstGeom prst="ellipse">
            <a:avLst/>
          </a:prstGeom>
          <a:solidFill>
            <a:schemeClr val="bg2"/>
          </a:solidFill>
          <a:ln/>
        </p:spPr>
      </p:sp>
      <p:pic>
        <p:nvPicPr>
          <p:cNvPr id="19" name="icon-187"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8"/>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89"/>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public channels for full members only. In production, searched live as the user; nothing stored</a:t>
            </a:r>
            <a:endParaRPr lang="en-US" sz="1300" dirty="0"/>
          </a:p>
        </p:txBody>
      </p:sp>
      <p:pic>
        <p:nvPicPr>
          <p:cNvPr id="22" name="check-190"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1"/>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2"/>
          <p:cNvSpPr/>
          <p:nvPr/>
        </p:nvSpPr>
        <p:spPr>
          <a:xfrm>
            <a:off x="617220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25" name="icon-bg-193"/>
          <p:cNvSpPr/>
          <p:nvPr/>
        </p:nvSpPr>
        <p:spPr>
          <a:xfrm>
            <a:off x="6400800" y="3520440"/>
            <a:ext cx="640080" cy="640080"/>
          </a:xfrm>
          <a:prstGeom prst="ellipse">
            <a:avLst/>
          </a:prstGeom>
          <a:solidFill>
            <a:schemeClr val="bg2"/>
          </a:solidFill>
          <a:ln/>
        </p:spPr>
      </p:sp>
      <p:pic>
        <p:nvPicPr>
          <p:cNvPr id="26" name="icon-194"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5"/>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6"/>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7"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8"/>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199"/>
          <p:cNvSpPr/>
          <p:nvPr/>
        </p:nvSpPr>
        <p:spPr>
          <a:xfrm>
            <a:off x="548640" y="5349240"/>
            <a:ext cx="11064240" cy="868680"/>
          </a:xfrm>
          <a:prstGeom prst="roundRect">
            <a:avLst>
              <a:gd name="adj" fmla="val 8421"/>
            </a:avLst>
          </a:prstGeom>
          <a:solidFill>
            <a:schemeClr val="tx2"/>
          </a:solidFill>
          <a:ln/>
        </p:spPr>
      </p:sp>
      <p:sp>
        <p:nvSpPr>
          <p:cNvPr id="32" name="text-200"/>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C9D8EE"/>
                </a:solidFill>
              </a:rPr>
              <a:t>A local grant can narrow access but never widen what the source allows.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The access-control demo in three scenes</a:t>
            </a:r>
            <a:endParaRPr lang="en-US" sz="2800" dirty="0"/>
          </a:p>
        </p:txBody>
      </p:sp>
      <p:sp>
        <p:nvSpPr>
          <p:cNvPr id="3" name="scene-201"/>
          <p:cNvSpPr/>
          <p:nvPr/>
        </p:nvSpPr>
        <p:spPr>
          <a:xfrm>
            <a:off x="548640" y="1325880"/>
            <a:ext cx="3520440" cy="4846320"/>
          </a:xfrm>
          <a:prstGeom prst="roundRect">
            <a:avLst>
              <a:gd name="adj" fmla="val 2078"/>
            </a:avLst>
          </a:prstGeom>
          <a:solidFill>
            <a:schemeClr val="bg2"/>
          </a:solidFill>
          <a:ln/>
        </p:spPr>
      </p:sp>
      <p:sp>
        <p:nvSpPr>
          <p:cNvPr id="4" name="num-202"/>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203"/>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4"/>
          <p:cNvSpPr/>
          <p:nvPr/>
        </p:nvSpPr>
        <p:spPr>
          <a:xfrm>
            <a:off x="777240" y="2103120"/>
            <a:ext cx="502920" cy="502920"/>
          </a:xfrm>
          <a:prstGeom prst="ellipse">
            <a:avLst/>
          </a:prstGeom>
          <a:solidFill>
            <a:schemeClr val="accent1"/>
          </a:solidFill>
          <a:ln/>
        </p:spPr>
      </p:sp>
      <p:pic>
        <p:nvPicPr>
          <p:cNvPr id="7" name="icon-205"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6"/>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Priya Nair · Finance Ops, Leadership</a:t>
            </a:r>
            <a:endParaRPr lang="en-US" sz="1200" dirty="0"/>
          </a:p>
        </p:txBody>
      </p:sp>
      <p:sp>
        <p:nvSpPr>
          <p:cNvPr id="9" name="text-207"/>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8"/>
          <p:cNvSpPr/>
          <p:nvPr/>
        </p:nvSpPr>
        <p:spPr>
          <a:xfrm>
            <a:off x="777240" y="3566160"/>
            <a:ext cx="3063240" cy="1234440"/>
          </a:xfrm>
          <a:prstGeom prst="roundRect">
            <a:avLst>
              <a:gd name="adj" fmla="val 5926"/>
            </a:avLst>
          </a:prstGeom>
          <a:solidFill>
            <a:schemeClr val="bg1"/>
          </a:solidFill>
          <a:ln w="12700">
            <a:solidFill>
              <a:srgbClr val="CBD5E1"/>
            </a:solidFill>
            <a:prstDash val="solid"/>
          </a:ln>
        </p:spPr>
      </p:sp>
      <p:sp>
        <p:nvSpPr>
          <p:cNvPr id="11" name="text-209"/>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SGD 48.6 million, up 18% year on year</a:t>
            </a:r>
            <a:endParaRPr lang="en-US" sz="1300" dirty="0"/>
          </a:p>
          <a:p>
            <a:pPr algn="l" indent="0" marL="0">
              <a:buNone/>
            </a:pPr>
            <a:r>
              <a:rPr lang="en-US" sz="1100" dirty="0">
                <a:solidFill>
                  <a:schemeClr val="accent4"/>
                </a:solidFill>
              </a:rPr>
              <a:t>[1] Board deck Q3 · Google Drive</a:t>
            </a:r>
            <a:endParaRPr lang="en-US" sz="1300" dirty="0"/>
          </a:p>
        </p:txBody>
      </p:sp>
      <p:sp>
        <p:nvSpPr>
          <p:cNvPr id="12" name="verdict-210"/>
          <p:cNvSpPr/>
          <p:nvPr/>
        </p:nvSpPr>
        <p:spPr>
          <a:xfrm>
            <a:off x="777240" y="4983480"/>
            <a:ext cx="3063240" cy="960120"/>
          </a:xfrm>
          <a:prstGeom prst="roundRect">
            <a:avLst>
              <a:gd name="adj" fmla="val 7619"/>
            </a:avLst>
          </a:prstGeom>
          <a:solidFill>
            <a:srgbClr val="E3F5F2"/>
          </a:solidFill>
          <a:ln w="12700">
            <a:solidFill>
              <a:schemeClr val="accent1"/>
            </a:solidFill>
            <a:prstDash val="solid"/>
          </a:ln>
        </p:spPr>
      </p:sp>
      <p:sp>
        <p:nvSpPr>
          <p:cNvPr id="13" name="text-211"/>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2"/>
          <p:cNvSpPr/>
          <p:nvPr/>
        </p:nvSpPr>
        <p:spPr>
          <a:xfrm>
            <a:off x="4096512" y="4160520"/>
            <a:ext cx="182880" cy="91"/>
          </a:xfrm>
          <a:prstGeom prst="line">
            <a:avLst/>
          </a:prstGeom>
          <a:noFill/>
          <a:ln w="19050">
            <a:solidFill>
              <a:schemeClr val="accent6"/>
            </a:solidFill>
            <a:prstDash val="solid"/>
            <a:tailEnd type="triangle"/>
          </a:ln>
        </p:spPr>
      </p:sp>
      <p:sp>
        <p:nvSpPr>
          <p:cNvPr id="15" name="scene-213"/>
          <p:cNvSpPr/>
          <p:nvPr/>
        </p:nvSpPr>
        <p:spPr>
          <a:xfrm>
            <a:off x="4297680" y="1325880"/>
            <a:ext cx="3520440" cy="4846320"/>
          </a:xfrm>
          <a:prstGeom prst="roundRect">
            <a:avLst>
              <a:gd name="adj" fmla="val 2078"/>
            </a:avLst>
          </a:prstGeom>
          <a:solidFill>
            <a:schemeClr val="bg2"/>
          </a:solidFill>
          <a:ln/>
        </p:spPr>
      </p:sp>
      <p:sp>
        <p:nvSpPr>
          <p:cNvPr id="16" name="num-214"/>
          <p:cNvSpPr txBox="1"/>
          <p:nvPr/>
        </p:nvSpPr>
        <p:spPr>
          <a:xfrm>
            <a:off x="4526280" y="150876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215"/>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6"/>
          <p:cNvSpPr/>
          <p:nvPr/>
        </p:nvSpPr>
        <p:spPr>
          <a:xfrm>
            <a:off x="4526280" y="2103120"/>
            <a:ext cx="502920" cy="502920"/>
          </a:xfrm>
          <a:prstGeom prst="ellipse">
            <a:avLst/>
          </a:prstGeom>
          <a:solidFill>
            <a:schemeClr val="accent2"/>
          </a:solidFill>
          <a:ln/>
        </p:spPr>
      </p:sp>
      <p:pic>
        <p:nvPicPr>
          <p:cNvPr id="19" name="icon-217"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8"/>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19"/>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0"/>
          <p:cNvSpPr/>
          <p:nvPr/>
        </p:nvSpPr>
        <p:spPr>
          <a:xfrm>
            <a:off x="4526280" y="3566160"/>
            <a:ext cx="3063240" cy="1234440"/>
          </a:xfrm>
          <a:prstGeom prst="roundRect">
            <a:avLst>
              <a:gd name="adj" fmla="val 5926"/>
            </a:avLst>
          </a:prstGeom>
          <a:solidFill>
            <a:schemeClr val="bg1"/>
          </a:solidFill>
          <a:ln w="12700">
            <a:solidFill>
              <a:srgbClr val="CBD5E1"/>
            </a:solidFill>
            <a:prstDash val="solid"/>
          </a:ln>
        </p:spPr>
      </p:sp>
      <p:sp>
        <p:nvSpPr>
          <p:cNvPr id="23" name="text-221"/>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No figures, no title, no hint the deck exists</a:t>
            </a:r>
            <a:endParaRPr lang="en-US" sz="1300" dirty="0"/>
          </a:p>
          <a:p>
            <a:pPr algn="l" indent="0" marL="0">
              <a:buNone/>
            </a:pPr>
            <a:r>
              <a:rPr lang="en-US" sz="1100" dirty="0">
                <a:solidFill>
                  <a:schemeClr val="accent6"/>
                </a:solidFill>
              </a:rPr>
              <a:t>Opening the deck returns the same 404 as a missing file</a:t>
            </a:r>
            <a:endParaRPr lang="en-US" sz="1300" dirty="0"/>
          </a:p>
        </p:txBody>
      </p:sp>
      <p:sp>
        <p:nvSpPr>
          <p:cNvPr id="24" name="verdict-222"/>
          <p:cNvSpPr/>
          <p:nvPr/>
        </p:nvSpPr>
        <p:spPr>
          <a:xfrm>
            <a:off x="4526280" y="4983480"/>
            <a:ext cx="3063240" cy="960120"/>
          </a:xfrm>
          <a:prstGeom prst="roundRect">
            <a:avLst>
              <a:gd name="adj" fmla="val 7619"/>
            </a:avLst>
          </a:prstGeom>
          <a:solidFill>
            <a:srgbClr val="FDECEC"/>
          </a:solidFill>
          <a:ln w="12700">
            <a:solidFill>
              <a:schemeClr val="accent2"/>
            </a:solidFill>
            <a:prstDash val="solid"/>
          </a:ln>
        </p:spPr>
      </p:sp>
      <p:sp>
        <p:nvSpPr>
          <p:cNvPr id="25" name="text-223"/>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4"/>
          <p:cNvSpPr/>
          <p:nvPr/>
        </p:nvSpPr>
        <p:spPr>
          <a:xfrm>
            <a:off x="7845552" y="4160520"/>
            <a:ext cx="182880" cy="91"/>
          </a:xfrm>
          <a:prstGeom prst="line">
            <a:avLst/>
          </a:prstGeom>
          <a:noFill/>
          <a:ln w="19050">
            <a:solidFill>
              <a:schemeClr val="accent6"/>
            </a:solidFill>
            <a:prstDash val="solid"/>
            <a:tailEnd type="triangle"/>
          </a:ln>
        </p:spPr>
      </p:sp>
      <p:sp>
        <p:nvSpPr>
          <p:cNvPr id="27" name="scene-225"/>
          <p:cNvSpPr/>
          <p:nvPr/>
        </p:nvSpPr>
        <p:spPr>
          <a:xfrm>
            <a:off x="8046720" y="1325880"/>
            <a:ext cx="3520440" cy="4846320"/>
          </a:xfrm>
          <a:prstGeom prst="roundRect">
            <a:avLst>
              <a:gd name="adj" fmla="val 2078"/>
            </a:avLst>
          </a:prstGeom>
          <a:solidFill>
            <a:schemeClr val="bg2"/>
          </a:solidFill>
          <a:ln/>
        </p:spPr>
      </p:sp>
      <p:sp>
        <p:nvSpPr>
          <p:cNvPr id="28" name="num-226"/>
          <p:cNvSpPr txBox="1"/>
          <p:nvPr/>
        </p:nvSpPr>
        <p:spPr>
          <a:xfrm>
            <a:off x="8275320" y="1508760"/>
            <a:ext cx="411480" cy="41148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text-227"/>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8"/>
          <p:cNvSpPr/>
          <p:nvPr/>
        </p:nvSpPr>
        <p:spPr>
          <a:xfrm>
            <a:off x="8275320" y="2103120"/>
            <a:ext cx="502920" cy="502920"/>
          </a:xfrm>
          <a:prstGeom prst="ellipse">
            <a:avLst/>
          </a:prstGeom>
          <a:solidFill>
            <a:schemeClr val="accent3"/>
          </a:solidFill>
          <a:ln/>
        </p:spPr>
      </p:sp>
      <p:pic>
        <p:nvPicPr>
          <p:cNvPr id="31" name="icon-229"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0"/>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1"/>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Priya asks again, then reopens her earlier answer</a:t>
            </a:r>
            <a:endParaRPr lang="en-US" sz="1400" dirty="0"/>
          </a:p>
        </p:txBody>
      </p:sp>
      <p:sp>
        <p:nvSpPr>
          <p:cNvPr id="34" name="answer-mock-232"/>
          <p:cNvSpPr/>
          <p:nvPr/>
        </p:nvSpPr>
        <p:spPr>
          <a:xfrm>
            <a:off x="8275320" y="3566160"/>
            <a:ext cx="3063240" cy="1234440"/>
          </a:xfrm>
          <a:prstGeom prst="roundRect">
            <a:avLst>
              <a:gd name="adj" fmla="val 5926"/>
            </a:avLst>
          </a:prstGeom>
          <a:solidFill>
            <a:schemeClr val="bg1"/>
          </a:solidFill>
          <a:ln w="12700">
            <a:solidFill>
              <a:srgbClr val="CBD5E1"/>
            </a:solidFill>
            <a:prstDash val="solid"/>
          </a:ln>
        </p:spPr>
      </p:sp>
      <p:sp>
        <p:nvSpPr>
          <p:cNvPr id="35" name="text-233"/>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Her saved answer is withheld too</a:t>
            </a:r>
            <a:endParaRPr lang="en-US" sz="1300" dirty="0"/>
          </a:p>
        </p:txBody>
      </p:sp>
      <p:sp>
        <p:nvSpPr>
          <p:cNvPr id="36" name="verdict-234"/>
          <p:cNvSpPr/>
          <p:nvPr/>
        </p:nvSpPr>
        <p:spPr>
          <a:xfrm>
            <a:off x="8275320" y="4983480"/>
            <a:ext cx="3063240" cy="960120"/>
          </a:xfrm>
          <a:prstGeom prst="roundRect">
            <a:avLst>
              <a:gd name="adj" fmla="val 7619"/>
            </a:avLst>
          </a:prstGeom>
          <a:solidFill>
            <a:srgbClr val="FDF4E4"/>
          </a:solidFill>
          <a:ln w="12700">
            <a:solidFill>
              <a:schemeClr val="accent3"/>
            </a:solidFill>
            <a:prstDash val="solid"/>
          </a:ln>
        </p:spPr>
      </p:sp>
      <p:sp>
        <p:nvSpPr>
          <p:cNvPr id="37" name="text-235"/>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6"/>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All five mandatory scenarios run end to end, and each is a test</a:t>
            </a:r>
            <a:endParaRPr lang="en-US" sz="2800" dirty="0"/>
          </a:p>
        </p:txBody>
      </p:sp>
      <p:graphicFrame>
        <p:nvGraphicFramePr>
          <p:cNvPr id="9" name="scenario-table-237"/>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Priya asks about the Rail-B cutover. The facts are spread across email, Jira, Slack and Drive; she gets one answer citing several of them</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Priya's next answer drops the board deck and her saved answer is withheld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text-238"/>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Every answer ships with its own receipts</a:t>
            </a:r>
            <a:endParaRPr lang="en-US" sz="2800" dirty="0"/>
          </a:p>
        </p:txBody>
      </p:sp>
      <p:sp>
        <p:nvSpPr>
          <p:cNvPr id="3" name="answer-card-239"/>
          <p:cNvSpPr/>
          <p:nvPr/>
        </p:nvSpPr>
        <p:spPr>
          <a:xfrm>
            <a:off x="548640" y="1371600"/>
            <a:ext cx="5394960" cy="4754880"/>
          </a:xfrm>
          <a:prstGeom prst="roundRect">
            <a:avLst>
              <a:gd name="adj" fmla="val 1538"/>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text-240"/>
          <p:cNvSpPr txBox="1"/>
          <p:nvPr/>
        </p:nvSpPr>
        <p:spPr>
          <a:xfrm>
            <a:off x="822960" y="1554480"/>
            <a:ext cx="4846320" cy="365760"/>
          </a:xfrm>
          <a:prstGeom prst="rect">
            <a:avLst/>
          </a:prstGeom>
          <a:noFill/>
          <a:ln/>
        </p:spPr>
        <p:txBody>
          <a:bodyPr wrap="square" lIns="0" tIns="0" rIns="0" bIns="0" rtlCol="0" anchor="t"/>
          <a:lstStyle/>
          <a:p>
            <a:pPr algn="l" indent="0" marL="0">
              <a:buNone/>
            </a:pPr>
            <a:r>
              <a:rPr lang="en-US" sz="1400" i="1" dirty="0">
                <a:solidFill>
                  <a:schemeClr val="accent6"/>
                </a:solidFill>
              </a:rPr>
              <a:t>“What were the Q3 board deck revenue figures?”</a:t>
            </a:r>
            <a:endParaRPr lang="en-US" sz="1400" dirty="0"/>
          </a:p>
        </p:txBody>
      </p:sp>
      <p:sp>
        <p:nvSpPr>
          <p:cNvPr id="5" name="text-241"/>
          <p:cNvSpPr txBox="1"/>
          <p:nvPr/>
        </p:nvSpPr>
        <p:spPr>
          <a:xfrm>
            <a:off x="822960" y="2011680"/>
            <a:ext cx="4846320" cy="868680"/>
          </a:xfrm>
          <a:prstGeom prst="rect">
            <a:avLst/>
          </a:prstGeom>
          <a:noFill/>
          <a:ln/>
        </p:spPr>
        <p:txBody>
          <a:bodyPr wrap="square" lIns="0" tIns="0" rIns="0" bIns="0" rtlCol="0" anchor="t"/>
          <a:lstStyle/>
          <a:p>
            <a:pPr algn="l" indent="0" marL="0">
              <a:buNone/>
            </a:pPr>
            <a:r>
              <a:rPr lang="en-US" sz="1600" dirty="0">
                <a:solidFill>
                  <a:schemeClr val="tx1"/>
                </a:solidFill>
              </a:rPr>
              <a:t>Q3 2026 revenue was SGD 48.6 million, up 18% year on year </a:t>
            </a:r>
            <a:pPr algn="l" indent="0" marL="0">
              <a:buNone/>
            </a:pPr>
            <a:r>
              <a:rPr lang="en-US" sz="1600" b="1" dirty="0">
                <a:solidFill>
                  <a:schemeClr val="accent4"/>
                </a:solidFill>
              </a:rPr>
              <a:t>[1]</a:t>
            </a:r>
            <a:pPr algn="l" indent="0" marL="0">
              <a:buNone/>
            </a:pPr>
            <a:r>
              <a:rPr lang="en-US" sz="1600" dirty="0">
                <a:solidFill>
                  <a:schemeClr val="tx1"/>
                </a:solidFill>
              </a:rPr>
              <a:t>. Q4 guidance is SGD 50 to 52 million </a:t>
            </a:r>
            <a:pPr algn="l" indent="0" marL="0">
              <a:buNone/>
            </a:pPr>
            <a:r>
              <a:rPr lang="en-US" sz="1600" b="1" dirty="0">
                <a:solidFill>
                  <a:schemeClr val="accent4"/>
                </a:solidFill>
              </a:rPr>
              <a:t>[1]</a:t>
            </a:r>
            <a:pPr algn="l" indent="0" marL="0">
              <a:buNone/>
            </a:pPr>
            <a:r>
              <a:rPr lang="en-US" sz="1600" dirty="0">
                <a:solidFill>
                  <a:schemeClr val="tx1"/>
                </a:solidFill>
              </a:rPr>
              <a:t>.</a:t>
            </a:r>
            <a:endParaRPr lang="en-US" sz="1600" dirty="0"/>
          </a:p>
        </p:txBody>
      </p:sp>
      <p:sp>
        <p:nvSpPr>
          <p:cNvPr id="6" name="receipt-line-242"/>
          <p:cNvSpPr/>
          <p:nvPr/>
        </p:nvSpPr>
        <p:spPr>
          <a:xfrm>
            <a:off x="822960" y="3017520"/>
            <a:ext cx="4846320" cy="365760"/>
          </a:xfrm>
          <a:prstGeom prst="roundRect">
            <a:avLst>
              <a:gd name="adj" fmla="val 12500"/>
            </a:avLst>
          </a:prstGeom>
          <a:solidFill>
            <a:schemeClr val="bg2"/>
          </a:solidFill>
          <a:ln/>
        </p:spPr>
      </p:sp>
      <p:sp>
        <p:nvSpPr>
          <p:cNvPr id="7" name="text-243"/>
          <p:cNvSpPr txBox="1"/>
          <p:nvPr/>
        </p:nvSpPr>
        <p:spPr>
          <a:xfrm>
            <a:off x="960120" y="3017520"/>
            <a:ext cx="4663440" cy="365760"/>
          </a:xfrm>
          <a:prstGeom prst="rect">
            <a:avLst/>
          </a:prstGeom>
          <a:noFill/>
          <a:ln/>
        </p:spPr>
        <p:txBody>
          <a:bodyPr wrap="square" lIns="0" tIns="0" rIns="0" bIns="0" rtlCol="0" anchor="ctr"/>
          <a:lstStyle/>
          <a:p>
            <a:pPr algn="l" indent="0" marL="0">
              <a:buNone/>
            </a:pPr>
            <a:r>
              <a:rPr lang="en-US" sz="1200" b="1" dirty="0">
                <a:solidFill>
                  <a:schemeClr val="accent4"/>
                </a:solidFill>
              </a:rPr>
              <a:t>[1]  Board deck Q3 · Google Drive · supported</a:t>
            </a:r>
            <a:endParaRPr lang="en-US" sz="1200" dirty="0"/>
          </a:p>
        </p:txBody>
      </p:sp>
      <p:sp>
        <p:nvSpPr>
          <p:cNvPr id="8" name="receipt-line-244"/>
          <p:cNvSpPr/>
          <p:nvPr/>
        </p:nvSpPr>
        <p:spPr>
          <a:xfrm>
            <a:off x="822960" y="3474720"/>
            <a:ext cx="4846320" cy="365760"/>
          </a:xfrm>
          <a:prstGeom prst="roundRect">
            <a:avLst>
              <a:gd name="adj" fmla="val 12500"/>
            </a:avLst>
          </a:prstGeom>
          <a:solidFill>
            <a:schemeClr val="bg2"/>
          </a:solidFill>
          <a:ln/>
        </p:spPr>
      </p:sp>
      <p:sp>
        <p:nvSpPr>
          <p:cNvPr id="9" name="text-245"/>
          <p:cNvSpPr txBox="1"/>
          <p:nvPr/>
        </p:nvSpPr>
        <p:spPr>
          <a:xfrm>
            <a:off x="960120" y="3474720"/>
            <a:ext cx="4663440" cy="365760"/>
          </a:xfrm>
          <a:prstGeom prst="rect">
            <a:avLst/>
          </a:prstGeom>
          <a:noFill/>
          <a:ln/>
        </p:spPr>
        <p:txBody>
          <a:bodyPr wrap="square" lIns="0" tIns="0" rIns="0" bIns="0" rtlCol="0" anchor="ctr"/>
          <a:lstStyle/>
          <a:p>
            <a:pPr algn="l" indent="0" marL="0">
              <a:buNone/>
            </a:pPr>
            <a:r>
              <a:rPr lang="en-US" sz="1200" b="1" dirty="0">
                <a:solidFill>
                  <a:schemeClr val="accent3"/>
                </a:solidFill>
              </a:rPr>
              <a:t>Freshness: fresh · verified at source</a:t>
            </a:r>
            <a:endParaRPr lang="en-US" sz="1200" dirty="0"/>
          </a:p>
        </p:txBody>
      </p:sp>
      <p:sp>
        <p:nvSpPr>
          <p:cNvPr id="10" name="receipt-line-246"/>
          <p:cNvSpPr/>
          <p:nvPr/>
        </p:nvSpPr>
        <p:spPr>
          <a:xfrm>
            <a:off x="822960" y="3931920"/>
            <a:ext cx="4846320" cy="365760"/>
          </a:xfrm>
          <a:prstGeom prst="roundRect">
            <a:avLst>
              <a:gd name="adj" fmla="val 12500"/>
            </a:avLst>
          </a:prstGeom>
          <a:solidFill>
            <a:schemeClr val="bg2"/>
          </a:solidFill>
          <a:ln/>
        </p:spPr>
      </p:sp>
      <p:sp>
        <p:nvSpPr>
          <p:cNvPr id="11" name="text-247"/>
          <p:cNvSpPr txBox="1"/>
          <p:nvPr/>
        </p:nvSpPr>
        <p:spPr>
          <a:xfrm>
            <a:off x="960120" y="39319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Grounded: 2/2 claims supported</a:t>
            </a:r>
            <a:endParaRPr lang="en-US" sz="1200" dirty="0"/>
          </a:p>
        </p:txBody>
      </p:sp>
      <p:sp>
        <p:nvSpPr>
          <p:cNvPr id="12" name="receipt-line-248"/>
          <p:cNvSpPr/>
          <p:nvPr/>
        </p:nvSpPr>
        <p:spPr>
          <a:xfrm>
            <a:off x="822960" y="4389120"/>
            <a:ext cx="4846320" cy="365760"/>
          </a:xfrm>
          <a:prstGeom prst="roundRect">
            <a:avLst>
              <a:gd name="adj" fmla="val 12500"/>
            </a:avLst>
          </a:prstGeom>
          <a:solidFill>
            <a:schemeClr val="bg2"/>
          </a:solidFill>
          <a:ln/>
        </p:spPr>
      </p:sp>
      <p:sp>
        <p:nvSpPr>
          <p:cNvPr id="13" name="text-249"/>
          <p:cNvSpPr txBox="1"/>
          <p:nvPr/>
        </p:nvSpPr>
        <p:spPr>
          <a:xfrm>
            <a:off x="960120" y="43891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Access: allowed count only, no denials shown</a:t>
            </a:r>
            <a:endParaRPr lang="en-US" sz="1200" dirty="0"/>
          </a:p>
        </p:txBody>
      </p:sp>
      <p:sp>
        <p:nvSpPr>
          <p:cNvPr id="14" name="receipt-line-250"/>
          <p:cNvSpPr/>
          <p:nvPr/>
        </p:nvSpPr>
        <p:spPr>
          <a:xfrm>
            <a:off x="822960" y="4846320"/>
            <a:ext cx="4846320" cy="365760"/>
          </a:xfrm>
          <a:prstGeom prst="roundRect">
            <a:avLst>
              <a:gd name="adj" fmla="val 12500"/>
            </a:avLst>
          </a:prstGeom>
          <a:solidFill>
            <a:schemeClr val="bg2"/>
          </a:solidFill>
          <a:ln/>
        </p:spPr>
      </p:sp>
      <p:sp>
        <p:nvSpPr>
          <p:cNvPr id="15" name="text-251"/>
          <p:cNvSpPr txBox="1"/>
          <p:nvPr/>
        </p:nvSpPr>
        <p:spPr>
          <a:xfrm>
            <a:off x="960120" y="4846320"/>
            <a:ext cx="4663440" cy="365760"/>
          </a:xfrm>
          <a:prstGeom prst="rect">
            <a:avLst/>
          </a:prstGeom>
          <a:noFill/>
          <a:ln/>
        </p:spPr>
        <p:txBody>
          <a:bodyPr wrap="square" lIns="0" tIns="0" rIns="0" bIns="0" rtlCol="0" anchor="ctr"/>
          <a:lstStyle/>
          <a:p>
            <a:pPr algn="l" indent="0" marL="0">
              <a:buNone/>
            </a:pPr>
            <a:r>
              <a:rPr lang="en-US" sz="1200" b="1" dirty="0">
                <a:solidFill>
                  <a:schemeClr val="accent5"/>
                </a:solidFill>
              </a:rPr>
              <a:t>Audit event a3f9…  ·  chain verified  ·  answer by reveal only</a:t>
            </a:r>
            <a:endParaRPr lang="en-US" sz="1200" dirty="0"/>
          </a:p>
        </p:txBody>
      </p:sp>
      <p:sp>
        <p:nvSpPr>
          <p:cNvPr id="16" name="text-252"/>
          <p:cNvSpPr txBox="1"/>
          <p:nvPr/>
        </p:nvSpPr>
        <p:spPr>
          <a:xfrm>
            <a:off x="822960" y="5669280"/>
            <a:ext cx="4846320" cy="274320"/>
          </a:xfrm>
          <a:prstGeom prst="rect">
            <a:avLst/>
          </a:prstGeom>
          <a:noFill/>
          <a:ln/>
        </p:spPr>
        <p:txBody>
          <a:bodyPr wrap="square" lIns="0" tIns="0" rIns="0" bIns="0" rtlCol="0" anchor="t"/>
          <a:lstStyle/>
          <a:p>
            <a:pPr algn="l" indent="0" marL="0">
              <a:buNone/>
            </a:pPr>
            <a:r>
              <a:rPr lang="en-US" sz="1000" i="1" dirty="0">
                <a:solidFill>
                  <a:schemeClr val="accent6"/>
                </a:solidFill>
              </a:rPr>
              <a:t>Illustrative layout; values from the synthetic demo corpus.</a:t>
            </a:r>
            <a:endParaRPr lang="en-US" sz="1000" dirty="0"/>
          </a:p>
        </p:txBody>
      </p:sp>
      <p:sp>
        <p:nvSpPr>
          <p:cNvPr id="17" name="num-253"/>
          <p:cNvSpPr txBox="1"/>
          <p:nvPr/>
        </p:nvSpPr>
        <p:spPr>
          <a:xfrm>
            <a:off x="6355080" y="1444752"/>
            <a:ext cx="384048" cy="384048"/>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8" name="text-254"/>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19" name="text-255"/>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20" name="num-256"/>
          <p:cNvSpPr txBox="1"/>
          <p:nvPr/>
        </p:nvSpPr>
        <p:spPr>
          <a:xfrm>
            <a:off x="6355080" y="2395728"/>
            <a:ext cx="384048" cy="384048"/>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257"/>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22" name="text-258"/>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23" name="num-259"/>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4" name="text-260"/>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25" name="text-261"/>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26" name="num-262"/>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7" name="text-263"/>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28" name="text-264"/>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29" name="num-265"/>
          <p:cNvSpPr txBox="1"/>
          <p:nvPr/>
        </p:nvSpPr>
        <p:spPr>
          <a:xfrm>
            <a:off x="6355080" y="5248656"/>
            <a:ext cx="384048" cy="384048"/>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266"/>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31" name="text-267"/>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Same foundation as Glean and Copilot, plus what they don't document</a:t>
            </a:r>
            <a:endParaRPr lang="en-US" sz="2800" dirty="0"/>
          </a:p>
        </p:txBody>
      </p:sp>
      <p:graphicFrame>
        <p:nvGraphicFramePr>
          <p:cNvPr id="11" name="comparison-table-26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Internal Brain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bl>
          </a:graphicData>
        </a:graphic>
      </p:graphicFrame>
      <p:sp>
        <p:nvSpPr>
          <p:cNvPr id="4" name="text-269"/>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revocation at the source is enforced within 5 minutes</a:t>
            </a:r>
            <a:endParaRPr lang="en-US" sz="2800" dirty="0"/>
          </a:p>
        </p:txBody>
      </p:sp>
      <p:graphicFrame>
        <p:nvGraphicFramePr>
          <p:cNvPr id="3" name="revocation-chart-270"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71"/>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72"/>
          <p:cNvSpPr/>
          <p:nvPr/>
        </p:nvSpPr>
        <p:spPr>
          <a:xfrm>
            <a:off x="7955280" y="1417320"/>
            <a:ext cx="3657600" cy="3154680"/>
          </a:xfrm>
          <a:prstGeom prst="roundRect">
            <a:avLst>
              <a:gd name="adj" fmla="val 2319"/>
            </a:avLst>
          </a:prstGeom>
          <a:solidFill>
            <a:schemeClr val="bg2"/>
          </a:solidFill>
          <a:ln/>
        </p:spPr>
      </p:sp>
      <p:sp>
        <p:nvSpPr>
          <p:cNvPr id="6" name="text-273"/>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74"/>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Design trade-offs we chose deliberately</a:t>
            </a:r>
            <a:endParaRPr lang="en-US" sz="2800" dirty="0"/>
          </a:p>
        </p:txBody>
      </p:sp>
      <p:graphicFrame>
        <p:nvGraphicFramePr>
          <p:cNvPr id="13" name="tradeoff-table-275"/>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Tested offline, built to run on Tencent Cloud</a:t>
            </a:r>
            <a:endParaRPr lang="en-US" sz="2800" dirty="0"/>
          </a:p>
        </p:txBody>
      </p:sp>
      <p:sp>
        <p:nvSpPr>
          <p:cNvPr id="3" name="text-276"/>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573</a:t>
            </a:r>
            <a:endParaRPr lang="en-US" sz="4800" dirty="0"/>
          </a:p>
        </p:txBody>
      </p:sp>
      <p:sp>
        <p:nvSpPr>
          <p:cNvPr id="4" name="text-277"/>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78"/>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79"/>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80"/>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81"/>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longest a revocation at the source goes unnoticed for confidential documents; in-app grants apply on the next query</a:t>
            </a:r>
            <a:endParaRPr lang="en-US" sz="1500" dirty="0"/>
          </a:p>
        </p:txBody>
      </p:sp>
      <p:sp>
        <p:nvSpPr>
          <p:cNvPr id="9" name="stack-282"/>
          <p:cNvSpPr/>
          <p:nvPr/>
        </p:nvSpPr>
        <p:spPr>
          <a:xfrm>
            <a:off x="6263640" y="1371600"/>
            <a:ext cx="5349240" cy="4754880"/>
          </a:xfrm>
          <a:prstGeom prst="roundRect">
            <a:avLst>
              <a:gd name="adj" fmla="val 1538"/>
            </a:avLst>
          </a:prstGeom>
          <a:solidFill>
            <a:schemeClr val="bg2"/>
          </a:solidFill>
          <a:ln/>
        </p:spPr>
      </p:sp>
      <p:sp>
        <p:nvSpPr>
          <p:cNvPr id="10" name="text-283"/>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84"/>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85"/>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 embeddings) behind a provider factory</a:t>
            </a:r>
            <a:endParaRPr lang="en-US" sz="1350" dirty="0"/>
          </a:p>
        </p:txBody>
      </p:sp>
      <p:sp>
        <p:nvSpPr>
          <p:cNvPr id="13" name="pill-286"/>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87"/>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88"/>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289"/>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290"/>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291"/>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292"/>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293"/>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294"/>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295"/>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on a Tencent Cloud server</a:t>
            </a:r>
            <a:endParaRPr lang="en-US" sz="1350" dirty="0"/>
          </a:p>
        </p:txBody>
      </p:sp>
      <p:sp>
        <p:nvSpPr>
          <p:cNvPr id="23" name="text-296"/>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PRs #6 and #9 merged locally, 13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 Prove every answer.</a:t>
            </a:r>
            <a:endParaRPr lang="en-US" sz="4000" dirty="0"/>
          </a:p>
        </p:txBody>
      </p:sp>
      <p:sp>
        <p:nvSpPr>
          <p:cNvPr id="3" name="icon-bg-297"/>
          <p:cNvSpPr/>
          <p:nvPr/>
        </p:nvSpPr>
        <p:spPr>
          <a:xfrm>
            <a:off x="640080" y="3429000"/>
            <a:ext cx="731520" cy="731520"/>
          </a:xfrm>
          <a:prstGeom prst="ellipse">
            <a:avLst/>
          </a:prstGeom>
          <a:solidFill>
            <a:schemeClr val="accent1"/>
          </a:solidFill>
          <a:ln/>
        </p:spPr>
      </p:sp>
      <p:pic>
        <p:nvPicPr>
          <p:cNvPr id="4" name="icon-298"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299"/>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00"/>
          <p:cNvSpPr/>
          <p:nvPr/>
        </p:nvSpPr>
        <p:spPr>
          <a:xfrm>
            <a:off x="3291840" y="3429000"/>
            <a:ext cx="731520" cy="731520"/>
          </a:xfrm>
          <a:prstGeom prst="ellipse">
            <a:avLst/>
          </a:prstGeom>
          <a:solidFill>
            <a:schemeClr val="accent3"/>
          </a:solidFill>
          <a:ln/>
        </p:spPr>
      </p:sp>
      <p:pic>
        <p:nvPicPr>
          <p:cNvPr id="7" name="icon-301"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02"/>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03"/>
          <p:cNvSpPr/>
          <p:nvPr/>
        </p:nvSpPr>
        <p:spPr>
          <a:xfrm>
            <a:off x="5943600" y="3429000"/>
            <a:ext cx="731520" cy="731520"/>
          </a:xfrm>
          <a:prstGeom prst="ellipse">
            <a:avLst/>
          </a:prstGeom>
          <a:solidFill>
            <a:schemeClr val="accent4"/>
          </a:solidFill>
          <a:ln/>
        </p:spPr>
      </p:sp>
      <p:pic>
        <p:nvPicPr>
          <p:cNvPr id="10" name="icon-304"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05"/>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06"/>
          <p:cNvSpPr/>
          <p:nvPr/>
        </p:nvSpPr>
        <p:spPr>
          <a:xfrm>
            <a:off x="8595360" y="3429000"/>
            <a:ext cx="731520" cy="731520"/>
          </a:xfrm>
          <a:prstGeom prst="ellipse">
            <a:avLst/>
          </a:prstGeom>
          <a:solidFill>
            <a:schemeClr val="accent5"/>
          </a:solidFill>
          <a:ln/>
        </p:spPr>
      </p:sp>
      <p:pic>
        <p:nvPicPr>
          <p:cNvPr id="13" name="icon-307"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08"/>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09"/>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C9D8EE"/>
                </a:solidFill>
              </a:rPr>
              <a:t>github.com/pavan2184/tencent-hack</a:t>
            </a:r>
            <a:endParaRPr lang="en-US" sz="1600" dirty="0"/>
          </a:p>
        </p:txBody>
      </p:sp>
      <p:sp>
        <p:nvSpPr>
          <p:cNvPr id="16" name="text-310"/>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Team status, 13 Oct (internal: remove before submission)</a:t>
            </a:r>
            <a:endParaRPr lang="en-US" sz="2800" dirty="0"/>
          </a:p>
        </p:txBody>
      </p:sp>
      <p:sp>
        <p:nvSpPr>
          <p:cNvPr id="3" name="status-col-311"/>
          <p:cNvSpPr/>
          <p:nvPr/>
        </p:nvSpPr>
        <p:spPr>
          <a:xfrm>
            <a:off x="548640" y="1325880"/>
            <a:ext cx="3520440" cy="3840480"/>
          </a:xfrm>
          <a:prstGeom prst="roundRect">
            <a:avLst>
              <a:gd name="adj" fmla="val 2078"/>
            </a:avLst>
          </a:prstGeom>
          <a:solidFill>
            <a:srgbClr val="E3F5F2"/>
          </a:solidFill>
          <a:ln/>
        </p:spPr>
      </p:sp>
      <p:sp>
        <p:nvSpPr>
          <p:cNvPr id="4" name="text-312"/>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13"/>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14"/>
          <p:cNvSpPr/>
          <p:nvPr/>
        </p:nvSpPr>
        <p:spPr>
          <a:xfrm>
            <a:off x="4297680" y="1325880"/>
            <a:ext cx="3520440" cy="3840480"/>
          </a:xfrm>
          <a:prstGeom prst="roundRect">
            <a:avLst>
              <a:gd name="adj" fmla="val 2078"/>
            </a:avLst>
          </a:prstGeom>
          <a:solidFill>
            <a:srgbClr val="FDF4E4"/>
          </a:solidFill>
          <a:ln/>
        </p:spPr>
      </p:sp>
      <p:sp>
        <p:nvSpPr>
          <p:cNvPr id="7" name="text-315"/>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16"/>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17"/>
          <p:cNvSpPr/>
          <p:nvPr/>
        </p:nvSpPr>
        <p:spPr>
          <a:xfrm>
            <a:off x="8046720" y="1325880"/>
            <a:ext cx="3520440" cy="3840480"/>
          </a:xfrm>
          <a:prstGeom prst="roundRect">
            <a:avLst>
              <a:gd name="adj" fmla="val 2078"/>
            </a:avLst>
          </a:prstGeom>
          <a:solidFill>
            <a:srgbClr val="E8F0FC"/>
          </a:solidFill>
          <a:ln/>
        </p:spPr>
      </p:sp>
      <p:sp>
        <p:nvSpPr>
          <p:cNvPr id="10" name="text-318"/>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 before filming 14 Oct</a:t>
            </a:r>
            <a:endParaRPr lang="en-US" sz="1900" dirty="0"/>
          </a:p>
        </p:txBody>
      </p:sp>
      <p:sp>
        <p:nvSpPr>
          <p:cNvPr id="11" name="status-list-319"/>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Internal Brain">
  <a:themeElements>
    <a:clrScheme name="Internal Brain">
      <a:dk1>
        <a:srgbClr val="0F172A"/>
      </a:dk1>
      <a:lt1>
        <a:srgbClr val="FFFFFF"/>
      </a:lt1>
      <a:dk2>
        <a:srgbClr val="0B2545"/>
      </a:dk2>
      <a:lt2>
        <a:srgbClr val="EEF3F8"/>
      </a:lt2>
      <a:accent1>
        <a:srgbClr val="0E9F8E"/>
      </a:accent1>
      <a:accent2>
        <a:srgbClr val="E5484D"/>
      </a:accent2>
      <a:accent3>
        <a:srgbClr val="E9A23B"/>
      </a:accent3>
      <a:accent4>
        <a:srgbClr val="2F6FDB"/>
      </a:accent4>
      <a:accent5>
        <a:srgbClr val="7C5CD6"/>
      </a:accent5>
      <a:accent6>
        <a:srgbClr val="64748B"/>
      </a:accent6>
      <a:hlink>
        <a:srgbClr val="2F6FDB"/>
      </a:hlink>
      <a:folHlink>
        <a:srgbClr val="7C5CD6"/>
      </a:folHlink>
    </a:clrScheme>
    <a:fontScheme name="Internal Brai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Internal Brain: architecture and trust boundaries</dc:title>
  <dc:subject>PptxGenJS Presentation</dc:subject>
  <dc:creator>Chai Pin Zheng</dc:creator>
  <cp:lastModifiedBy>Chai Pin Zheng</cp:lastModifiedBy>
  <cp:revision>1</cp:revision>
  <dcterms:created xsi:type="dcterms:W3CDTF">2026-10-13T12:02:05Z</dcterms:created>
  <dcterms:modified xsi:type="dcterms:W3CDTF">2026-10-13T12:02:05Z</dcterms:modified>
</cp:coreProperties>
</file>