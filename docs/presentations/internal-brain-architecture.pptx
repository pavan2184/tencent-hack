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ory" id="{23128095-eb07-5790-af6a-2c1497a8e41e}">
          <p14:sldIdLst>
            <p14:sldId id="256"/>
            <p14:sldId id="257"/>
            <p14:sldId id="258"/>
          </p14:sldIdLst>
        </p14:section>
        <p14:section name="Architecture" id="{2eab49b5-029c-9361-cc44-e8a3194f9440}">
          <p14:sldIdLst>
            <p14:sldId id="259"/>
            <p14:sldId id="260"/>
            <p14:sldId id="261"/>
          </p14:sldIdLst>
        </p14:section>
        <p14:section name="Proof" id="{99c83ebf-4852-b5bc-515a-3a938aa577f4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Internal" id="{b3c9a5ef-e931-afdb-152d-136fe91e3522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case study: Aspire's Internal Brain challenge in the FinTech track. One sentence: we answer across the four platforms, but only from evidence the asker may see, and every answer carries its proof.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Identity is resolved by the server, never trusted from the client. Search over-fetches candidates. The access gate evaluates each document against native permissions reloaded on every query. Only then does anything reach freshness checks, prompt-injection screening and the Tencent ADP model. The red line is the key trust boundary: denied text never crosses it. Verification drops unsupported claims; one hash-chained audit event records the whole decision trail.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1732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The Internal Brain  ·  Tencent Cloud AI CAN DO IT Hackathon SG 2026  ·  FinTech track, Aspire case study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63040"/>
            <a:ext cx="108813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1"/>
          <p:cNvSpPr txBox="1"/>
          <p:nvPr/>
        </p:nvSpPr>
        <p:spPr>
          <a:xfrm>
            <a:off x="640080" y="685800"/>
            <a:ext cx="356616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FINTECH TRACK  ·  ASPIRE CASE STUDY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4173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The Internal Brain</a:t>
            </a:r>
            <a:endParaRPr lang="en-US" sz="5400" dirty="0"/>
          </a:p>
        </p:txBody>
      </p:sp>
      <p:sp>
        <p:nvSpPr>
          <p:cNvPr id="4" name="text-2"/>
          <p:cNvSpPr txBox="1"/>
          <p:nvPr/>
        </p:nvSpPr>
        <p:spPr>
          <a:xfrm>
            <a:off x="640080" y="2606040"/>
            <a:ext cx="6949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Ask one question across Confluence, Jira, Slack and Google Drive. Get an answer built only from what you are allowed to see, with the proof attached.</a:t>
            </a:r>
            <a:endParaRPr lang="en-US" sz="2000" dirty="0"/>
          </a:p>
        </p:txBody>
      </p:sp>
      <p:sp>
        <p:nvSpPr>
          <p:cNvPr id="5" name="text-3"/>
          <p:cNvSpPr txBox="1"/>
          <p:nvPr/>
        </p:nvSpPr>
        <p:spPr>
          <a:xfrm>
            <a:off x="640080" y="397764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D8EE"/>
                </a:solidFill>
              </a:rPr>
              <a:t>Challenge: </a:t>
            </a:r>
            <a:pPr algn="l" indent="0" marL="0">
              <a:buNone/>
            </a:pPr>
            <a:r>
              <a:rPr lang="en-US" sz="1400" dirty="0">
                <a:solidFill>
                  <a:srgbClr val="C9D8EE"/>
                </a:solidFill>
              </a:rPr>
              <a:t>The Internal Brain: a context-aware enterprise knowledge system with RBAC, security logging and audit trail</a:t>
            </a:r>
            <a:endParaRPr lang="en-US" sz="1400" dirty="0"/>
          </a:p>
        </p:txBody>
      </p:sp>
      <p:sp>
        <p:nvSpPr>
          <p:cNvPr id="6" name="text-4"/>
          <p:cNvSpPr txBox="1"/>
          <p:nvPr/>
        </p:nvSpPr>
        <p:spPr>
          <a:xfrm>
            <a:off x="64008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8EE"/>
                </a:solidFill>
              </a:rPr>
              <a:t>Team: Chai · Raphael · Pavan     |     Tencent Cloud AI CAN DO IT Hackathon Singapore 2026</a:t>
            </a:r>
            <a:endParaRPr lang="en-US" sz="1300" dirty="0"/>
          </a:p>
        </p:txBody>
      </p:sp>
      <p:sp>
        <p:nvSpPr>
          <p:cNvPr id="7" name="icon-bg-5"/>
          <p:cNvSpPr/>
          <p:nvPr/>
        </p:nvSpPr>
        <p:spPr>
          <a:xfrm>
            <a:off x="8366760" y="914400"/>
            <a:ext cx="731520" cy="73152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8" name="icon-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13064" y="1060704"/>
            <a:ext cx="438912" cy="438912"/>
          </a:xfrm>
          <a:prstGeom prst="rect">
            <a:avLst/>
          </a:prstGeom>
        </p:spPr>
      </p:pic>
      <p:sp>
        <p:nvSpPr>
          <p:cNvPr id="9" name="text-7"/>
          <p:cNvSpPr txBox="1"/>
          <p:nvPr/>
        </p:nvSpPr>
        <p:spPr>
          <a:xfrm>
            <a:off x="8275320" y="16824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Confluence</a:t>
            </a:r>
            <a:endParaRPr lang="en-US" sz="1100" dirty="0"/>
          </a:p>
        </p:txBody>
      </p:sp>
      <p:sp>
        <p:nvSpPr>
          <p:cNvPr id="10" name="arrow-8"/>
          <p:cNvSpPr/>
          <p:nvPr/>
        </p:nvSpPr>
        <p:spPr>
          <a:xfrm>
            <a:off x="9189720" y="1280160"/>
            <a:ext cx="868680" cy="1554480"/>
          </a:xfrm>
          <a:prstGeom prst="line">
            <a:avLst/>
          </a:prstGeom>
          <a:noFill/>
          <a:ln w="15875">
            <a:solidFill>
              <a:srgbClr val="C9D8EE"/>
            </a:solidFill>
            <a:prstDash val="solid"/>
            <a:tailEnd type="triangle"/>
          </a:ln>
        </p:spPr>
      </p:sp>
      <p:sp>
        <p:nvSpPr>
          <p:cNvPr id="11" name="icon-bg-9"/>
          <p:cNvSpPr/>
          <p:nvPr/>
        </p:nvSpPr>
        <p:spPr>
          <a:xfrm>
            <a:off x="8366760" y="1993392"/>
            <a:ext cx="731520" cy="73152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2" name="icon-1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064" y="2139696"/>
            <a:ext cx="438912" cy="438912"/>
          </a:xfrm>
          <a:prstGeom prst="rect">
            <a:avLst/>
          </a:prstGeom>
        </p:spPr>
      </p:pic>
      <p:sp>
        <p:nvSpPr>
          <p:cNvPr id="13" name="text-11"/>
          <p:cNvSpPr txBox="1"/>
          <p:nvPr/>
        </p:nvSpPr>
        <p:spPr>
          <a:xfrm>
            <a:off x="8275320" y="276148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Jira</a:t>
            </a:r>
            <a:endParaRPr lang="en-US" sz="1100" dirty="0"/>
          </a:p>
        </p:txBody>
      </p:sp>
      <p:sp>
        <p:nvSpPr>
          <p:cNvPr id="14" name="arrow-12"/>
          <p:cNvSpPr/>
          <p:nvPr/>
        </p:nvSpPr>
        <p:spPr>
          <a:xfrm>
            <a:off x="9189720" y="2359152"/>
            <a:ext cx="868680" cy="475488"/>
          </a:xfrm>
          <a:prstGeom prst="line">
            <a:avLst/>
          </a:prstGeom>
          <a:noFill/>
          <a:ln w="15875">
            <a:solidFill>
              <a:srgbClr val="C9D8EE"/>
            </a:solidFill>
            <a:prstDash val="solid"/>
            <a:tailEnd type="triangle"/>
          </a:ln>
        </p:spPr>
      </p:sp>
      <p:sp>
        <p:nvSpPr>
          <p:cNvPr id="15" name="icon-bg-13"/>
          <p:cNvSpPr/>
          <p:nvPr/>
        </p:nvSpPr>
        <p:spPr>
          <a:xfrm>
            <a:off x="8366760" y="3072384"/>
            <a:ext cx="731520" cy="73152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6" name="icon-1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064" y="3218688"/>
            <a:ext cx="438912" cy="438912"/>
          </a:xfrm>
          <a:prstGeom prst="rect">
            <a:avLst/>
          </a:prstGeom>
        </p:spPr>
      </p:pic>
      <p:sp>
        <p:nvSpPr>
          <p:cNvPr id="17" name="text-15"/>
          <p:cNvSpPr txBox="1"/>
          <p:nvPr/>
        </p:nvSpPr>
        <p:spPr>
          <a:xfrm>
            <a:off x="8275320" y="38404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Slack</a:t>
            </a:r>
            <a:endParaRPr lang="en-US" sz="1100" dirty="0"/>
          </a:p>
        </p:txBody>
      </p:sp>
      <p:sp>
        <p:nvSpPr>
          <p:cNvPr id="18" name="arrow-16"/>
          <p:cNvSpPr/>
          <p:nvPr/>
        </p:nvSpPr>
        <p:spPr>
          <a:xfrm flipV="1">
            <a:off x="9189720" y="2834640"/>
            <a:ext cx="868680" cy="603504"/>
          </a:xfrm>
          <a:prstGeom prst="line">
            <a:avLst/>
          </a:prstGeom>
          <a:noFill/>
          <a:ln w="15875">
            <a:solidFill>
              <a:srgbClr val="C9D8EE"/>
            </a:solidFill>
            <a:prstDash val="solid"/>
            <a:tailEnd type="triangle"/>
          </a:ln>
        </p:spPr>
      </p:sp>
      <p:sp>
        <p:nvSpPr>
          <p:cNvPr id="19" name="icon-bg-17"/>
          <p:cNvSpPr/>
          <p:nvPr/>
        </p:nvSpPr>
        <p:spPr>
          <a:xfrm>
            <a:off x="8366760" y="4151376"/>
            <a:ext cx="731520" cy="73152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0" name="icon-1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064" y="4297680"/>
            <a:ext cx="438912" cy="438912"/>
          </a:xfrm>
          <a:prstGeom prst="rect">
            <a:avLst/>
          </a:prstGeom>
        </p:spPr>
      </p:pic>
      <p:sp>
        <p:nvSpPr>
          <p:cNvPr id="21" name="text-19"/>
          <p:cNvSpPr txBox="1"/>
          <p:nvPr/>
        </p:nvSpPr>
        <p:spPr>
          <a:xfrm>
            <a:off x="8275320" y="491947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Google Drive</a:t>
            </a:r>
            <a:endParaRPr lang="en-US" sz="1100" dirty="0"/>
          </a:p>
        </p:txBody>
      </p:sp>
      <p:sp>
        <p:nvSpPr>
          <p:cNvPr id="22" name="arrow-20"/>
          <p:cNvSpPr/>
          <p:nvPr/>
        </p:nvSpPr>
        <p:spPr>
          <a:xfrm flipV="1">
            <a:off x="9189720" y="2834640"/>
            <a:ext cx="868680" cy="1682496"/>
          </a:xfrm>
          <a:prstGeom prst="line">
            <a:avLst/>
          </a:prstGeom>
          <a:noFill/>
          <a:ln w="15875">
            <a:solidFill>
              <a:srgbClr val="C9D8EE"/>
            </a:solidFill>
            <a:prstDash val="solid"/>
            <a:tailEnd type="triangle"/>
          </a:ln>
        </p:spPr>
      </p:sp>
      <p:sp>
        <p:nvSpPr>
          <p:cNvPr id="23" name="icon-bg-21"/>
          <p:cNvSpPr/>
          <p:nvPr/>
        </p:nvSpPr>
        <p:spPr>
          <a:xfrm>
            <a:off x="10104120" y="237744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4" name="icon-2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5522" y="2618842"/>
            <a:ext cx="523037" cy="523037"/>
          </a:xfrm>
          <a:prstGeom prst="rect">
            <a:avLst/>
          </a:prstGeom>
        </p:spPr>
      </p:pic>
      <p:sp>
        <p:nvSpPr>
          <p:cNvPr id="25" name="text-23"/>
          <p:cNvSpPr txBox="1"/>
          <p:nvPr/>
        </p:nvSpPr>
        <p:spPr>
          <a:xfrm>
            <a:off x="9784080" y="34747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Governed answer</a:t>
            </a:r>
            <a:endParaRPr lang="en-US" sz="1200" dirty="0"/>
          </a:p>
        </p:txBody>
      </p:sp>
      <p:sp>
        <p:nvSpPr>
          <p:cNvPr id="26" name="text-24"/>
          <p:cNvSpPr txBox="1"/>
          <p:nvPr/>
        </p:nvSpPr>
        <p:spPr>
          <a:xfrm>
            <a:off x="9509760" y="3749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8EE"/>
                </a:solidFill>
              </a:rPr>
              <a:t>permitted · fresh · grounded · audited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 chatbot on top of search fails a fintech in three ways</a:t>
            </a:r>
            <a:endParaRPr lang="en-US" sz="2800" dirty="0"/>
          </a:p>
        </p:txBody>
      </p:sp>
      <p:sp>
        <p:nvSpPr>
          <p:cNvPr id="3" name="problem-card-25"/>
          <p:cNvSpPr/>
          <p:nvPr/>
        </p:nvSpPr>
        <p:spPr>
          <a:xfrm>
            <a:off x="548640" y="1417320"/>
            <a:ext cx="3520440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/>
        </p:spPr>
      </p:sp>
      <p:sp>
        <p:nvSpPr>
          <p:cNvPr id="4" name="icon-bg-26"/>
          <p:cNvSpPr/>
          <p:nvPr/>
        </p:nvSpPr>
        <p:spPr>
          <a:xfrm>
            <a:off x="868680" y="16916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con-2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" y="1852574"/>
            <a:ext cx="409651" cy="409651"/>
          </a:xfrm>
          <a:prstGeom prst="rect">
            <a:avLst/>
          </a:prstGeom>
        </p:spPr>
      </p:pic>
      <p:sp>
        <p:nvSpPr>
          <p:cNvPr id="6" name="text-28"/>
          <p:cNvSpPr txBox="1"/>
          <p:nvPr/>
        </p:nvSpPr>
        <p:spPr>
          <a:xfrm>
            <a:off x="868680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It leaks</a:t>
            </a:r>
            <a:endParaRPr lang="en-US" sz="2200" dirty="0"/>
          </a:p>
        </p:txBody>
      </p:sp>
      <p:sp>
        <p:nvSpPr>
          <p:cNvPr id="7" name="text-29"/>
          <p:cNvSpPr txBox="1"/>
          <p:nvPr/>
        </p:nvSpPr>
        <p:spPr>
          <a:xfrm>
            <a:off x="868680" y="310896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contractor asks about Q3 revenue and the bot quotes the confidential board deck, because search never checked who was asking.</a:t>
            </a:r>
            <a:endParaRPr lang="en-US" sz="1500" dirty="0"/>
          </a:p>
        </p:txBody>
      </p:sp>
      <p:sp>
        <p:nvSpPr>
          <p:cNvPr id="8" name="problem-card-30"/>
          <p:cNvSpPr/>
          <p:nvPr/>
        </p:nvSpPr>
        <p:spPr>
          <a:xfrm>
            <a:off x="4297680" y="1417320"/>
            <a:ext cx="3520440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/>
        </p:spPr>
      </p:sp>
      <p:sp>
        <p:nvSpPr>
          <p:cNvPr id="9" name="icon-bg-31"/>
          <p:cNvSpPr/>
          <p:nvPr/>
        </p:nvSpPr>
        <p:spPr>
          <a:xfrm>
            <a:off x="4617720" y="169164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con-3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8654" y="1852574"/>
            <a:ext cx="409651" cy="409651"/>
          </a:xfrm>
          <a:prstGeom prst="rect">
            <a:avLst/>
          </a:prstGeom>
        </p:spPr>
      </p:pic>
      <p:sp>
        <p:nvSpPr>
          <p:cNvPr id="11" name="text-33"/>
          <p:cNvSpPr txBox="1"/>
          <p:nvPr/>
        </p:nvSpPr>
        <p:spPr>
          <a:xfrm>
            <a:off x="4617720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It goes stale</a:t>
            </a:r>
            <a:endParaRPr lang="en-US" sz="2200" dirty="0"/>
          </a:p>
        </p:txBody>
      </p:sp>
      <p:sp>
        <p:nvSpPr>
          <p:cNvPr id="12" name="text-34"/>
          <p:cNvSpPr txBox="1"/>
          <p:nvPr/>
        </p:nvSpPr>
        <p:spPr>
          <a:xfrm>
            <a:off x="4617720" y="310896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payment-rail failover runbook changed at the source. The index still serves the old version as if it were current.</a:t>
            </a:r>
            <a:endParaRPr lang="en-US" sz="1500" dirty="0"/>
          </a:p>
        </p:txBody>
      </p:sp>
      <p:sp>
        <p:nvSpPr>
          <p:cNvPr id="13" name="problem-card-35"/>
          <p:cNvSpPr/>
          <p:nvPr/>
        </p:nvSpPr>
        <p:spPr>
          <a:xfrm>
            <a:off x="8046720" y="1417320"/>
            <a:ext cx="3520440" cy="3246120"/>
          </a:xfrm>
          <a:prstGeom prst="roundRect">
            <a:avLst>
              <a:gd name="adj" fmla="val 2254"/>
            </a:avLst>
          </a:prstGeom>
          <a:solidFill>
            <a:schemeClr val="bg2"/>
          </a:solidFill>
          <a:ln/>
        </p:spPr>
      </p:sp>
      <p:sp>
        <p:nvSpPr>
          <p:cNvPr id="14" name="icon-bg-36"/>
          <p:cNvSpPr/>
          <p:nvPr/>
        </p:nvSpPr>
        <p:spPr>
          <a:xfrm>
            <a:off x="8366760" y="169164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icon-3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7694" y="1852574"/>
            <a:ext cx="409651" cy="409651"/>
          </a:xfrm>
          <a:prstGeom prst="rect">
            <a:avLst/>
          </a:prstGeom>
        </p:spPr>
      </p:pic>
      <p:sp>
        <p:nvSpPr>
          <p:cNvPr id="16" name="text-38"/>
          <p:cNvSpPr txBox="1"/>
          <p:nvPr/>
        </p:nvSpPr>
        <p:spPr>
          <a:xfrm>
            <a:off x="8366760" y="2606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It cannot be audited</a:t>
            </a:r>
            <a:endParaRPr lang="en-US" sz="2200" dirty="0"/>
          </a:p>
        </p:txBody>
      </p:sp>
      <p:sp>
        <p:nvSpPr>
          <p:cNvPr id="17" name="text-39"/>
          <p:cNvSpPr txBox="1"/>
          <p:nvPr/>
        </p:nvSpPr>
        <p:spPr>
          <a:xfrm>
            <a:off x="8366760" y="310896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Compliance cannot reconstruct who asked, what was retrieved, what was denied and what the model answered.</a:t>
            </a:r>
            <a:endParaRPr lang="en-US" sz="1500" dirty="0"/>
          </a:p>
        </p:txBody>
      </p:sp>
      <p:sp>
        <p:nvSpPr>
          <p:cNvPr id="18" name="context-band-40"/>
          <p:cNvSpPr/>
          <p:nvPr/>
        </p:nvSpPr>
        <p:spPr>
          <a:xfrm>
            <a:off x="548640" y="4983480"/>
            <a:ext cx="1106424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/>
        </p:spPr>
      </p:sp>
      <p:sp>
        <p:nvSpPr>
          <p:cNvPr id="19" name="text-41"/>
          <p:cNvSpPr txBox="1"/>
          <p:nvPr/>
        </p:nvSpPr>
        <p:spPr>
          <a:xfrm>
            <a:off x="868680" y="5074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600+</a:t>
            </a:r>
            <a:endParaRPr lang="en-US" sz="3000" dirty="0"/>
          </a:p>
        </p:txBody>
      </p:sp>
      <p:sp>
        <p:nvSpPr>
          <p:cNvPr id="20" name="text-42"/>
          <p:cNvSpPr txBox="1"/>
          <p:nvPr/>
        </p:nvSpPr>
        <p:spPr>
          <a:xfrm>
            <a:off x="868680" y="55961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8EE"/>
                </a:solidFill>
              </a:rPr>
              <a:t>employees</a:t>
            </a:r>
            <a:endParaRPr lang="en-US" sz="1300" dirty="0"/>
          </a:p>
        </p:txBody>
      </p:sp>
      <p:sp>
        <p:nvSpPr>
          <p:cNvPr id="21" name="text-43"/>
          <p:cNvSpPr txBox="1"/>
          <p:nvPr/>
        </p:nvSpPr>
        <p:spPr>
          <a:xfrm>
            <a:off x="3200400" y="5074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9</a:t>
            </a:r>
            <a:endParaRPr lang="en-US" sz="3000" dirty="0"/>
          </a:p>
        </p:txBody>
      </p:sp>
      <p:sp>
        <p:nvSpPr>
          <p:cNvPr id="22" name="text-44"/>
          <p:cNvSpPr txBox="1"/>
          <p:nvPr/>
        </p:nvSpPr>
        <p:spPr>
          <a:xfrm>
            <a:off x="3200400" y="55961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8EE"/>
                </a:solidFill>
              </a:rPr>
              <a:t>countries</a:t>
            </a:r>
            <a:endParaRPr lang="en-US" sz="1300" dirty="0"/>
          </a:p>
        </p:txBody>
      </p:sp>
      <p:sp>
        <p:nvSpPr>
          <p:cNvPr id="23" name="text-45"/>
          <p:cNvSpPr txBox="1"/>
          <p:nvPr/>
        </p:nvSpPr>
        <p:spPr>
          <a:xfrm>
            <a:off x="5532120" y="5074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30+</a:t>
            </a:r>
            <a:endParaRPr lang="en-US" sz="3000" dirty="0"/>
          </a:p>
        </p:txBody>
      </p:sp>
      <p:sp>
        <p:nvSpPr>
          <p:cNvPr id="24" name="text-46"/>
          <p:cNvSpPr txBox="1"/>
          <p:nvPr/>
        </p:nvSpPr>
        <p:spPr>
          <a:xfrm>
            <a:off x="5532120" y="55961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8EE"/>
                </a:solidFill>
              </a:rPr>
              <a:t>client markets</a:t>
            </a:r>
            <a:endParaRPr lang="en-US" sz="1300" dirty="0"/>
          </a:p>
        </p:txBody>
      </p:sp>
      <p:sp>
        <p:nvSpPr>
          <p:cNvPr id="25" name="text-47"/>
          <p:cNvSpPr txBox="1"/>
          <p:nvPr/>
        </p:nvSpPr>
        <p:spPr>
          <a:xfrm>
            <a:off x="7863840" y="50749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4</a:t>
            </a:r>
            <a:endParaRPr lang="en-US" sz="3000" dirty="0"/>
          </a:p>
        </p:txBody>
      </p:sp>
      <p:sp>
        <p:nvSpPr>
          <p:cNvPr id="26" name="text-48"/>
          <p:cNvSpPr txBox="1"/>
          <p:nvPr/>
        </p:nvSpPr>
        <p:spPr>
          <a:xfrm>
            <a:off x="7863840" y="55961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8EE"/>
                </a:solidFill>
              </a:rPr>
              <a:t>platforms, 4 permission models</a:t>
            </a:r>
            <a:endParaRPr lang="en-US" sz="1300" dirty="0"/>
          </a:p>
        </p:txBody>
      </p:sp>
      <p:sp>
        <p:nvSpPr>
          <p:cNvPr id="27" name="text-49"/>
          <p:cNvSpPr txBox="1"/>
          <p:nvPr/>
        </p:nvSpPr>
        <p:spPr>
          <a:xfrm>
            <a:off x="9966960" y="5138928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C9D8EE"/>
                </a:solidFill>
              </a:rPr>
              <a:t>Aspire, per the challenge brief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Our answer: one governed pipeline, four guarantees on every response</a:t>
            </a:r>
            <a:endParaRPr lang="en-US" sz="2800" dirty="0"/>
          </a:p>
        </p:txBody>
      </p:sp>
      <p:sp>
        <p:nvSpPr>
          <p:cNvPr id="3" name="pillar-50"/>
          <p:cNvSpPr/>
          <p:nvPr/>
        </p:nvSpPr>
        <p:spPr>
          <a:xfrm>
            <a:off x="548640" y="1417320"/>
            <a:ext cx="2606040" cy="3429000"/>
          </a:xfrm>
          <a:prstGeom prst="roundRect">
            <a:avLst>
              <a:gd name="adj" fmla="val 2807"/>
            </a:avLst>
          </a:prstGeom>
          <a:solidFill>
            <a:srgbClr val="E3F5F2"/>
          </a:solidFill>
          <a:ln/>
        </p:spPr>
      </p:sp>
      <p:sp>
        <p:nvSpPr>
          <p:cNvPr id="4" name="icon-bg-51"/>
          <p:cNvSpPr/>
          <p:nvPr/>
        </p:nvSpPr>
        <p:spPr>
          <a:xfrm>
            <a:off x="822960" y="16916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con-5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953" y="1862633"/>
            <a:ext cx="435254" cy="435254"/>
          </a:xfrm>
          <a:prstGeom prst="rect">
            <a:avLst/>
          </a:prstGeom>
        </p:spPr>
      </p:pic>
      <p:sp>
        <p:nvSpPr>
          <p:cNvPr id="6" name="text-53"/>
          <p:cNvSpPr txBox="1"/>
          <p:nvPr/>
        </p:nvSpPr>
        <p:spPr>
          <a:xfrm>
            <a:off x="822960" y="2697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Permitted</a:t>
            </a:r>
            <a:endParaRPr lang="en-US" sz="2400" dirty="0"/>
          </a:p>
        </p:txBody>
      </p:sp>
      <p:sp>
        <p:nvSpPr>
          <p:cNvPr id="7" name="text-54"/>
          <p:cNvSpPr txBox="1"/>
          <p:nvPr/>
        </p:nvSpPr>
        <p:spPr>
          <a:xfrm>
            <a:off x="822960" y="324612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Native Confluence, Jira, Slack and Drive permissions are checked per document, before any model call.</a:t>
            </a:r>
            <a:endParaRPr lang="en-US" sz="1500" dirty="0"/>
          </a:p>
        </p:txBody>
      </p:sp>
      <p:sp>
        <p:nvSpPr>
          <p:cNvPr id="8" name="pillar-55"/>
          <p:cNvSpPr/>
          <p:nvPr/>
        </p:nvSpPr>
        <p:spPr>
          <a:xfrm>
            <a:off x="3364992" y="1417320"/>
            <a:ext cx="2606040" cy="3429000"/>
          </a:xfrm>
          <a:prstGeom prst="roundRect">
            <a:avLst>
              <a:gd name="adj" fmla="val 2807"/>
            </a:avLst>
          </a:prstGeom>
          <a:solidFill>
            <a:srgbClr val="FDF4E4"/>
          </a:solidFill>
          <a:ln/>
        </p:spPr>
      </p:sp>
      <p:sp>
        <p:nvSpPr>
          <p:cNvPr id="9" name="icon-bg-56"/>
          <p:cNvSpPr/>
          <p:nvPr/>
        </p:nvSpPr>
        <p:spPr>
          <a:xfrm>
            <a:off x="3639312" y="1691640"/>
            <a:ext cx="777240" cy="7772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icon-5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305" y="1862633"/>
            <a:ext cx="435254" cy="435254"/>
          </a:xfrm>
          <a:prstGeom prst="rect">
            <a:avLst/>
          </a:prstGeom>
        </p:spPr>
      </p:pic>
      <p:sp>
        <p:nvSpPr>
          <p:cNvPr id="11" name="text-58"/>
          <p:cNvSpPr txBox="1"/>
          <p:nvPr/>
        </p:nvSpPr>
        <p:spPr>
          <a:xfrm>
            <a:off x="3639312" y="2697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Fresh</a:t>
            </a:r>
            <a:endParaRPr lang="en-US" sz="2400" dirty="0"/>
          </a:p>
        </p:txBody>
      </p:sp>
      <p:sp>
        <p:nvSpPr>
          <p:cNvPr id="12" name="text-59"/>
          <p:cNvSpPr txBox="1"/>
          <p:nvPr/>
        </p:nvSpPr>
        <p:spPr>
          <a:xfrm>
            <a:off x="3639312" y="324612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Critical evidence is live-verified at the source. Stale versions are omitted, never shown as current.</a:t>
            </a:r>
            <a:endParaRPr lang="en-US" sz="1500" dirty="0"/>
          </a:p>
        </p:txBody>
      </p:sp>
      <p:sp>
        <p:nvSpPr>
          <p:cNvPr id="13" name="pillar-60"/>
          <p:cNvSpPr/>
          <p:nvPr/>
        </p:nvSpPr>
        <p:spPr>
          <a:xfrm>
            <a:off x="6181344" y="1417320"/>
            <a:ext cx="2606040" cy="3429000"/>
          </a:xfrm>
          <a:prstGeom prst="roundRect">
            <a:avLst>
              <a:gd name="adj" fmla="val 2807"/>
            </a:avLst>
          </a:prstGeom>
          <a:solidFill>
            <a:srgbClr val="E8F0FC"/>
          </a:solidFill>
          <a:ln/>
        </p:spPr>
      </p:sp>
      <p:sp>
        <p:nvSpPr>
          <p:cNvPr id="14" name="icon-bg-61"/>
          <p:cNvSpPr/>
          <p:nvPr/>
        </p:nvSpPr>
        <p:spPr>
          <a:xfrm>
            <a:off x="6455664" y="1691640"/>
            <a:ext cx="777240" cy="7772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icon-6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6657" y="1862633"/>
            <a:ext cx="435254" cy="435254"/>
          </a:xfrm>
          <a:prstGeom prst="rect">
            <a:avLst/>
          </a:prstGeom>
        </p:spPr>
      </p:pic>
      <p:sp>
        <p:nvSpPr>
          <p:cNvPr id="16" name="text-63"/>
          <p:cNvSpPr txBox="1"/>
          <p:nvPr/>
        </p:nvSpPr>
        <p:spPr>
          <a:xfrm>
            <a:off x="6455664" y="2697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Grounded</a:t>
            </a:r>
            <a:endParaRPr lang="en-US" sz="2400" dirty="0"/>
          </a:p>
        </p:txBody>
      </p:sp>
      <p:sp>
        <p:nvSpPr>
          <p:cNvPr id="17" name="text-64"/>
          <p:cNvSpPr txBox="1"/>
          <p:nvPr/>
        </p:nvSpPr>
        <p:spPr>
          <a:xfrm>
            <a:off x="6455664" y="324612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Every claim cites its evidence. Unsupported claims are dropped, and the system abstains rather than guesses.</a:t>
            </a:r>
            <a:endParaRPr lang="en-US" sz="1500" dirty="0"/>
          </a:p>
        </p:txBody>
      </p:sp>
      <p:sp>
        <p:nvSpPr>
          <p:cNvPr id="18" name="pillar-65"/>
          <p:cNvSpPr/>
          <p:nvPr/>
        </p:nvSpPr>
        <p:spPr>
          <a:xfrm>
            <a:off x="8997696" y="1417320"/>
            <a:ext cx="2606040" cy="3429000"/>
          </a:xfrm>
          <a:prstGeom prst="roundRect">
            <a:avLst>
              <a:gd name="adj" fmla="val 2807"/>
            </a:avLst>
          </a:prstGeom>
          <a:solidFill>
            <a:srgbClr val="EFEBFB"/>
          </a:solidFill>
          <a:ln/>
        </p:spPr>
      </p:sp>
      <p:sp>
        <p:nvSpPr>
          <p:cNvPr id="19" name="icon-bg-66"/>
          <p:cNvSpPr/>
          <p:nvPr/>
        </p:nvSpPr>
        <p:spPr>
          <a:xfrm>
            <a:off x="9272016" y="1691640"/>
            <a:ext cx="777240" cy="7772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0" name="icon-6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3009" y="1862633"/>
            <a:ext cx="435254" cy="435254"/>
          </a:xfrm>
          <a:prstGeom prst="rect">
            <a:avLst/>
          </a:prstGeom>
        </p:spPr>
      </p:pic>
      <p:sp>
        <p:nvSpPr>
          <p:cNvPr id="21" name="text-68"/>
          <p:cNvSpPr txBox="1"/>
          <p:nvPr/>
        </p:nvSpPr>
        <p:spPr>
          <a:xfrm>
            <a:off x="9272016" y="2697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Audited</a:t>
            </a:r>
            <a:endParaRPr lang="en-US" sz="2400" dirty="0"/>
          </a:p>
        </p:txBody>
      </p:sp>
      <p:sp>
        <p:nvSpPr>
          <p:cNvPr id="22" name="text-69"/>
          <p:cNvSpPr txBox="1"/>
          <p:nvPr/>
        </p:nvSpPr>
        <p:spPr>
          <a:xfrm>
            <a:off x="9272016" y="324612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 hash-chained record of the asker, retrieved IDs, every allow/deny decision and the final answer.</a:t>
            </a:r>
            <a:endParaRPr lang="en-US" sz="1500" dirty="0"/>
          </a:p>
        </p:txBody>
      </p:sp>
      <p:sp>
        <p:nvSpPr>
          <p:cNvPr id="23" name="text-70"/>
          <p:cNvSpPr txBox="1"/>
          <p:nvPr/>
        </p:nvSpPr>
        <p:spPr>
          <a:xfrm>
            <a:off x="548640" y="50749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One pipeline, three front doors: </a:t>
            </a:r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web app, the REST API and MCP tools for AI agents all run the same checks, so there is no back door around them.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Restricted evidence is removed before the model sees anything</a:t>
            </a:r>
            <a:endParaRPr lang="en-US" sz="2800" dirty="0"/>
          </a:p>
        </p:txBody>
      </p:sp>
      <p:sp>
        <p:nvSpPr>
          <p:cNvPr id="3" name="zone-untrusted-71"/>
          <p:cNvSpPr/>
          <p:nvPr/>
        </p:nvSpPr>
        <p:spPr>
          <a:xfrm>
            <a:off x="292608" y="1463040"/>
            <a:ext cx="1609344" cy="1755648"/>
          </a:xfrm>
          <a:prstGeom prst="roundRect">
            <a:avLst>
              <a:gd name="adj" fmla="val 3409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dash"/>
          </a:ln>
        </p:spPr>
      </p:sp>
      <p:sp>
        <p:nvSpPr>
          <p:cNvPr id="4" name="text-72"/>
          <p:cNvSpPr txBox="1"/>
          <p:nvPr/>
        </p:nvSpPr>
        <p:spPr>
          <a:xfrm>
            <a:off x="292608" y="1499616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UNTRUSTED</a:t>
            </a:r>
            <a:endParaRPr lang="en-US" sz="1000" dirty="0"/>
          </a:p>
        </p:txBody>
      </p:sp>
      <p:sp>
        <p:nvSpPr>
          <p:cNvPr id="5" name="zone-server-73"/>
          <p:cNvSpPr/>
          <p:nvPr/>
        </p:nvSpPr>
        <p:spPr>
          <a:xfrm>
            <a:off x="1965960" y="1463040"/>
            <a:ext cx="6629400" cy="1755648"/>
          </a:xfrm>
          <a:prstGeom prst="roundRect">
            <a:avLst>
              <a:gd name="adj" fmla="val 3125"/>
            </a:avLst>
          </a:prstGeom>
          <a:solidFill>
            <a:srgbClr val="EEF3F8"/>
          </a:solidFill>
          <a:ln/>
        </p:spPr>
      </p:sp>
      <p:sp>
        <p:nvSpPr>
          <p:cNvPr id="6" name="text-74"/>
          <p:cNvSpPr txBox="1"/>
          <p:nvPr/>
        </p:nvSpPr>
        <p:spPr>
          <a:xfrm>
            <a:off x="2057400" y="1499616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TRUSTED SERVER  ·  governed pipeline</a:t>
            </a:r>
            <a:endParaRPr lang="en-US" sz="1000" dirty="0"/>
          </a:p>
        </p:txBody>
      </p:sp>
      <p:sp>
        <p:nvSpPr>
          <p:cNvPr id="7" name="zone-model-75"/>
          <p:cNvSpPr/>
          <p:nvPr/>
        </p:nvSpPr>
        <p:spPr>
          <a:xfrm>
            <a:off x="8659368" y="1463040"/>
            <a:ext cx="1609344" cy="1755648"/>
          </a:xfrm>
          <a:prstGeom prst="roundRect">
            <a:avLst>
              <a:gd name="adj" fmla="val 3409"/>
            </a:avLst>
          </a:prstGeom>
          <a:solidFill>
            <a:srgbClr val="EFEBFB"/>
          </a:solidFill>
          <a:ln w="12700">
            <a:solidFill>
              <a:schemeClr val="accent5"/>
            </a:solidFill>
            <a:prstDash val="dash"/>
          </a:ln>
        </p:spPr>
      </p:sp>
      <p:sp>
        <p:nvSpPr>
          <p:cNvPr id="8" name="text-76"/>
          <p:cNvSpPr txBox="1"/>
          <p:nvPr/>
        </p:nvSpPr>
        <p:spPr>
          <a:xfrm>
            <a:off x="8659368" y="1499616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MODEL ZONE</a:t>
            </a:r>
            <a:endParaRPr lang="en-US" sz="1000" dirty="0"/>
          </a:p>
        </p:txBody>
      </p:sp>
      <p:sp>
        <p:nvSpPr>
          <p:cNvPr id="9" name="zone-server-2-77"/>
          <p:cNvSpPr/>
          <p:nvPr/>
        </p:nvSpPr>
        <p:spPr>
          <a:xfrm>
            <a:off x="10332720" y="1463040"/>
            <a:ext cx="1609344" cy="1755648"/>
          </a:xfrm>
          <a:prstGeom prst="roundRect">
            <a:avLst>
              <a:gd name="adj" fmla="val 3409"/>
            </a:avLst>
          </a:prstGeom>
          <a:solidFill>
            <a:srgbClr val="EEF3F8"/>
          </a:solidFill>
          <a:ln/>
        </p:spPr>
      </p:sp>
      <p:sp>
        <p:nvSpPr>
          <p:cNvPr id="10" name="text-78"/>
          <p:cNvSpPr txBox="1"/>
          <p:nvPr/>
        </p:nvSpPr>
        <p:spPr>
          <a:xfrm>
            <a:off x="10332720" y="1499616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TRUSTED SERVER</a:t>
            </a:r>
            <a:endParaRPr lang="en-US" sz="1000" dirty="0"/>
          </a:p>
        </p:txBody>
      </p:sp>
      <p:sp>
        <p:nvSpPr>
          <p:cNvPr id="11" name="step-79"/>
          <p:cNvSpPr/>
          <p:nvPr/>
        </p:nvSpPr>
        <p:spPr>
          <a:xfrm>
            <a:off x="411480" y="1874520"/>
            <a:ext cx="1371600" cy="1207008"/>
          </a:xfrm>
          <a:prstGeom prst="roundRect">
            <a:avLst>
              <a:gd name="adj" fmla="val 6061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12" name="text-80"/>
          <p:cNvSpPr txBox="1"/>
          <p:nvPr/>
        </p:nvSpPr>
        <p:spPr>
          <a:xfrm>
            <a:off x="502920" y="19659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Asker</a:t>
            </a:r>
            <a:endParaRPr lang="en-US" sz="1300" dirty="0"/>
          </a:p>
        </p:txBody>
      </p:sp>
      <p:sp>
        <p:nvSpPr>
          <p:cNvPr id="13" name="text-81"/>
          <p:cNvSpPr txBox="1"/>
          <p:nvPr/>
        </p:nvSpPr>
        <p:spPr>
          <a:xfrm>
            <a:off x="502920" y="228600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Employee, contractor, auditor or agent</a:t>
            </a:r>
            <a:endParaRPr lang="en-US" sz="1100" dirty="0"/>
          </a:p>
        </p:txBody>
      </p:sp>
      <p:sp>
        <p:nvSpPr>
          <p:cNvPr id="14" name="arrow-82"/>
          <p:cNvSpPr/>
          <p:nvPr/>
        </p:nvSpPr>
        <p:spPr>
          <a:xfrm>
            <a:off x="1783080" y="2478024"/>
            <a:ext cx="301752" cy="91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5" name="step-83"/>
          <p:cNvSpPr/>
          <p:nvPr/>
        </p:nvSpPr>
        <p:spPr>
          <a:xfrm>
            <a:off x="2084832" y="1874520"/>
            <a:ext cx="1371600" cy="1207008"/>
          </a:xfrm>
          <a:prstGeom prst="roundRect">
            <a:avLst>
              <a:gd name="adj" fmla="val 6061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16" name="text-84"/>
          <p:cNvSpPr txBox="1"/>
          <p:nvPr/>
        </p:nvSpPr>
        <p:spPr>
          <a:xfrm>
            <a:off x="2176272" y="19659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① Identity</a:t>
            </a:r>
            <a:endParaRPr lang="en-US" sz="1300" dirty="0"/>
          </a:p>
        </p:txBody>
      </p:sp>
      <p:sp>
        <p:nvSpPr>
          <p:cNvPr id="17" name="text-85"/>
          <p:cNvSpPr txBox="1"/>
          <p:nvPr/>
        </p:nvSpPr>
        <p:spPr>
          <a:xfrm>
            <a:off x="2176272" y="228600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Resolved server-side; demo personas, SSO in production</a:t>
            </a:r>
            <a:endParaRPr lang="en-US" sz="1100" dirty="0"/>
          </a:p>
        </p:txBody>
      </p:sp>
      <p:sp>
        <p:nvSpPr>
          <p:cNvPr id="18" name="arrow-86"/>
          <p:cNvSpPr/>
          <p:nvPr/>
        </p:nvSpPr>
        <p:spPr>
          <a:xfrm>
            <a:off x="3456432" y="2478024"/>
            <a:ext cx="301752" cy="91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9" name="step-87"/>
          <p:cNvSpPr/>
          <p:nvPr/>
        </p:nvSpPr>
        <p:spPr>
          <a:xfrm>
            <a:off x="3758184" y="1874520"/>
            <a:ext cx="1371600" cy="1207008"/>
          </a:xfrm>
          <a:prstGeom prst="roundRect">
            <a:avLst>
              <a:gd name="adj" fmla="val 6061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20" name="text-88"/>
          <p:cNvSpPr txBox="1"/>
          <p:nvPr/>
        </p:nvSpPr>
        <p:spPr>
          <a:xfrm>
            <a:off x="3849624" y="19659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② Search</a:t>
            </a:r>
            <a:endParaRPr lang="en-US" sz="1300" dirty="0"/>
          </a:p>
        </p:txBody>
      </p:sp>
      <p:sp>
        <p:nvSpPr>
          <p:cNvPr id="21" name="text-89"/>
          <p:cNvSpPr txBox="1"/>
          <p:nvPr/>
        </p:nvSpPr>
        <p:spPr>
          <a:xfrm>
            <a:off x="3849624" y="228600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Hybrid keyword + vector search across all four sources</a:t>
            </a:r>
            <a:endParaRPr lang="en-US" sz="1100" dirty="0"/>
          </a:p>
        </p:txBody>
      </p:sp>
      <p:sp>
        <p:nvSpPr>
          <p:cNvPr id="22" name="arrow-90"/>
          <p:cNvSpPr/>
          <p:nvPr/>
        </p:nvSpPr>
        <p:spPr>
          <a:xfrm>
            <a:off x="5129784" y="2478024"/>
            <a:ext cx="301752" cy="91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3" name="step-91"/>
          <p:cNvSpPr/>
          <p:nvPr/>
        </p:nvSpPr>
        <p:spPr>
          <a:xfrm>
            <a:off x="5431536" y="1874520"/>
            <a:ext cx="1371600" cy="1207008"/>
          </a:xfrm>
          <a:prstGeom prst="roundRect">
            <a:avLst>
              <a:gd name="adj" fmla="val 6061"/>
            </a:avLst>
          </a:prstGeom>
          <a:solidFill>
            <a:srgbClr val="E3F5F2"/>
          </a:solidFill>
          <a:ln w="28575">
            <a:solidFill>
              <a:schemeClr val="accent1"/>
            </a:solidFill>
            <a:prstDash val="solid"/>
          </a:ln>
        </p:spPr>
      </p:sp>
      <p:sp>
        <p:nvSpPr>
          <p:cNvPr id="24" name="text-92"/>
          <p:cNvSpPr txBox="1"/>
          <p:nvPr/>
        </p:nvSpPr>
        <p:spPr>
          <a:xfrm>
            <a:off x="5522976" y="19659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③ Access gate</a:t>
            </a:r>
            <a:endParaRPr lang="en-US" sz="1300" dirty="0"/>
          </a:p>
        </p:txBody>
      </p:sp>
      <p:sp>
        <p:nvSpPr>
          <p:cNvPr id="25" name="text-93"/>
          <p:cNvSpPr txBox="1"/>
          <p:nvPr/>
        </p:nvSpPr>
        <p:spPr>
          <a:xfrm>
            <a:off x="5522976" y="228600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Allow/deny per document on native permissions</a:t>
            </a:r>
            <a:endParaRPr lang="en-US" sz="1100" dirty="0"/>
          </a:p>
        </p:txBody>
      </p:sp>
      <p:sp>
        <p:nvSpPr>
          <p:cNvPr id="26" name="arrow-94"/>
          <p:cNvSpPr/>
          <p:nvPr/>
        </p:nvSpPr>
        <p:spPr>
          <a:xfrm>
            <a:off x="6803136" y="2478024"/>
            <a:ext cx="301752" cy="91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7" name="step-95"/>
          <p:cNvSpPr/>
          <p:nvPr/>
        </p:nvSpPr>
        <p:spPr>
          <a:xfrm>
            <a:off x="7104888" y="1874520"/>
            <a:ext cx="1371600" cy="1207008"/>
          </a:xfrm>
          <a:prstGeom prst="roundRect">
            <a:avLst>
              <a:gd name="adj" fmla="val 6061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8" name="text-96"/>
          <p:cNvSpPr txBox="1"/>
          <p:nvPr/>
        </p:nvSpPr>
        <p:spPr>
          <a:xfrm>
            <a:off x="7196328" y="19659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④ Fresh + safe</a:t>
            </a:r>
            <a:endParaRPr lang="en-US" sz="1300" dirty="0"/>
          </a:p>
        </p:txBody>
      </p:sp>
      <p:sp>
        <p:nvSpPr>
          <p:cNvPr id="29" name="text-97"/>
          <p:cNvSpPr txBox="1"/>
          <p:nvPr/>
        </p:nvSpPr>
        <p:spPr>
          <a:xfrm>
            <a:off x="7196328" y="228600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Live-verify critical docs; screen injection</a:t>
            </a:r>
            <a:endParaRPr lang="en-US" sz="1100" dirty="0"/>
          </a:p>
        </p:txBody>
      </p:sp>
      <p:sp>
        <p:nvSpPr>
          <p:cNvPr id="30" name="arrow-98"/>
          <p:cNvSpPr/>
          <p:nvPr/>
        </p:nvSpPr>
        <p:spPr>
          <a:xfrm>
            <a:off x="8476488" y="2478024"/>
            <a:ext cx="301752" cy="91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1" name="step-99"/>
          <p:cNvSpPr/>
          <p:nvPr/>
        </p:nvSpPr>
        <p:spPr>
          <a:xfrm>
            <a:off x="8778240" y="1874520"/>
            <a:ext cx="1371600" cy="1207008"/>
          </a:xfrm>
          <a:prstGeom prst="roundRect">
            <a:avLst>
              <a:gd name="adj" fmla="val 6061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32" name="text-100"/>
          <p:cNvSpPr txBox="1"/>
          <p:nvPr/>
        </p:nvSpPr>
        <p:spPr>
          <a:xfrm>
            <a:off x="8869680" y="19659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⑤ LLM</a:t>
            </a:r>
            <a:endParaRPr lang="en-US" sz="1300" dirty="0"/>
          </a:p>
        </p:txBody>
      </p:sp>
      <p:sp>
        <p:nvSpPr>
          <p:cNvPr id="33" name="text-101"/>
          <p:cNvSpPr txBox="1"/>
          <p:nvPr/>
        </p:nvSpPr>
        <p:spPr>
          <a:xfrm>
            <a:off x="8869680" y="228600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Tencent Cloud ADP composes from cited spans</a:t>
            </a:r>
            <a:endParaRPr lang="en-US" sz="1100" dirty="0"/>
          </a:p>
        </p:txBody>
      </p:sp>
      <p:sp>
        <p:nvSpPr>
          <p:cNvPr id="34" name="arrow-102"/>
          <p:cNvSpPr/>
          <p:nvPr/>
        </p:nvSpPr>
        <p:spPr>
          <a:xfrm>
            <a:off x="10149840" y="2478024"/>
            <a:ext cx="301752" cy="91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5" name="step-103"/>
          <p:cNvSpPr/>
          <p:nvPr/>
        </p:nvSpPr>
        <p:spPr>
          <a:xfrm>
            <a:off x="10451592" y="1874520"/>
            <a:ext cx="1371600" cy="1207008"/>
          </a:xfrm>
          <a:prstGeom prst="roundRect">
            <a:avLst>
              <a:gd name="adj" fmla="val 6061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solid"/>
          </a:ln>
        </p:spPr>
      </p:sp>
      <p:sp>
        <p:nvSpPr>
          <p:cNvPr id="36" name="text-104"/>
          <p:cNvSpPr txBox="1"/>
          <p:nvPr/>
        </p:nvSpPr>
        <p:spPr>
          <a:xfrm>
            <a:off x="10543032" y="19659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⑥ Verify</a:t>
            </a:r>
            <a:endParaRPr lang="en-US" sz="1300" dirty="0"/>
          </a:p>
        </p:txBody>
      </p:sp>
      <p:sp>
        <p:nvSpPr>
          <p:cNvPr id="37" name="text-105"/>
          <p:cNvSpPr txBox="1"/>
          <p:nvPr/>
        </p:nvSpPr>
        <p:spPr>
          <a:xfrm>
            <a:off x="10543032" y="2286000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Check every claim; cite or abstain</a:t>
            </a:r>
            <a:endParaRPr lang="en-US" sz="1100" dirty="0"/>
          </a:p>
        </p:txBody>
      </p:sp>
      <p:sp>
        <p:nvSpPr>
          <p:cNvPr id="38" name="arrow-106"/>
          <p:cNvSpPr/>
          <p:nvPr/>
        </p:nvSpPr>
        <p:spPr>
          <a:xfrm flipV="1">
            <a:off x="11137392" y="1298448"/>
            <a:ext cx="91" cy="164592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39" name="arrow-107"/>
          <p:cNvSpPr/>
          <p:nvPr/>
        </p:nvSpPr>
        <p:spPr>
          <a:xfrm flipH="1">
            <a:off x="1097280" y="1298448"/>
            <a:ext cx="10040112" cy="91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40" name="arrow-108"/>
          <p:cNvSpPr/>
          <p:nvPr/>
        </p:nvSpPr>
        <p:spPr>
          <a:xfrm>
            <a:off x="1097280" y="1298448"/>
            <a:ext cx="91" cy="164592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41" name="text-109"/>
          <p:cNvSpPr txBox="1"/>
          <p:nvPr/>
        </p:nvSpPr>
        <p:spPr>
          <a:xfrm>
            <a:off x="2194560" y="106984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Cited answer + freshness receipt + grounding report + access summary (allowed count only)</a:t>
            </a:r>
            <a:endParaRPr lang="en-US" sz="1050" dirty="0"/>
          </a:p>
        </p:txBody>
      </p:sp>
      <p:sp>
        <p:nvSpPr>
          <p:cNvPr id="42" name="arrow-110"/>
          <p:cNvSpPr/>
          <p:nvPr/>
        </p:nvSpPr>
        <p:spPr>
          <a:xfrm>
            <a:off x="6949440" y="1417320"/>
            <a:ext cx="91" cy="178308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dash"/>
          </a:ln>
        </p:spPr>
      </p:sp>
      <p:sp>
        <p:nvSpPr>
          <p:cNvPr id="43" name="pill-111"/>
          <p:cNvSpPr txBox="1"/>
          <p:nvPr/>
        </p:nvSpPr>
        <p:spPr>
          <a:xfrm>
            <a:off x="6080760" y="3200400"/>
            <a:ext cx="173736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MODEL-CONTEXT BOUNDARY</a:t>
            </a:r>
            <a:endParaRPr lang="en-US" sz="950" dirty="0"/>
          </a:p>
        </p:txBody>
      </p:sp>
      <p:sp>
        <p:nvSpPr>
          <p:cNvPr id="44" name="denied-callout-112"/>
          <p:cNvSpPr/>
          <p:nvPr/>
        </p:nvSpPr>
        <p:spPr>
          <a:xfrm>
            <a:off x="7086600" y="3611880"/>
            <a:ext cx="2103120" cy="841248"/>
          </a:xfrm>
          <a:prstGeom prst="roundRect">
            <a:avLst>
              <a:gd name="adj" fmla="val 8696"/>
            </a:avLst>
          </a:prstGeom>
          <a:solidFill>
            <a:srgbClr val="FDECEC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5" name="ban-11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3703320"/>
            <a:ext cx="274320" cy="274320"/>
          </a:xfrm>
          <a:prstGeom prst="rect">
            <a:avLst/>
          </a:prstGeom>
        </p:spPr>
      </p:pic>
      <p:sp>
        <p:nvSpPr>
          <p:cNvPr id="46" name="text-114"/>
          <p:cNvSpPr txBox="1"/>
          <p:nvPr/>
        </p:nvSpPr>
        <p:spPr>
          <a:xfrm>
            <a:off x="7516368" y="3648456"/>
            <a:ext cx="16276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accent2"/>
                </a:solidFill>
              </a:rPr>
              <a:t>Denied documents stop at the gate. </a:t>
            </a:r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Their text never reaches the model; only the audit log records it.</a:t>
            </a:r>
            <a:endParaRPr lang="en-US" sz="950" dirty="0"/>
          </a:p>
        </p:txBody>
      </p:sp>
      <p:sp>
        <p:nvSpPr>
          <p:cNvPr id="47" name="zone-sources-115"/>
          <p:cNvSpPr/>
          <p:nvPr/>
        </p:nvSpPr>
        <p:spPr>
          <a:xfrm>
            <a:off x="292608" y="4553712"/>
            <a:ext cx="1828800" cy="1545336"/>
          </a:xfrm>
          <a:prstGeom prst="roundRect">
            <a:avLst>
              <a:gd name="adj" fmla="val 355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dash"/>
          </a:ln>
        </p:spPr>
      </p:sp>
      <p:sp>
        <p:nvSpPr>
          <p:cNvPr id="48" name="text-116"/>
          <p:cNvSpPr txBox="1"/>
          <p:nvPr/>
        </p:nvSpPr>
        <p:spPr>
          <a:xfrm>
            <a:off x="292608" y="45902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6"/>
                </a:solidFill>
              </a:rPr>
              <a:t>SOURCES  (text is untrusted)</a:t>
            </a:r>
            <a:endParaRPr lang="en-US" sz="900" dirty="0"/>
          </a:p>
        </p:txBody>
      </p:sp>
      <p:pic>
        <p:nvPicPr>
          <p:cNvPr id="49" name="src-icon-11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846320"/>
            <a:ext cx="237744" cy="237744"/>
          </a:xfrm>
          <a:prstGeom prst="rect">
            <a:avLst/>
          </a:prstGeom>
        </p:spPr>
      </p:pic>
      <p:sp>
        <p:nvSpPr>
          <p:cNvPr id="50" name="text-118"/>
          <p:cNvSpPr txBox="1"/>
          <p:nvPr/>
        </p:nvSpPr>
        <p:spPr>
          <a:xfrm>
            <a:off x="777240" y="484632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Confluence</a:t>
            </a:r>
            <a:endParaRPr lang="en-US" sz="1200" dirty="0"/>
          </a:p>
        </p:txBody>
      </p:sp>
      <p:pic>
        <p:nvPicPr>
          <p:cNvPr id="51" name="src-icon-11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157216"/>
            <a:ext cx="237744" cy="237744"/>
          </a:xfrm>
          <a:prstGeom prst="rect">
            <a:avLst/>
          </a:prstGeom>
        </p:spPr>
      </p:pic>
      <p:sp>
        <p:nvSpPr>
          <p:cNvPr id="52" name="text-120"/>
          <p:cNvSpPr txBox="1"/>
          <p:nvPr/>
        </p:nvSpPr>
        <p:spPr>
          <a:xfrm>
            <a:off x="777240" y="515721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Jira</a:t>
            </a:r>
            <a:endParaRPr lang="en-US" sz="1200" dirty="0"/>
          </a:p>
        </p:txBody>
      </p:sp>
      <p:pic>
        <p:nvPicPr>
          <p:cNvPr id="53" name="src-icon-12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468112"/>
            <a:ext cx="237744" cy="237744"/>
          </a:xfrm>
          <a:prstGeom prst="rect">
            <a:avLst/>
          </a:prstGeom>
        </p:spPr>
      </p:pic>
      <p:sp>
        <p:nvSpPr>
          <p:cNvPr id="54" name="text-122"/>
          <p:cNvSpPr txBox="1"/>
          <p:nvPr/>
        </p:nvSpPr>
        <p:spPr>
          <a:xfrm>
            <a:off x="777240" y="54681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Slack</a:t>
            </a:r>
            <a:endParaRPr lang="en-US" sz="1200" dirty="0"/>
          </a:p>
        </p:txBody>
      </p:sp>
      <p:pic>
        <p:nvPicPr>
          <p:cNvPr id="55" name="src-icon-12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5779008"/>
            <a:ext cx="237744" cy="237744"/>
          </a:xfrm>
          <a:prstGeom prst="rect">
            <a:avLst/>
          </a:prstGeom>
        </p:spPr>
      </p:pic>
      <p:sp>
        <p:nvSpPr>
          <p:cNvPr id="56" name="text-124"/>
          <p:cNvSpPr txBox="1"/>
          <p:nvPr/>
        </p:nvSpPr>
        <p:spPr>
          <a:xfrm>
            <a:off x="777240" y="577900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Google Drive</a:t>
            </a:r>
            <a:endParaRPr lang="en-US" sz="1200" dirty="0"/>
          </a:p>
        </p:txBody>
      </p:sp>
      <p:sp>
        <p:nvSpPr>
          <p:cNvPr id="57" name="store-125"/>
          <p:cNvSpPr/>
          <p:nvPr/>
        </p:nvSpPr>
        <p:spPr>
          <a:xfrm>
            <a:off x="2377440" y="4663440"/>
            <a:ext cx="214884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solid"/>
          </a:ln>
        </p:spPr>
      </p:sp>
      <p:pic>
        <p:nvPicPr>
          <p:cNvPr id="58" name="store-icon-12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4600" y="4800600"/>
            <a:ext cx="310896" cy="310896"/>
          </a:xfrm>
          <a:prstGeom prst="rect">
            <a:avLst/>
          </a:prstGeom>
        </p:spPr>
      </p:pic>
      <p:sp>
        <p:nvSpPr>
          <p:cNvPr id="59" name="text-127"/>
          <p:cNvSpPr txBox="1"/>
          <p:nvPr/>
        </p:nvSpPr>
        <p:spPr>
          <a:xfrm>
            <a:off x="2907792" y="4782312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Connectors + workers</a:t>
            </a:r>
            <a:endParaRPr lang="en-US" sz="1300" dirty="0"/>
          </a:p>
        </p:txBody>
      </p:sp>
      <p:sp>
        <p:nvSpPr>
          <p:cNvPr id="60" name="text-128"/>
          <p:cNvSpPr txBox="1"/>
          <p:nvPr/>
        </p:nvSpPr>
        <p:spPr>
          <a:xfrm>
            <a:off x="2514600" y="521208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Celery: webhooks, delta sync, reconcile. Captures content and native permissions.</a:t>
            </a:r>
            <a:endParaRPr lang="en-US" sz="1100" dirty="0"/>
          </a:p>
        </p:txBody>
      </p:sp>
      <p:sp>
        <p:nvSpPr>
          <p:cNvPr id="61" name="store-129"/>
          <p:cNvSpPr/>
          <p:nvPr/>
        </p:nvSpPr>
        <p:spPr>
          <a:xfrm>
            <a:off x="4800600" y="4663440"/>
            <a:ext cx="283464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5875">
            <a:solidFill>
              <a:schemeClr val="accent4"/>
            </a:solidFill>
            <a:prstDash val="solid"/>
          </a:ln>
        </p:spPr>
      </p:sp>
      <p:pic>
        <p:nvPicPr>
          <p:cNvPr id="62" name="store-icon-130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4800600"/>
            <a:ext cx="310896" cy="310896"/>
          </a:xfrm>
          <a:prstGeom prst="rect">
            <a:avLst/>
          </a:prstGeom>
        </p:spPr>
      </p:pic>
      <p:sp>
        <p:nvSpPr>
          <p:cNvPr id="63" name="text-131"/>
          <p:cNvSpPr txBox="1"/>
          <p:nvPr/>
        </p:nvSpPr>
        <p:spPr>
          <a:xfrm>
            <a:off x="5330952" y="47823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Postgres + pgvector</a:t>
            </a:r>
            <a:endParaRPr lang="en-US" sz="1300" dirty="0"/>
          </a:p>
        </p:txBody>
      </p:sp>
      <p:sp>
        <p:nvSpPr>
          <p:cNvPr id="64" name="text-132"/>
          <p:cNvSpPr txBox="1"/>
          <p:nvPr/>
        </p:nvSpPr>
        <p:spPr>
          <a:xfrm>
            <a:off x="4937760" y="521208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Pages, chunks, embeddings, permission snapshots and grants</a:t>
            </a:r>
            <a:endParaRPr lang="en-US" sz="1100" dirty="0"/>
          </a:p>
        </p:txBody>
      </p:sp>
      <p:sp>
        <p:nvSpPr>
          <p:cNvPr id="65" name="store-133"/>
          <p:cNvSpPr/>
          <p:nvPr/>
        </p:nvSpPr>
        <p:spPr>
          <a:xfrm>
            <a:off x="8778240" y="4663440"/>
            <a:ext cx="3044952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pic>
        <p:nvPicPr>
          <p:cNvPr id="66" name="store-icon-13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15400" y="4800600"/>
            <a:ext cx="310896" cy="310896"/>
          </a:xfrm>
          <a:prstGeom prst="rect">
            <a:avLst/>
          </a:prstGeom>
        </p:spPr>
      </p:pic>
      <p:sp>
        <p:nvSpPr>
          <p:cNvPr id="67" name="text-135"/>
          <p:cNvSpPr txBox="1"/>
          <p:nvPr/>
        </p:nvSpPr>
        <p:spPr>
          <a:xfrm>
            <a:off x="9308592" y="4782312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Audit log</a:t>
            </a:r>
            <a:endParaRPr lang="en-US" sz="1300" dirty="0"/>
          </a:p>
        </p:txBody>
      </p:sp>
      <p:sp>
        <p:nvSpPr>
          <p:cNvPr id="68" name="text-136"/>
          <p:cNvSpPr txBox="1"/>
          <p:nvPr/>
        </p:nvSpPr>
        <p:spPr>
          <a:xfrm>
            <a:off x="8915400" y="5212080"/>
            <a:ext cx="2770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Append-only, hash-chained: who asked, what was retrieved, each allow/deny, the answer</a:t>
            </a:r>
            <a:endParaRPr lang="en-US" sz="1100" dirty="0"/>
          </a:p>
        </p:txBody>
      </p:sp>
      <p:sp>
        <p:nvSpPr>
          <p:cNvPr id="69" name="arrow-137"/>
          <p:cNvSpPr/>
          <p:nvPr/>
        </p:nvSpPr>
        <p:spPr>
          <a:xfrm>
            <a:off x="2121408" y="5326380"/>
            <a:ext cx="256032" cy="91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70" name="arrow-138"/>
          <p:cNvSpPr/>
          <p:nvPr/>
        </p:nvSpPr>
        <p:spPr>
          <a:xfrm>
            <a:off x="4526280" y="5326380"/>
            <a:ext cx="274320" cy="91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71" name="arrow-139"/>
          <p:cNvSpPr/>
          <p:nvPr/>
        </p:nvSpPr>
        <p:spPr>
          <a:xfrm flipV="1">
            <a:off x="4572000" y="3081528"/>
            <a:ext cx="91" cy="1581912"/>
          </a:xfrm>
          <a:prstGeom prst="line">
            <a:avLst/>
          </a:prstGeom>
          <a:noFill/>
          <a:ln w="2222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72" name="text-140"/>
          <p:cNvSpPr txBox="1"/>
          <p:nvPr/>
        </p:nvSpPr>
        <p:spPr>
          <a:xfrm>
            <a:off x="3767328" y="358444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chemeClr val="accent4"/>
                </a:solidFill>
              </a:rPr>
              <a:t>candidates</a:t>
            </a:r>
            <a:endParaRPr lang="en-US" sz="950" dirty="0"/>
          </a:p>
        </p:txBody>
      </p:sp>
      <p:sp>
        <p:nvSpPr>
          <p:cNvPr id="73" name="arrow-141"/>
          <p:cNvSpPr/>
          <p:nvPr/>
        </p:nvSpPr>
        <p:spPr>
          <a:xfrm flipV="1">
            <a:off x="5989320" y="3081528"/>
            <a:ext cx="91" cy="1581912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74" name="text-142"/>
          <p:cNvSpPr txBox="1"/>
          <p:nvPr/>
        </p:nvSpPr>
        <p:spPr>
          <a:xfrm>
            <a:off x="6053328" y="40690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accent1"/>
                </a:solidFill>
              </a:rPr>
              <a:t>permissions, reloaded every query</a:t>
            </a:r>
            <a:endParaRPr lang="en-US" sz="950" dirty="0"/>
          </a:p>
        </p:txBody>
      </p:sp>
      <p:sp>
        <p:nvSpPr>
          <p:cNvPr id="75" name="arrow-143"/>
          <p:cNvSpPr/>
          <p:nvPr/>
        </p:nvSpPr>
        <p:spPr>
          <a:xfrm>
            <a:off x="11137392" y="3081528"/>
            <a:ext cx="91" cy="1581912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6" name="text-144"/>
          <p:cNvSpPr txBox="1"/>
          <p:nvPr/>
        </p:nvSpPr>
        <p:spPr>
          <a:xfrm>
            <a:off x="9235440" y="358444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one audit event per question</a:t>
            </a:r>
            <a:endParaRPr lang="en-US" sz="950" dirty="0"/>
          </a:p>
        </p:txBody>
      </p:sp>
      <p:sp>
        <p:nvSpPr>
          <p:cNvPr id="77" name="text-145"/>
          <p:cNvSpPr txBox="1"/>
          <p:nvPr/>
        </p:nvSpPr>
        <p:spPr>
          <a:xfrm>
            <a:off x="292608" y="6172200"/>
            <a:ext cx="11612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chemeClr val="accent6"/>
                </a:solidFill>
              </a:rPr>
              <a:t>Teal path: only authorised evidence.   Red dashed line: nothing denied crosses it.   Dashed boxes: untrusted or external.   Connectors to live tenants are stubbed; the demo uses a synthetic corpus.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Four trust boundaries, each failing closed</a:t>
            </a:r>
            <a:endParaRPr lang="en-US" sz="2800" dirty="0"/>
          </a:p>
        </p:txBody>
      </p:sp>
      <p:sp>
        <p:nvSpPr>
          <p:cNvPr id="3" name="tb-row-146"/>
          <p:cNvSpPr/>
          <p:nvPr/>
        </p:nvSpPr>
        <p:spPr>
          <a:xfrm>
            <a:off x="548640" y="1371600"/>
            <a:ext cx="11064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4" name="num-147"/>
          <p:cNvSpPr txBox="1"/>
          <p:nvPr/>
        </p:nvSpPr>
        <p:spPr>
          <a:xfrm>
            <a:off x="777240" y="164592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-148"/>
          <p:cNvSpPr txBox="1"/>
          <p:nvPr/>
        </p:nvSpPr>
        <p:spPr>
          <a:xfrm>
            <a:off x="1508760" y="1499616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Who is asking</a:t>
            </a:r>
            <a:endParaRPr lang="en-US" sz="1800" dirty="0"/>
          </a:p>
        </p:txBody>
      </p:sp>
      <p:sp>
        <p:nvSpPr>
          <p:cNvPr id="6" name="text-149"/>
          <p:cNvSpPr txBox="1"/>
          <p:nvPr/>
        </p:nvSpPr>
        <p:spPr>
          <a:xfrm>
            <a:off x="4206240" y="1499616"/>
            <a:ext cx="4343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server resolves the asker and their current groups. The client's claim is never trusted.</a:t>
            </a:r>
            <a:endParaRPr lang="en-US" sz="1400" dirty="0"/>
          </a:p>
        </p:txBody>
      </p:sp>
      <p:sp>
        <p:nvSpPr>
          <p:cNvPr id="7" name="failclosed-150"/>
          <p:cNvSpPr/>
          <p:nvPr/>
        </p:nvSpPr>
        <p:spPr>
          <a:xfrm>
            <a:off x="8732520" y="1554480"/>
            <a:ext cx="269748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text-151"/>
          <p:cNvSpPr txBox="1"/>
          <p:nvPr/>
        </p:nvSpPr>
        <p:spPr>
          <a:xfrm>
            <a:off x="8869680" y="1572768"/>
            <a:ext cx="24688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Unknown or inactive principal: deny everything</a:t>
            </a:r>
            <a:endParaRPr lang="en-US" sz="1200" dirty="0"/>
          </a:p>
        </p:txBody>
      </p:sp>
      <p:sp>
        <p:nvSpPr>
          <p:cNvPr id="9" name="tb-row-152"/>
          <p:cNvSpPr/>
          <p:nvPr/>
        </p:nvSpPr>
        <p:spPr>
          <a:xfrm>
            <a:off x="548640" y="2578608"/>
            <a:ext cx="11064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0" name="num-153"/>
          <p:cNvSpPr txBox="1"/>
          <p:nvPr/>
        </p:nvSpPr>
        <p:spPr>
          <a:xfrm>
            <a:off x="777240" y="2852928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-154"/>
          <p:cNvSpPr txBox="1"/>
          <p:nvPr/>
        </p:nvSpPr>
        <p:spPr>
          <a:xfrm>
            <a:off x="1508760" y="2706624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What they may see</a:t>
            </a:r>
            <a:endParaRPr lang="en-US" sz="1800" dirty="0"/>
          </a:p>
        </p:txBody>
      </p:sp>
      <p:sp>
        <p:nvSpPr>
          <p:cNvPr id="12" name="text-155"/>
          <p:cNvSpPr txBox="1"/>
          <p:nvPr/>
        </p:nvSpPr>
        <p:spPr>
          <a:xfrm>
            <a:off x="4206240" y="2706624"/>
            <a:ext cx="4343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 candidate document is checked against its native platform permissions before any model call.</a:t>
            </a:r>
            <a:endParaRPr lang="en-US" sz="1400" dirty="0"/>
          </a:p>
        </p:txBody>
      </p:sp>
      <p:sp>
        <p:nvSpPr>
          <p:cNvPr id="13" name="failclosed-156"/>
          <p:cNvSpPr/>
          <p:nvPr/>
        </p:nvSpPr>
        <p:spPr>
          <a:xfrm>
            <a:off x="8732520" y="2761488"/>
            <a:ext cx="269748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-157"/>
          <p:cNvSpPr txBox="1"/>
          <p:nvPr/>
        </p:nvSpPr>
        <p:spPr>
          <a:xfrm>
            <a:off x="8869680" y="2779776"/>
            <a:ext cx="24688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Missing, stale or unreadable permissions: deny</a:t>
            </a:r>
            <a:endParaRPr lang="en-US" sz="1200" dirty="0"/>
          </a:p>
        </p:txBody>
      </p:sp>
      <p:sp>
        <p:nvSpPr>
          <p:cNvPr id="15" name="tb-row-158"/>
          <p:cNvSpPr/>
          <p:nvPr/>
        </p:nvSpPr>
        <p:spPr>
          <a:xfrm>
            <a:off x="548640" y="3785616"/>
            <a:ext cx="11064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16" name="num-159"/>
          <p:cNvSpPr txBox="1"/>
          <p:nvPr/>
        </p:nvSpPr>
        <p:spPr>
          <a:xfrm>
            <a:off x="777240" y="4059936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-160"/>
          <p:cNvSpPr txBox="1"/>
          <p:nvPr/>
        </p:nvSpPr>
        <p:spPr>
          <a:xfrm>
            <a:off x="1508760" y="391363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What the model receives</a:t>
            </a:r>
            <a:endParaRPr lang="en-US" sz="1800" dirty="0"/>
          </a:p>
        </p:txBody>
      </p:sp>
      <p:sp>
        <p:nvSpPr>
          <p:cNvPr id="18" name="text-161"/>
          <p:cNvSpPr txBox="1"/>
          <p:nvPr/>
        </p:nvSpPr>
        <p:spPr>
          <a:xfrm>
            <a:off x="4206240" y="3913632"/>
            <a:ext cx="4343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authorised, fresh, sanitised evidence spans. Retrieved text is treated as data, never as instructions.</a:t>
            </a:r>
            <a:endParaRPr lang="en-US" sz="1400" dirty="0"/>
          </a:p>
        </p:txBody>
      </p:sp>
      <p:sp>
        <p:nvSpPr>
          <p:cNvPr id="19" name="failclosed-162"/>
          <p:cNvSpPr/>
          <p:nvPr/>
        </p:nvSpPr>
        <p:spPr>
          <a:xfrm>
            <a:off x="8732520" y="3968496"/>
            <a:ext cx="269748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text-163"/>
          <p:cNvSpPr txBox="1"/>
          <p:nvPr/>
        </p:nvSpPr>
        <p:spPr>
          <a:xfrm>
            <a:off x="8869680" y="3986784"/>
            <a:ext cx="24688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Prompt-injection text: quarantined</a:t>
            </a:r>
            <a:endParaRPr lang="en-US" sz="1200" dirty="0"/>
          </a:p>
        </p:txBody>
      </p:sp>
      <p:sp>
        <p:nvSpPr>
          <p:cNvPr id="21" name="tb-row-164"/>
          <p:cNvSpPr/>
          <p:nvPr/>
        </p:nvSpPr>
        <p:spPr>
          <a:xfrm>
            <a:off x="548640" y="4992624"/>
            <a:ext cx="1106424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/>
        </p:spPr>
      </p:sp>
      <p:sp>
        <p:nvSpPr>
          <p:cNvPr id="22" name="num-165"/>
          <p:cNvSpPr txBox="1"/>
          <p:nvPr/>
        </p:nvSpPr>
        <p:spPr>
          <a:xfrm>
            <a:off x="777240" y="5266944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3" name="text-166"/>
          <p:cNvSpPr txBox="1"/>
          <p:nvPr/>
        </p:nvSpPr>
        <p:spPr>
          <a:xfrm>
            <a:off x="1508760" y="512064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What leaves the system</a:t>
            </a:r>
            <a:endParaRPr lang="en-US" sz="1800" dirty="0"/>
          </a:p>
        </p:txBody>
      </p:sp>
      <p:sp>
        <p:nvSpPr>
          <p:cNvPr id="24" name="text-167"/>
          <p:cNvSpPr txBox="1"/>
          <p:nvPr/>
        </p:nvSpPr>
        <p:spPr>
          <a:xfrm>
            <a:off x="4206240" y="5120640"/>
            <a:ext cx="4343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Denials look exactly like missing documents. Saved answers are re-checked each time they are opened.</a:t>
            </a:r>
            <a:endParaRPr lang="en-US" sz="1400" dirty="0"/>
          </a:p>
        </p:txBody>
      </p:sp>
      <p:sp>
        <p:nvSpPr>
          <p:cNvPr id="25" name="failclosed-168"/>
          <p:cNvSpPr/>
          <p:nvPr/>
        </p:nvSpPr>
        <p:spPr>
          <a:xfrm>
            <a:off x="8732520" y="5175504"/>
            <a:ext cx="269748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text-169"/>
          <p:cNvSpPr txBox="1"/>
          <p:nvPr/>
        </p:nvSpPr>
        <p:spPr>
          <a:xfrm>
            <a:off x="8869680" y="5193792"/>
            <a:ext cx="24688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Revoked or untraceable evidence: answer withheld</a:t>
            </a:r>
            <a:endParaRPr lang="en-US" sz="1200" dirty="0"/>
          </a:p>
        </p:txBody>
      </p:sp>
      <p:sp>
        <p:nvSpPr>
          <p:cNvPr id="27" name="text-170"/>
          <p:cNvSpPr txBox="1"/>
          <p:nvPr/>
        </p:nvSpPr>
        <p:spPr>
          <a:xfrm>
            <a:off x="8732520" y="1143000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FAILS CLOSED TO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We keep each platform's own permission model instead of flattening it</a:t>
            </a:r>
            <a:endParaRPr lang="en-US" sz="2800" dirty="0"/>
          </a:p>
        </p:txBody>
      </p:sp>
      <p:sp>
        <p:nvSpPr>
          <p:cNvPr id="3" name="src-card-171"/>
          <p:cNvSpPr/>
          <p:nvPr/>
        </p:nvSpPr>
        <p:spPr>
          <a:xfrm>
            <a:off x="548640" y="1325880"/>
            <a:ext cx="544068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4" name="icon-bg-172"/>
          <p:cNvSpPr/>
          <p:nvPr/>
        </p:nvSpPr>
        <p:spPr>
          <a:xfrm>
            <a:off x="777240" y="1554480"/>
            <a:ext cx="640080" cy="64008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5" name="icon-17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682496"/>
            <a:ext cx="384048" cy="384048"/>
          </a:xfrm>
          <a:prstGeom prst="rect">
            <a:avLst/>
          </a:prstGeom>
        </p:spPr>
      </p:pic>
      <p:sp>
        <p:nvSpPr>
          <p:cNvPr id="6" name="text-174"/>
          <p:cNvSpPr txBox="1"/>
          <p:nvPr/>
        </p:nvSpPr>
        <p:spPr>
          <a:xfrm>
            <a:off x="1554480" y="16002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Confluence</a:t>
            </a:r>
            <a:endParaRPr lang="en-US" sz="2000" dirty="0"/>
          </a:p>
        </p:txBody>
      </p:sp>
      <p:sp>
        <p:nvSpPr>
          <p:cNvPr id="7" name="text-175"/>
          <p:cNvSpPr txBox="1"/>
          <p:nvPr/>
        </p:nvSpPr>
        <p:spPr>
          <a:xfrm>
            <a:off x="1554480" y="21031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Space view permission, plus page restrictions, plus every parent page's restrictions</a:t>
            </a:r>
            <a:endParaRPr lang="en-US" sz="1300" dirty="0"/>
          </a:p>
        </p:txBody>
      </p:sp>
      <p:pic>
        <p:nvPicPr>
          <p:cNvPr id="8" name="check-17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651760"/>
            <a:ext cx="228600" cy="228600"/>
          </a:xfrm>
          <a:prstGeom prst="rect">
            <a:avLst/>
          </a:prstGeom>
        </p:spPr>
      </p:pic>
      <p:sp>
        <p:nvSpPr>
          <p:cNvPr id="9" name="text-177"/>
          <p:cNvSpPr txBox="1"/>
          <p:nvPr/>
        </p:nvSpPr>
        <p:spPr>
          <a:xfrm>
            <a:off x="1874520" y="260604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A parent page whose restrictions were not captured denies access</a:t>
            </a:r>
            <a:endParaRPr lang="en-US" sz="1200" dirty="0"/>
          </a:p>
        </p:txBody>
      </p:sp>
      <p:sp>
        <p:nvSpPr>
          <p:cNvPr id="10" name="src-card-178"/>
          <p:cNvSpPr/>
          <p:nvPr/>
        </p:nvSpPr>
        <p:spPr>
          <a:xfrm>
            <a:off x="6172200" y="1325880"/>
            <a:ext cx="544068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11" name="icon-bg-179"/>
          <p:cNvSpPr/>
          <p:nvPr/>
        </p:nvSpPr>
        <p:spPr>
          <a:xfrm>
            <a:off x="6400800" y="1554480"/>
            <a:ext cx="640080" cy="64008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2" name="icon-18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1682496"/>
            <a:ext cx="384048" cy="384048"/>
          </a:xfrm>
          <a:prstGeom prst="rect">
            <a:avLst/>
          </a:prstGeom>
        </p:spPr>
      </p:pic>
      <p:sp>
        <p:nvSpPr>
          <p:cNvPr id="13" name="text-181"/>
          <p:cNvSpPr txBox="1"/>
          <p:nvPr/>
        </p:nvSpPr>
        <p:spPr>
          <a:xfrm>
            <a:off x="7178040" y="16002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Jira</a:t>
            </a:r>
            <a:endParaRPr lang="en-US" sz="2000" dirty="0"/>
          </a:p>
        </p:txBody>
      </p:sp>
      <p:sp>
        <p:nvSpPr>
          <p:cNvPr id="14" name="text-182"/>
          <p:cNvSpPr txBox="1"/>
          <p:nvPr/>
        </p:nvSpPr>
        <p:spPr>
          <a:xfrm>
            <a:off x="7178040" y="21031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Browse Projects role, plus the issue's security level</a:t>
            </a:r>
            <a:endParaRPr lang="en-US" sz="1300" dirty="0"/>
          </a:p>
        </p:txBody>
      </p:sp>
      <p:pic>
        <p:nvPicPr>
          <p:cNvPr id="15" name="check-18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2651760"/>
            <a:ext cx="228600" cy="228600"/>
          </a:xfrm>
          <a:prstGeom prst="rect">
            <a:avLst/>
          </a:prstGeom>
        </p:spPr>
      </p:pic>
      <p:sp>
        <p:nvSpPr>
          <p:cNvPr id="16" name="text-184"/>
          <p:cNvSpPr txBox="1"/>
          <p:nvPr/>
        </p:nvSpPr>
        <p:spPr>
          <a:xfrm>
            <a:off x="7498080" y="260604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Project access alone never reveals a restricted issue</a:t>
            </a:r>
            <a:endParaRPr lang="en-US" sz="1200" dirty="0"/>
          </a:p>
        </p:txBody>
      </p:sp>
      <p:sp>
        <p:nvSpPr>
          <p:cNvPr id="17" name="src-card-185"/>
          <p:cNvSpPr/>
          <p:nvPr/>
        </p:nvSpPr>
        <p:spPr>
          <a:xfrm>
            <a:off x="548640" y="3291840"/>
            <a:ext cx="544068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18" name="icon-bg-186"/>
          <p:cNvSpPr/>
          <p:nvPr/>
        </p:nvSpPr>
        <p:spPr>
          <a:xfrm>
            <a:off x="777240" y="3520440"/>
            <a:ext cx="640080" cy="64008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19" name="icon-18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5256" y="3648456"/>
            <a:ext cx="384048" cy="384048"/>
          </a:xfrm>
          <a:prstGeom prst="rect">
            <a:avLst/>
          </a:prstGeom>
        </p:spPr>
      </p:pic>
      <p:sp>
        <p:nvSpPr>
          <p:cNvPr id="20" name="text-188"/>
          <p:cNvSpPr txBox="1"/>
          <p:nvPr/>
        </p:nvSpPr>
        <p:spPr>
          <a:xfrm>
            <a:off x="1554480" y="35661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Slack</a:t>
            </a:r>
            <a:endParaRPr lang="en-US" sz="2000" dirty="0"/>
          </a:p>
        </p:txBody>
      </p:sp>
      <p:sp>
        <p:nvSpPr>
          <p:cNvPr id="21" name="text-189"/>
          <p:cNvSpPr txBox="1"/>
          <p:nvPr/>
        </p:nvSpPr>
        <p:spPr>
          <a:xfrm>
            <a:off x="1554480" y="406908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Channel membership; public channels for full workspace members only</a:t>
            </a:r>
            <a:endParaRPr lang="en-US" sz="1300" dirty="0"/>
          </a:p>
        </p:txBody>
      </p:sp>
      <p:pic>
        <p:nvPicPr>
          <p:cNvPr id="22" name="check-190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4480" y="4617720"/>
            <a:ext cx="228600" cy="228600"/>
          </a:xfrm>
          <a:prstGeom prst="rect">
            <a:avLst/>
          </a:prstGeom>
        </p:spPr>
      </p:pic>
      <p:sp>
        <p:nvSpPr>
          <p:cNvPr id="23" name="text-191"/>
          <p:cNvSpPr txBox="1"/>
          <p:nvPr/>
        </p:nvSpPr>
        <p:spPr>
          <a:xfrm>
            <a:off x="1874520" y="45720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Guests, bots and other workspaces never inherit public access</a:t>
            </a:r>
            <a:endParaRPr lang="en-US" sz="1200" dirty="0"/>
          </a:p>
        </p:txBody>
      </p:sp>
      <p:sp>
        <p:nvSpPr>
          <p:cNvPr id="24" name="src-card-192"/>
          <p:cNvSpPr/>
          <p:nvPr/>
        </p:nvSpPr>
        <p:spPr>
          <a:xfrm>
            <a:off x="6172200" y="3291840"/>
            <a:ext cx="5440680" cy="1783080"/>
          </a:xfrm>
          <a:prstGeom prst="roundRect">
            <a:avLst>
              <a:gd name="adj" fmla="val 4103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25" name="icon-bg-193"/>
          <p:cNvSpPr/>
          <p:nvPr/>
        </p:nvSpPr>
        <p:spPr>
          <a:xfrm>
            <a:off x="6400800" y="3520440"/>
            <a:ext cx="640080" cy="640080"/>
          </a:xfrm>
          <a:prstGeom prst="ellipse">
            <a:avLst/>
          </a:prstGeom>
          <a:solidFill>
            <a:schemeClr val="bg2"/>
          </a:solidFill>
          <a:ln/>
        </p:spPr>
      </p:sp>
      <p:pic>
        <p:nvPicPr>
          <p:cNvPr id="26" name="icon-19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8816" y="3648456"/>
            <a:ext cx="384048" cy="384048"/>
          </a:xfrm>
          <a:prstGeom prst="rect">
            <a:avLst/>
          </a:prstGeom>
        </p:spPr>
      </p:pic>
      <p:sp>
        <p:nvSpPr>
          <p:cNvPr id="27" name="text-195"/>
          <p:cNvSpPr txBox="1"/>
          <p:nvPr/>
        </p:nvSpPr>
        <p:spPr>
          <a:xfrm>
            <a:off x="7178040" y="35661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Google Drive</a:t>
            </a:r>
            <a:endParaRPr lang="en-US" sz="2000" dirty="0"/>
          </a:p>
        </p:txBody>
      </p:sp>
      <p:sp>
        <p:nvSpPr>
          <p:cNvPr id="28" name="text-196"/>
          <p:cNvSpPr txBox="1"/>
          <p:nvPr/>
        </p:nvSpPr>
        <p:spPr>
          <a:xfrm>
            <a:off x="7178040" y="406908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Effective file permissions: users, groups and domains</a:t>
            </a:r>
            <a:endParaRPr lang="en-US" sz="1300" dirty="0"/>
          </a:p>
        </p:txBody>
      </p:sp>
      <p:pic>
        <p:nvPicPr>
          <p:cNvPr id="29" name="check-19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78040" y="4617720"/>
            <a:ext cx="228600" cy="228600"/>
          </a:xfrm>
          <a:prstGeom prst="rect">
            <a:avLst/>
          </a:prstGeom>
        </p:spPr>
      </p:pic>
      <p:sp>
        <p:nvSpPr>
          <p:cNvPr id="30" name="text-198"/>
          <p:cNvSpPr txBox="1"/>
          <p:nvPr/>
        </p:nvSpPr>
        <p:spPr>
          <a:xfrm>
            <a:off x="7498080" y="457200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accent1"/>
                </a:solidFill>
              </a:rPr>
              <a:t>Expired, deleted and link-only shares do not make a file searchable</a:t>
            </a:r>
            <a:endParaRPr lang="en-US" sz="1200" dirty="0"/>
          </a:p>
        </p:txBody>
      </p:sp>
      <p:sp>
        <p:nvSpPr>
          <p:cNvPr id="31" name="equation-199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32" name="text-200"/>
          <p:cNvSpPr txBox="1"/>
          <p:nvPr/>
        </p:nvSpPr>
        <p:spPr>
          <a:xfrm>
            <a:off x="822960" y="5413248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Native source access  ∩  local policy  =  allowed evidence</a:t>
            </a:r>
            <a:endParaRPr lang="en-US" sz="14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9D8EE"/>
                </a:solidFill>
              </a:rPr>
              <a:t>A local grant can narrow access but never widen what the source allows. Confidential documents also need the owner, an admin or an active grant.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access-control demo in three scenes</a:t>
            </a:r>
            <a:endParaRPr lang="en-US" sz="2800" dirty="0"/>
          </a:p>
        </p:txBody>
      </p:sp>
      <p:sp>
        <p:nvSpPr>
          <p:cNvPr id="3" name="scene-201"/>
          <p:cNvSpPr/>
          <p:nvPr/>
        </p:nvSpPr>
        <p:spPr>
          <a:xfrm>
            <a:off x="548640" y="1325880"/>
            <a:ext cx="3520440" cy="484632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4" name="num-202"/>
          <p:cNvSpPr txBox="1"/>
          <p:nvPr/>
        </p:nvSpPr>
        <p:spPr>
          <a:xfrm>
            <a:off x="777240" y="150876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-203"/>
          <p:cNvSpPr txBox="1"/>
          <p:nvPr/>
        </p:nvSpPr>
        <p:spPr>
          <a:xfrm>
            <a:off x="1325880" y="14813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Authorised employee</a:t>
            </a:r>
            <a:endParaRPr lang="en-US" sz="1800" dirty="0"/>
          </a:p>
        </p:txBody>
      </p:sp>
      <p:sp>
        <p:nvSpPr>
          <p:cNvPr id="6" name="icon-bg-204"/>
          <p:cNvSpPr/>
          <p:nvPr/>
        </p:nvSpPr>
        <p:spPr>
          <a:xfrm>
            <a:off x="777240" y="21031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icon-20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882" y="2213762"/>
            <a:ext cx="281635" cy="281635"/>
          </a:xfrm>
          <a:prstGeom prst="rect">
            <a:avLst/>
          </a:prstGeom>
        </p:spPr>
      </p:pic>
      <p:sp>
        <p:nvSpPr>
          <p:cNvPr id="8" name="text-206"/>
          <p:cNvSpPr txBox="1"/>
          <p:nvPr/>
        </p:nvSpPr>
        <p:spPr>
          <a:xfrm>
            <a:off x="1417320" y="2103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Priya Nair · Finance Ops, Leadership</a:t>
            </a:r>
            <a:endParaRPr lang="en-US" sz="1200" dirty="0"/>
          </a:p>
        </p:txBody>
      </p:sp>
      <p:sp>
        <p:nvSpPr>
          <p:cNvPr id="9" name="text-207"/>
          <p:cNvSpPr txBox="1"/>
          <p:nvPr/>
        </p:nvSpPr>
        <p:spPr>
          <a:xfrm>
            <a:off x="777240" y="27889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“What were the Q3 board deck revenue figures?”</a:t>
            </a:r>
            <a:endParaRPr lang="en-US" sz="1400" dirty="0"/>
          </a:p>
        </p:txBody>
      </p:sp>
      <p:sp>
        <p:nvSpPr>
          <p:cNvPr id="10" name="answer-mock-208"/>
          <p:cNvSpPr/>
          <p:nvPr/>
        </p:nvSpPr>
        <p:spPr>
          <a:xfrm>
            <a:off x="777240" y="3566160"/>
            <a:ext cx="306324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-209"/>
          <p:cNvSpPr txBox="1"/>
          <p:nvPr/>
        </p:nvSpPr>
        <p:spPr>
          <a:xfrm>
            <a:off x="914400" y="3639312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SGD 48.6 million, up 18% year on year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[1] Board deck Q3 · Google Drive</a:t>
            </a:r>
            <a:endParaRPr lang="en-US" sz="1300" dirty="0"/>
          </a:p>
        </p:txBody>
      </p:sp>
      <p:sp>
        <p:nvSpPr>
          <p:cNvPr id="12" name="verdict-210"/>
          <p:cNvSpPr/>
          <p:nvPr/>
        </p:nvSpPr>
        <p:spPr>
          <a:xfrm>
            <a:off x="777240" y="4983480"/>
            <a:ext cx="3063240" cy="960120"/>
          </a:xfrm>
          <a:prstGeom prst="roundRect">
            <a:avLst>
              <a:gd name="adj" fmla="val 7619"/>
            </a:avLst>
          </a:prstGeom>
          <a:solidFill>
            <a:srgbClr val="E3F5F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-211"/>
          <p:cNvSpPr txBox="1"/>
          <p:nvPr/>
        </p:nvSpPr>
        <p:spPr>
          <a:xfrm>
            <a:off x="914400" y="502920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Answered, with citations</a:t>
            </a:r>
            <a:endParaRPr lang="en-US" sz="1400" dirty="0"/>
          </a:p>
        </p:txBody>
      </p:sp>
      <p:sp>
        <p:nvSpPr>
          <p:cNvPr id="14" name="arrow-212"/>
          <p:cNvSpPr/>
          <p:nvPr/>
        </p:nvSpPr>
        <p:spPr>
          <a:xfrm>
            <a:off x="4096512" y="4160520"/>
            <a:ext cx="182880" cy="91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5" name="scene-213"/>
          <p:cNvSpPr/>
          <p:nvPr/>
        </p:nvSpPr>
        <p:spPr>
          <a:xfrm>
            <a:off x="4297680" y="1325880"/>
            <a:ext cx="3520440" cy="484632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16" name="num-214"/>
          <p:cNvSpPr txBox="1"/>
          <p:nvPr/>
        </p:nvSpPr>
        <p:spPr>
          <a:xfrm>
            <a:off x="4526280" y="150876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7" name="text-215"/>
          <p:cNvSpPr txBox="1"/>
          <p:nvPr/>
        </p:nvSpPr>
        <p:spPr>
          <a:xfrm>
            <a:off x="5074920" y="14813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Unauthorised contractor</a:t>
            </a:r>
            <a:endParaRPr lang="en-US" sz="1800" dirty="0"/>
          </a:p>
        </p:txBody>
      </p:sp>
      <p:sp>
        <p:nvSpPr>
          <p:cNvPr id="18" name="icon-bg-216"/>
          <p:cNvSpPr/>
          <p:nvPr/>
        </p:nvSpPr>
        <p:spPr>
          <a:xfrm>
            <a:off x="4526280" y="210312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icon-21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922" y="2213762"/>
            <a:ext cx="281635" cy="281635"/>
          </a:xfrm>
          <a:prstGeom prst="rect">
            <a:avLst/>
          </a:prstGeom>
        </p:spPr>
      </p:pic>
      <p:sp>
        <p:nvSpPr>
          <p:cNvPr id="20" name="text-218"/>
          <p:cNvSpPr txBox="1"/>
          <p:nvPr/>
        </p:nvSpPr>
        <p:spPr>
          <a:xfrm>
            <a:off x="5166360" y="2103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Mei Chen · external contractor</a:t>
            </a:r>
            <a:endParaRPr lang="en-US" sz="1200" dirty="0"/>
          </a:p>
        </p:txBody>
      </p:sp>
      <p:sp>
        <p:nvSpPr>
          <p:cNvPr id="21" name="text-219"/>
          <p:cNvSpPr txBox="1"/>
          <p:nvPr/>
        </p:nvSpPr>
        <p:spPr>
          <a:xfrm>
            <a:off x="4526280" y="27889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“What were the Q3 board deck revenue figures?”</a:t>
            </a:r>
            <a:endParaRPr lang="en-US" sz="1400" dirty="0"/>
          </a:p>
        </p:txBody>
      </p:sp>
      <p:sp>
        <p:nvSpPr>
          <p:cNvPr id="22" name="answer-mock-220"/>
          <p:cNvSpPr/>
          <p:nvPr/>
        </p:nvSpPr>
        <p:spPr>
          <a:xfrm>
            <a:off x="4526280" y="3566160"/>
            <a:ext cx="306324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-221"/>
          <p:cNvSpPr txBox="1"/>
          <p:nvPr/>
        </p:nvSpPr>
        <p:spPr>
          <a:xfrm>
            <a:off x="4663440" y="3639312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No figures, no title, no hint the deck exists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Opening the deck returns the same 404 as a missing file</a:t>
            </a:r>
            <a:endParaRPr lang="en-US" sz="1300" dirty="0"/>
          </a:p>
        </p:txBody>
      </p:sp>
      <p:sp>
        <p:nvSpPr>
          <p:cNvPr id="24" name="verdict-222"/>
          <p:cNvSpPr/>
          <p:nvPr/>
        </p:nvSpPr>
        <p:spPr>
          <a:xfrm>
            <a:off x="4526280" y="4983480"/>
            <a:ext cx="3063240" cy="960120"/>
          </a:xfrm>
          <a:prstGeom prst="roundRect">
            <a:avLst>
              <a:gd name="adj" fmla="val 7619"/>
            </a:avLst>
          </a:prstGeom>
          <a:solidFill>
            <a:srgbClr val="FDECEC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-223"/>
          <p:cNvSpPr txBox="1"/>
          <p:nvPr/>
        </p:nvSpPr>
        <p:spPr>
          <a:xfrm>
            <a:off x="4663440" y="502920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Nothing leaked, nothing confirmed</a:t>
            </a:r>
            <a:endParaRPr lang="en-US" sz="1400" dirty="0"/>
          </a:p>
        </p:txBody>
      </p:sp>
      <p:sp>
        <p:nvSpPr>
          <p:cNvPr id="26" name="arrow-224"/>
          <p:cNvSpPr/>
          <p:nvPr/>
        </p:nvSpPr>
        <p:spPr>
          <a:xfrm>
            <a:off x="7845552" y="4160520"/>
            <a:ext cx="182880" cy="91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7" name="scene-225"/>
          <p:cNvSpPr/>
          <p:nvPr/>
        </p:nvSpPr>
        <p:spPr>
          <a:xfrm>
            <a:off x="8046720" y="1325880"/>
            <a:ext cx="3520440" cy="484632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28" name="num-226"/>
          <p:cNvSpPr txBox="1"/>
          <p:nvPr/>
        </p:nvSpPr>
        <p:spPr>
          <a:xfrm>
            <a:off x="8275320" y="150876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9" name="text-227"/>
          <p:cNvSpPr txBox="1"/>
          <p:nvPr/>
        </p:nvSpPr>
        <p:spPr>
          <a:xfrm>
            <a:off x="8823960" y="14813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Access revoked</a:t>
            </a:r>
            <a:endParaRPr lang="en-US" sz="1800" dirty="0"/>
          </a:p>
        </p:txBody>
      </p:sp>
      <p:sp>
        <p:nvSpPr>
          <p:cNvPr id="30" name="icon-bg-228"/>
          <p:cNvSpPr/>
          <p:nvPr/>
        </p:nvSpPr>
        <p:spPr>
          <a:xfrm>
            <a:off x="8275320" y="210312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1" name="icon-22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5962" y="2213762"/>
            <a:ext cx="281635" cy="281635"/>
          </a:xfrm>
          <a:prstGeom prst="rect">
            <a:avLst/>
          </a:prstGeom>
        </p:spPr>
      </p:pic>
      <p:sp>
        <p:nvSpPr>
          <p:cNvPr id="32" name="text-230"/>
          <p:cNvSpPr txBox="1"/>
          <p:nvPr/>
        </p:nvSpPr>
        <p:spPr>
          <a:xfrm>
            <a:off x="8915400" y="21031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Admin revokes the Leadership grant</a:t>
            </a:r>
            <a:endParaRPr lang="en-US" sz="1200" dirty="0"/>
          </a:p>
        </p:txBody>
      </p:sp>
      <p:sp>
        <p:nvSpPr>
          <p:cNvPr id="33" name="text-231"/>
          <p:cNvSpPr txBox="1"/>
          <p:nvPr/>
        </p:nvSpPr>
        <p:spPr>
          <a:xfrm>
            <a:off x="8275320" y="278892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Priya asks again, then reopens her earlier answer</a:t>
            </a:r>
            <a:endParaRPr lang="en-US" sz="1400" dirty="0"/>
          </a:p>
        </p:txBody>
      </p:sp>
      <p:sp>
        <p:nvSpPr>
          <p:cNvPr id="34" name="answer-mock-232"/>
          <p:cNvSpPr/>
          <p:nvPr/>
        </p:nvSpPr>
        <p:spPr>
          <a:xfrm>
            <a:off x="8275320" y="3566160"/>
            <a:ext cx="306324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-233"/>
          <p:cNvSpPr txBox="1"/>
          <p:nvPr/>
        </p:nvSpPr>
        <p:spPr>
          <a:xfrm>
            <a:off x="8412480" y="3639312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New answer no longer uses the deck</a:t>
            </a:r>
            <a:endParaRPr lang="en-US" sz="1300" dirty="0"/>
          </a:p>
          <a:p>
            <a:pPr algn="l"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Saved answer: “This answer used sources you can no longer access”</a:t>
            </a:r>
            <a:endParaRPr lang="en-US" sz="1300" dirty="0"/>
          </a:p>
        </p:txBody>
      </p:sp>
      <p:sp>
        <p:nvSpPr>
          <p:cNvPr id="36" name="verdict-234"/>
          <p:cNvSpPr/>
          <p:nvPr/>
        </p:nvSpPr>
        <p:spPr>
          <a:xfrm>
            <a:off x="8275320" y="4983480"/>
            <a:ext cx="3063240" cy="960120"/>
          </a:xfrm>
          <a:prstGeom prst="roundRect">
            <a:avLst>
              <a:gd name="adj" fmla="val 7619"/>
            </a:avLst>
          </a:prstGeom>
          <a:solidFill>
            <a:srgbClr val="FDF4E4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7" name="text-235"/>
          <p:cNvSpPr txBox="1"/>
          <p:nvPr/>
        </p:nvSpPr>
        <p:spPr>
          <a:xfrm>
            <a:off x="8412480" y="5029200"/>
            <a:ext cx="2788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Enforced on the next query, including saved answers</a:t>
            </a:r>
            <a:endParaRPr lang="en-US" sz="1400" dirty="0"/>
          </a:p>
        </p:txBody>
      </p:sp>
      <p:sp>
        <p:nvSpPr>
          <p:cNvPr id="38" name="text-236"/>
          <p:cNvSpPr txBox="1"/>
          <p:nvPr/>
        </p:nvSpPr>
        <p:spPr>
          <a:xfrm>
            <a:off x="548640" y="619963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Synthetic company and figures. Each scene is an automated test: test_ask_pipeline.py and test_query_history_access.py.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All five mandatory scenarios run end to end, and each is a test</a:t>
            </a:r>
            <a:endParaRPr lang="en-US" sz="2800" dirty="0"/>
          </a:p>
        </p:txBody>
      </p:sp>
      <p:graphicFrame>
        <p:nvGraphicFramePr>
          <p:cNvPr id="9" name="scenario-table-2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828800"/>
                <a:gridCol w="5623560"/>
                <a:gridCol w="31089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Scenario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What a judge sees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Proof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Unified query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Priya asks about the Rail-B cutover. The facts are spread across email, Jira, Slack and Drive; she gets one answer citing several of them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6"/>
                          </a:solidFill>
                        </a:rPr>
                        <a:t>test_unified_cited_query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Data freshness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The failover runbook is v8 at the source but v7 in the index: omitted as stale. The fresh KYC runbook is cited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6"/>
                          </a:solidFill>
                        </a:rPr>
                        <a:t>test_bounded_freshness_stale_omitted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Negative permission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Mei, a contractor, gets no restricted content; a denied document returns the same 404 as a missing one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6"/>
                          </a:solidFill>
                        </a:rPr>
                        <a:t>test_negative_permission_no_existence_leak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Live revocation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The Leadership grant is revoked; Priya's next answer excludes the board deck and her saved answer is withheld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6"/>
                          </a:solidFill>
                        </a:rPr>
                        <a:t>test_live_revocation_changes_next_answer, test_query_history_access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tx2"/>
                          </a:solidFill>
                        </a:rPr>
                        <a:t>5</a:t>
                      </a:r>
                      <a:endParaRPr lang="en-US" sz="16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Audit inquiry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Sam, an auditor, reconstructs the question, retrieved IDs, each allow/deny and the answer, and verifies the hash chain</a:t>
                      </a:r>
                      <a:endParaRPr lang="en-US" sz="13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accent6"/>
                          </a:solidFill>
                        </a:rPr>
                        <a:t>test_audit_reconstruction</a:t>
                      </a:r>
                      <a:endParaRPr lang="en-US" sz="11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-238"/>
          <p:cNvSpPr txBox="1"/>
          <p:nvPr/>
        </p:nvSpPr>
        <p:spPr>
          <a:xfrm>
            <a:off x="548640" y="58521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Bonus: a prompt-injection string planted in #general is quarantined by the sanitiser before composition.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Every answer ships with its own receipts</a:t>
            </a:r>
            <a:endParaRPr lang="en-US" sz="2800" dirty="0"/>
          </a:p>
        </p:txBody>
      </p:sp>
      <p:sp>
        <p:nvSpPr>
          <p:cNvPr id="3" name="answer-card-239"/>
          <p:cNvSpPr/>
          <p:nvPr/>
        </p:nvSpPr>
        <p:spPr>
          <a:xfrm>
            <a:off x="548640" y="1371600"/>
            <a:ext cx="5394960" cy="4754880"/>
          </a:xfrm>
          <a:prstGeom prst="roundRect">
            <a:avLst>
              <a:gd name="adj" fmla="val 1538"/>
            </a:avLst>
          </a:prstGeom>
          <a:solidFill>
            <a:schemeClr val="bg1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F172A">
                <a:alpha val="12000"/>
              </a:srgbClr>
            </a:outerShdw>
          </a:effectLst>
        </p:spPr>
      </p:sp>
      <p:sp>
        <p:nvSpPr>
          <p:cNvPr id="4" name="text-240"/>
          <p:cNvSpPr txBox="1"/>
          <p:nvPr/>
        </p:nvSpPr>
        <p:spPr>
          <a:xfrm>
            <a:off x="822960" y="1554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i="1" dirty="0">
                <a:solidFill>
                  <a:schemeClr val="accent6"/>
                </a:solidFill>
              </a:rPr>
              <a:t>“What were the Q3 board deck revenue figures?”</a:t>
            </a:r>
            <a:endParaRPr lang="en-US" sz="1400" dirty="0"/>
          </a:p>
        </p:txBody>
      </p:sp>
      <p:sp>
        <p:nvSpPr>
          <p:cNvPr id="5" name="text-241"/>
          <p:cNvSpPr txBox="1"/>
          <p:nvPr/>
        </p:nvSpPr>
        <p:spPr>
          <a:xfrm>
            <a:off x="822960" y="20116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Q3 2026 revenue was SGD 48.6 million, up 18% year on year </a:t>
            </a:r>
            <a:pPr algn="l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[1]</a:t>
            </a:r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. Q4 guidance is SGD 50 to 52 million </a:t>
            </a:r>
            <a:pPr algn="l"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[1]</a:t>
            </a:r>
            <a:pPr algn="l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.</a:t>
            </a:r>
            <a:endParaRPr lang="en-US" sz="1600" dirty="0"/>
          </a:p>
        </p:txBody>
      </p:sp>
      <p:sp>
        <p:nvSpPr>
          <p:cNvPr id="6" name="receipt-line-242"/>
          <p:cNvSpPr/>
          <p:nvPr/>
        </p:nvSpPr>
        <p:spPr>
          <a:xfrm>
            <a:off x="822960" y="3017520"/>
            <a:ext cx="4846320" cy="36576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7" name="text-243"/>
          <p:cNvSpPr txBox="1"/>
          <p:nvPr/>
        </p:nvSpPr>
        <p:spPr>
          <a:xfrm>
            <a:off x="960120" y="30175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[1]  Board deck Q3 · Google Drive · supported</a:t>
            </a:r>
            <a:endParaRPr lang="en-US" sz="1200" dirty="0"/>
          </a:p>
        </p:txBody>
      </p:sp>
      <p:sp>
        <p:nvSpPr>
          <p:cNvPr id="8" name="receipt-line-244"/>
          <p:cNvSpPr/>
          <p:nvPr/>
        </p:nvSpPr>
        <p:spPr>
          <a:xfrm>
            <a:off x="822960" y="3474720"/>
            <a:ext cx="4846320" cy="36576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9" name="text-245"/>
          <p:cNvSpPr txBox="1"/>
          <p:nvPr/>
        </p:nvSpPr>
        <p:spPr>
          <a:xfrm>
            <a:off x="960120" y="34747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Freshness: fresh · verified at source</a:t>
            </a:r>
            <a:endParaRPr lang="en-US" sz="1200" dirty="0"/>
          </a:p>
        </p:txBody>
      </p:sp>
      <p:sp>
        <p:nvSpPr>
          <p:cNvPr id="10" name="receipt-line-246"/>
          <p:cNvSpPr/>
          <p:nvPr/>
        </p:nvSpPr>
        <p:spPr>
          <a:xfrm>
            <a:off x="822960" y="3931920"/>
            <a:ext cx="4846320" cy="36576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11" name="text-247"/>
          <p:cNvSpPr txBox="1"/>
          <p:nvPr/>
        </p:nvSpPr>
        <p:spPr>
          <a:xfrm>
            <a:off x="960120" y="3931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Grounded: 2/2 claims supported</a:t>
            </a:r>
            <a:endParaRPr lang="en-US" sz="1200" dirty="0"/>
          </a:p>
        </p:txBody>
      </p:sp>
      <p:sp>
        <p:nvSpPr>
          <p:cNvPr id="12" name="receipt-line-248"/>
          <p:cNvSpPr/>
          <p:nvPr/>
        </p:nvSpPr>
        <p:spPr>
          <a:xfrm>
            <a:off x="822960" y="4389120"/>
            <a:ext cx="4846320" cy="36576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13" name="text-249"/>
          <p:cNvSpPr txBox="1"/>
          <p:nvPr/>
        </p:nvSpPr>
        <p:spPr>
          <a:xfrm>
            <a:off x="960120" y="43891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Access: allowed count only, no denials shown</a:t>
            </a:r>
            <a:endParaRPr lang="en-US" sz="1200" dirty="0"/>
          </a:p>
        </p:txBody>
      </p:sp>
      <p:sp>
        <p:nvSpPr>
          <p:cNvPr id="14" name="receipt-line-250"/>
          <p:cNvSpPr/>
          <p:nvPr/>
        </p:nvSpPr>
        <p:spPr>
          <a:xfrm>
            <a:off x="822960" y="4846320"/>
            <a:ext cx="4846320" cy="36576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/>
        </p:spPr>
      </p:sp>
      <p:sp>
        <p:nvSpPr>
          <p:cNvPr id="15" name="text-251"/>
          <p:cNvSpPr txBox="1"/>
          <p:nvPr/>
        </p:nvSpPr>
        <p:spPr>
          <a:xfrm>
            <a:off x="960120" y="48463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Audit event a3f9…  ·  chain verified</a:t>
            </a:r>
            <a:endParaRPr lang="en-US" sz="1200" dirty="0"/>
          </a:p>
        </p:txBody>
      </p:sp>
      <p:sp>
        <p:nvSpPr>
          <p:cNvPr id="16" name="text-252"/>
          <p:cNvSpPr txBox="1"/>
          <p:nvPr/>
        </p:nvSpPr>
        <p:spPr>
          <a:xfrm>
            <a:off x="822960" y="56692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Illustrative layout; values from the synthetic demo corpus.</a:t>
            </a:r>
            <a:endParaRPr lang="en-US" sz="1000" dirty="0"/>
          </a:p>
        </p:txBody>
      </p:sp>
      <p:sp>
        <p:nvSpPr>
          <p:cNvPr id="17" name="num-253"/>
          <p:cNvSpPr txBox="1"/>
          <p:nvPr/>
        </p:nvSpPr>
        <p:spPr>
          <a:xfrm>
            <a:off x="6355080" y="1444752"/>
            <a:ext cx="384048" cy="384048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8" name="text-254"/>
          <p:cNvSpPr txBox="1"/>
          <p:nvPr/>
        </p:nvSpPr>
        <p:spPr>
          <a:xfrm>
            <a:off x="6903720" y="137160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Claim-level citations</a:t>
            </a:r>
            <a:endParaRPr lang="en-US" sz="1600" dirty="0"/>
          </a:p>
        </p:txBody>
      </p:sp>
      <p:sp>
        <p:nvSpPr>
          <p:cNvPr id="19" name="text-255"/>
          <p:cNvSpPr txBox="1"/>
          <p:nvPr/>
        </p:nvSpPr>
        <p:spPr>
          <a:xfrm>
            <a:off x="6903720" y="1700784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Each claim links to the quoted span and the source document, issue, message or file.</a:t>
            </a:r>
            <a:endParaRPr lang="en-US" sz="1250" dirty="0"/>
          </a:p>
        </p:txBody>
      </p:sp>
      <p:sp>
        <p:nvSpPr>
          <p:cNvPr id="20" name="num-256"/>
          <p:cNvSpPr txBox="1"/>
          <p:nvPr/>
        </p:nvSpPr>
        <p:spPr>
          <a:xfrm>
            <a:off x="6355080" y="2395728"/>
            <a:ext cx="384048" cy="384048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1" name="text-257"/>
          <p:cNvSpPr txBox="1"/>
          <p:nvPr/>
        </p:nvSpPr>
        <p:spPr>
          <a:xfrm>
            <a:off x="6903720" y="232257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Freshness receipt</a:t>
            </a:r>
            <a:endParaRPr lang="en-US" sz="1600" dirty="0"/>
          </a:p>
        </p:txBody>
      </p:sp>
      <p:sp>
        <p:nvSpPr>
          <p:cNvPr id="22" name="text-258"/>
          <p:cNvSpPr txBox="1"/>
          <p:nvPr/>
        </p:nvSpPr>
        <p:spPr>
          <a:xfrm>
            <a:off x="6903720" y="26517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Per-document status. Critical evidence is live-verified; stale items are omitted and flagged.</a:t>
            </a:r>
            <a:endParaRPr lang="en-US" sz="1250" dirty="0"/>
          </a:p>
        </p:txBody>
      </p:sp>
      <p:sp>
        <p:nvSpPr>
          <p:cNvPr id="23" name="num-259"/>
          <p:cNvSpPr txBox="1"/>
          <p:nvPr/>
        </p:nvSpPr>
        <p:spPr>
          <a:xfrm>
            <a:off x="6355080" y="334670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4" name="text-260"/>
          <p:cNvSpPr txBox="1"/>
          <p:nvPr/>
        </p:nvSpPr>
        <p:spPr>
          <a:xfrm>
            <a:off x="6903720" y="327355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Grounding report</a:t>
            </a:r>
            <a:endParaRPr lang="en-US" sz="1600" dirty="0"/>
          </a:p>
        </p:txBody>
      </p:sp>
      <p:sp>
        <p:nvSpPr>
          <p:cNvPr id="25" name="text-261"/>
          <p:cNvSpPr txBox="1"/>
          <p:nvPr/>
        </p:nvSpPr>
        <p:spPr>
          <a:xfrm>
            <a:off x="6903720" y="3602736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Support score per claim, overall verdict, quarantined injection evidence. Below the bar, it abstains.</a:t>
            </a:r>
            <a:endParaRPr lang="en-US" sz="1250" dirty="0"/>
          </a:p>
        </p:txBody>
      </p:sp>
      <p:sp>
        <p:nvSpPr>
          <p:cNvPr id="26" name="num-262"/>
          <p:cNvSpPr txBox="1"/>
          <p:nvPr/>
        </p:nvSpPr>
        <p:spPr>
          <a:xfrm>
            <a:off x="6355080" y="42976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text-263"/>
          <p:cNvSpPr txBox="1"/>
          <p:nvPr/>
        </p:nvSpPr>
        <p:spPr>
          <a:xfrm>
            <a:off x="6903720" y="422452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Access summary</a:t>
            </a:r>
            <a:endParaRPr lang="en-US" sz="1600" dirty="0"/>
          </a:p>
        </p:txBody>
      </p:sp>
      <p:sp>
        <p:nvSpPr>
          <p:cNvPr id="28" name="text-264"/>
          <p:cNvSpPr txBox="1"/>
          <p:nvPr/>
        </p:nvSpPr>
        <p:spPr>
          <a:xfrm>
            <a:off x="6903720" y="455371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Only the allowed count. Never denied counts, titles or reasons.</a:t>
            </a:r>
            <a:endParaRPr lang="en-US" sz="1250" dirty="0"/>
          </a:p>
        </p:txBody>
      </p:sp>
      <p:sp>
        <p:nvSpPr>
          <p:cNvPr id="29" name="num-265"/>
          <p:cNvSpPr txBox="1"/>
          <p:nvPr/>
        </p:nvSpPr>
        <p:spPr>
          <a:xfrm>
            <a:off x="6355080" y="5248656"/>
            <a:ext cx="384048" cy="384048"/>
          </a:xfrm>
          <a:prstGeom prst="ellipse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0" name="text-266"/>
          <p:cNvSpPr txBox="1"/>
          <p:nvPr/>
        </p:nvSpPr>
        <p:spPr>
          <a:xfrm>
            <a:off x="6903720" y="517550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Audit ID</a:t>
            </a:r>
            <a:endParaRPr lang="en-US" sz="1600" dirty="0"/>
          </a:p>
        </p:txBody>
      </p:sp>
      <p:sp>
        <p:nvSpPr>
          <p:cNvPr id="31" name="text-267"/>
          <p:cNvSpPr txBox="1"/>
          <p:nvPr/>
        </p:nvSpPr>
        <p:spPr>
          <a:xfrm>
            <a:off x="6903720" y="550468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Opens the hash-chained record a compliance officer can replay.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Design trade-offs we chose deliberately</a:t>
            </a:r>
            <a:endParaRPr lang="en-US" sz="2800" dirty="0"/>
          </a:p>
        </p:txBody>
      </p:sp>
      <p:graphicFrame>
        <p:nvGraphicFramePr>
          <p:cNvPr id="11" name="tradeoff-table-2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3657600"/>
                <a:gridCol w="3657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Choice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What we gain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What we accept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Check permissions in Python after search, over-fetching 4×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Each platform's real rules, not a lossy SQL filter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6"/>
                          </a:solidFill>
                        </a:rPr>
                        <a:t>A heavily restricted user may get fewer candidates: the safe failure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Native permissions cap local grants; admins are not all-seeing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The assistant never shows more than the source would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6"/>
                          </a:solidFill>
                        </a:rPr>
                        <a:t>Approving a request cannot unlock a document the source withholds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Omit stale critical evidence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Old instructions are never presented as current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6"/>
                          </a:solidFill>
                        </a:rPr>
                        <a:t>Answers can be thinner, or abstain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Live-verify critical evidence on the ask path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Bounded freshness for what matters most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6"/>
                          </a:solidFill>
                        </a:rPr>
                        <a:t>Extra latency, capped by a verify timeout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Hash-chained audit in the same Postgres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Edits and deletions are detectable; simple to run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6"/>
                          </a:solidFill>
                        </a:rPr>
                        <a:t>No external anchor yet against a full database rewrite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Persona header in the demo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Fast to film and to test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6"/>
                          </a:solidFill>
                        </a:rPr>
                        <a:t>Spoofable; one swap point for SSO before real data</a:t>
                      </a:r>
                      <a:endParaRPr lang="en-US" sz="1300" dirty="0"/>
                    </a:p>
                  </a:txBody>
                  <a:tcPr marL="109728" marR="109728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Tested offline, built to run on Tencent Cloud</a:t>
            </a:r>
            <a:endParaRPr lang="en-US" sz="2800" dirty="0"/>
          </a:p>
        </p:txBody>
      </p:sp>
      <p:sp>
        <p:nvSpPr>
          <p:cNvPr id="3" name="text-269"/>
          <p:cNvSpPr txBox="1"/>
          <p:nvPr/>
        </p:nvSpPr>
        <p:spPr>
          <a:xfrm>
            <a:off x="548640" y="137160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555</a:t>
            </a:r>
            <a:endParaRPr lang="en-US" sz="4800" dirty="0"/>
          </a:p>
        </p:txBody>
      </p:sp>
      <p:sp>
        <p:nvSpPr>
          <p:cNvPr id="4" name="text-270"/>
          <p:cNvSpPr txBox="1"/>
          <p:nvPr/>
        </p:nvSpPr>
        <p:spPr>
          <a:xfrm>
            <a:off x="548640" y="214884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automated tests pass with no network, using mock providers and in-memory stores</a:t>
            </a:r>
            <a:endParaRPr lang="en-US" sz="1500" dirty="0"/>
          </a:p>
        </p:txBody>
      </p:sp>
      <p:sp>
        <p:nvSpPr>
          <p:cNvPr id="5" name="text-271"/>
          <p:cNvSpPr txBox="1"/>
          <p:nvPr/>
        </p:nvSpPr>
        <p:spPr>
          <a:xfrm>
            <a:off x="548640" y="29260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accent2"/>
                </a:solidFill>
              </a:rPr>
              <a:t>0</a:t>
            </a:r>
            <a:endParaRPr lang="en-US" sz="4800" dirty="0"/>
          </a:p>
        </p:txBody>
      </p:sp>
      <p:sp>
        <p:nvSpPr>
          <p:cNvPr id="6" name="text-272"/>
          <p:cNvSpPr txBox="1"/>
          <p:nvPr/>
        </p:nvSpPr>
        <p:spPr>
          <a:xfrm>
            <a:off x="548640" y="370332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restricted documents in the contractor's model context</a:t>
            </a:r>
            <a:endParaRPr lang="en-US" sz="1500" dirty="0"/>
          </a:p>
        </p:txBody>
      </p:sp>
      <p:sp>
        <p:nvSpPr>
          <p:cNvPr id="7" name="text-273"/>
          <p:cNvSpPr txBox="1"/>
          <p:nvPr/>
        </p:nvSpPr>
        <p:spPr>
          <a:xfrm>
            <a:off x="548640" y="44805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accent3"/>
                </a:solidFill>
              </a:rPr>
              <a:t>Next query</a:t>
            </a:r>
            <a:endParaRPr lang="en-US" sz="4800" dirty="0"/>
          </a:p>
        </p:txBody>
      </p:sp>
      <p:sp>
        <p:nvSpPr>
          <p:cNvPr id="8" name="text-274"/>
          <p:cNvSpPr txBox="1"/>
          <p:nvPr/>
        </p:nvSpPr>
        <p:spPr>
          <a:xfrm>
            <a:off x="548640" y="525780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revocation applies on the very next request, including saved answers</a:t>
            </a:r>
            <a:endParaRPr lang="en-US" sz="1500" dirty="0"/>
          </a:p>
        </p:txBody>
      </p:sp>
      <p:sp>
        <p:nvSpPr>
          <p:cNvPr id="9" name="stack-275"/>
          <p:cNvSpPr/>
          <p:nvPr/>
        </p:nvSpPr>
        <p:spPr>
          <a:xfrm>
            <a:off x="6263640" y="1371600"/>
            <a:ext cx="5349240" cy="4754880"/>
          </a:xfrm>
          <a:prstGeom prst="roundRect">
            <a:avLst>
              <a:gd name="adj" fmla="val 1538"/>
            </a:avLst>
          </a:prstGeom>
          <a:solidFill>
            <a:schemeClr val="bg2"/>
          </a:solidFill>
          <a:ln/>
        </p:spPr>
      </p:sp>
      <p:sp>
        <p:nvSpPr>
          <p:cNvPr id="10" name="text-276"/>
          <p:cNvSpPr txBox="1"/>
          <p:nvPr/>
        </p:nvSpPr>
        <p:spPr>
          <a:xfrm>
            <a:off x="6537960" y="15087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Stack</a:t>
            </a:r>
            <a:endParaRPr lang="en-US" sz="1800" dirty="0"/>
          </a:p>
        </p:txBody>
      </p:sp>
      <p:sp>
        <p:nvSpPr>
          <p:cNvPr id="11" name="pill-277"/>
          <p:cNvSpPr txBox="1"/>
          <p:nvPr/>
        </p:nvSpPr>
        <p:spPr>
          <a:xfrm>
            <a:off x="6537960" y="2112264"/>
            <a:ext cx="100584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Model</a:t>
            </a:r>
            <a:endParaRPr lang="en-US" sz="1100" dirty="0"/>
          </a:p>
        </p:txBody>
      </p:sp>
      <p:sp>
        <p:nvSpPr>
          <p:cNvPr id="12" name="text-278"/>
          <p:cNvSpPr txBox="1"/>
          <p:nvPr/>
        </p:nvSpPr>
        <p:spPr>
          <a:xfrm>
            <a:off x="7726680" y="2057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Tencent Cloud ADP (chat + embeddings) behind a provider factory</a:t>
            </a:r>
            <a:endParaRPr lang="en-US" sz="1350" dirty="0"/>
          </a:p>
        </p:txBody>
      </p:sp>
      <p:sp>
        <p:nvSpPr>
          <p:cNvPr id="13" name="pill-279"/>
          <p:cNvSpPr txBox="1"/>
          <p:nvPr/>
        </p:nvSpPr>
        <p:spPr>
          <a:xfrm>
            <a:off x="6537960" y="2770632"/>
            <a:ext cx="100584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API</a:t>
            </a:r>
            <a:endParaRPr lang="en-US" sz="1100" dirty="0"/>
          </a:p>
        </p:txBody>
      </p:sp>
      <p:sp>
        <p:nvSpPr>
          <p:cNvPr id="14" name="text-280"/>
          <p:cNvSpPr txBox="1"/>
          <p:nvPr/>
        </p:nvSpPr>
        <p:spPr>
          <a:xfrm>
            <a:off x="7726680" y="2715768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FastAPI + Pydantic v2; MCP server for AI agents</a:t>
            </a:r>
            <a:endParaRPr lang="en-US" sz="1350" dirty="0"/>
          </a:p>
        </p:txBody>
      </p:sp>
      <p:sp>
        <p:nvSpPr>
          <p:cNvPr id="15" name="pill-281"/>
          <p:cNvSpPr txBox="1"/>
          <p:nvPr/>
        </p:nvSpPr>
        <p:spPr>
          <a:xfrm>
            <a:off x="6537960" y="3429000"/>
            <a:ext cx="100584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Data</a:t>
            </a:r>
            <a:endParaRPr lang="en-US" sz="1100" dirty="0"/>
          </a:p>
        </p:txBody>
      </p:sp>
      <p:sp>
        <p:nvSpPr>
          <p:cNvPr id="16" name="text-282"/>
          <p:cNvSpPr txBox="1"/>
          <p:nvPr/>
        </p:nvSpPr>
        <p:spPr>
          <a:xfrm>
            <a:off x="7726680" y="337413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Postgres 16 + pgvector hybrid search</a:t>
            </a:r>
            <a:endParaRPr lang="en-US" sz="1350" dirty="0"/>
          </a:p>
        </p:txBody>
      </p:sp>
      <p:sp>
        <p:nvSpPr>
          <p:cNvPr id="17" name="pill-283"/>
          <p:cNvSpPr txBox="1"/>
          <p:nvPr/>
        </p:nvSpPr>
        <p:spPr>
          <a:xfrm>
            <a:off x="6537960" y="4087368"/>
            <a:ext cx="100584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Jobs</a:t>
            </a:r>
            <a:endParaRPr lang="en-US" sz="1100" dirty="0"/>
          </a:p>
        </p:txBody>
      </p:sp>
      <p:sp>
        <p:nvSpPr>
          <p:cNvPr id="18" name="text-284"/>
          <p:cNvSpPr txBox="1"/>
          <p:nvPr/>
        </p:nvSpPr>
        <p:spPr>
          <a:xfrm>
            <a:off x="7726680" y="403250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Redis + Celery: ingest, sync, verify, watchdog</a:t>
            </a:r>
            <a:endParaRPr lang="en-US" sz="1350" dirty="0"/>
          </a:p>
        </p:txBody>
      </p:sp>
      <p:sp>
        <p:nvSpPr>
          <p:cNvPr id="19" name="pill-285"/>
          <p:cNvSpPr txBox="1"/>
          <p:nvPr/>
        </p:nvSpPr>
        <p:spPr>
          <a:xfrm>
            <a:off x="6537960" y="4745736"/>
            <a:ext cx="100584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Web</a:t>
            </a:r>
            <a:endParaRPr lang="en-US" sz="1100" dirty="0"/>
          </a:p>
        </p:txBody>
      </p:sp>
      <p:sp>
        <p:nvSpPr>
          <p:cNvPr id="20" name="text-286"/>
          <p:cNvSpPr txBox="1"/>
          <p:nvPr/>
        </p:nvSpPr>
        <p:spPr>
          <a:xfrm>
            <a:off x="7726680" y="469087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Next.js 15 + Tailwind</a:t>
            </a:r>
            <a:endParaRPr lang="en-US" sz="1350" dirty="0"/>
          </a:p>
        </p:txBody>
      </p:sp>
      <p:sp>
        <p:nvSpPr>
          <p:cNvPr id="21" name="pill-287"/>
          <p:cNvSpPr txBox="1"/>
          <p:nvPr/>
        </p:nvSpPr>
        <p:spPr>
          <a:xfrm>
            <a:off x="6537960" y="5404104"/>
            <a:ext cx="100584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Deploy</a:t>
            </a:r>
            <a:endParaRPr lang="en-US" sz="1100" dirty="0"/>
          </a:p>
        </p:txBody>
      </p:sp>
      <p:sp>
        <p:nvSpPr>
          <p:cNvPr id="22" name="text-288"/>
          <p:cNvSpPr txBox="1"/>
          <p:nvPr/>
        </p:nvSpPr>
        <p:spPr>
          <a:xfrm>
            <a:off x="7726680" y="53492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chemeClr val="tx1"/>
                </a:solidFill>
              </a:rPr>
              <a:t>One Docker Compose stack on a Tencent Cloud server</a:t>
            </a:r>
            <a:endParaRPr lang="en-US" sz="1350" dirty="0"/>
          </a:p>
        </p:txBody>
      </p:sp>
      <p:sp>
        <p:nvSpPr>
          <p:cNvPr id="23" name="text-289"/>
          <p:cNvSpPr txBox="1"/>
          <p:nvPr/>
        </p:nvSpPr>
        <p:spPr>
          <a:xfrm>
            <a:off x="54864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chemeClr val="accent6"/>
                </a:solidFill>
              </a:rPr>
              <a:t>Test count: access-control v2 plus the saved-answer fix, 13 Oct 2026 (11 SQL tests run separately against Postgres).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6304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Ask anything. See only what you are allowed to. Prove every answer.</a:t>
            </a:r>
            <a:endParaRPr lang="en-US" sz="4000" dirty="0"/>
          </a:p>
        </p:txBody>
      </p:sp>
      <p:sp>
        <p:nvSpPr>
          <p:cNvPr id="3" name="icon-bg-290"/>
          <p:cNvSpPr/>
          <p:nvPr/>
        </p:nvSpPr>
        <p:spPr>
          <a:xfrm>
            <a:off x="640080" y="34290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icon-29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014" y="3589934"/>
            <a:ext cx="409651" cy="409651"/>
          </a:xfrm>
          <a:prstGeom prst="rect">
            <a:avLst/>
          </a:prstGeom>
        </p:spPr>
      </p:pic>
      <p:sp>
        <p:nvSpPr>
          <p:cNvPr id="5" name="text-292"/>
          <p:cNvSpPr txBox="1"/>
          <p:nvPr/>
        </p:nvSpPr>
        <p:spPr>
          <a:xfrm>
            <a:off x="1508760" y="34290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Permitted</a:t>
            </a:r>
            <a:endParaRPr lang="en-US" sz="2000" dirty="0"/>
          </a:p>
        </p:txBody>
      </p:sp>
      <p:sp>
        <p:nvSpPr>
          <p:cNvPr id="6" name="icon-bg-293"/>
          <p:cNvSpPr/>
          <p:nvPr/>
        </p:nvSpPr>
        <p:spPr>
          <a:xfrm>
            <a:off x="3291840" y="342900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7" name="icon-29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2774" y="3589934"/>
            <a:ext cx="409651" cy="409651"/>
          </a:xfrm>
          <a:prstGeom prst="rect">
            <a:avLst/>
          </a:prstGeom>
        </p:spPr>
      </p:pic>
      <p:sp>
        <p:nvSpPr>
          <p:cNvPr id="8" name="text-295"/>
          <p:cNvSpPr txBox="1"/>
          <p:nvPr/>
        </p:nvSpPr>
        <p:spPr>
          <a:xfrm>
            <a:off x="4160520" y="34290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Fresh</a:t>
            </a:r>
            <a:endParaRPr lang="en-US" sz="2000" dirty="0"/>
          </a:p>
        </p:txBody>
      </p:sp>
      <p:sp>
        <p:nvSpPr>
          <p:cNvPr id="9" name="icon-bg-296"/>
          <p:cNvSpPr/>
          <p:nvPr/>
        </p:nvSpPr>
        <p:spPr>
          <a:xfrm>
            <a:off x="5943600" y="342900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icon-29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4534" y="3589934"/>
            <a:ext cx="409651" cy="409651"/>
          </a:xfrm>
          <a:prstGeom prst="rect">
            <a:avLst/>
          </a:prstGeom>
        </p:spPr>
      </p:pic>
      <p:sp>
        <p:nvSpPr>
          <p:cNvPr id="11" name="text-298"/>
          <p:cNvSpPr txBox="1"/>
          <p:nvPr/>
        </p:nvSpPr>
        <p:spPr>
          <a:xfrm>
            <a:off x="6812280" y="34290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Grounded</a:t>
            </a:r>
            <a:endParaRPr lang="en-US" sz="2000" dirty="0"/>
          </a:p>
        </p:txBody>
      </p:sp>
      <p:sp>
        <p:nvSpPr>
          <p:cNvPr id="12" name="icon-bg-299"/>
          <p:cNvSpPr/>
          <p:nvPr/>
        </p:nvSpPr>
        <p:spPr>
          <a:xfrm>
            <a:off x="8595360" y="342900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3" name="icon-30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6294" y="3589934"/>
            <a:ext cx="409651" cy="409651"/>
          </a:xfrm>
          <a:prstGeom prst="rect">
            <a:avLst/>
          </a:prstGeom>
        </p:spPr>
      </p:pic>
      <p:sp>
        <p:nvSpPr>
          <p:cNvPr id="14" name="text-301"/>
          <p:cNvSpPr txBox="1"/>
          <p:nvPr/>
        </p:nvSpPr>
        <p:spPr>
          <a:xfrm>
            <a:off x="9464040" y="34290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Audited</a:t>
            </a:r>
            <a:endParaRPr lang="en-US" sz="2000" dirty="0"/>
          </a:p>
        </p:txBody>
      </p:sp>
      <p:sp>
        <p:nvSpPr>
          <p:cNvPr id="15" name="text-302"/>
          <p:cNvSpPr txBox="1"/>
          <p:nvPr/>
        </p:nvSpPr>
        <p:spPr>
          <a:xfrm>
            <a:off x="640080" y="4937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C9D8EE"/>
                </a:solidFill>
              </a:rPr>
              <a:t>github.com/pavan2184/tencent-hack</a:t>
            </a:r>
            <a:endParaRPr lang="en-US" sz="1600" dirty="0"/>
          </a:p>
        </p:txBody>
      </p:sp>
      <p:sp>
        <p:nvSpPr>
          <p:cNvPr id="16" name="text-303"/>
          <p:cNvSpPr txBox="1"/>
          <p:nvPr/>
        </p:nvSpPr>
        <p:spPr>
          <a:xfrm>
            <a:off x="64008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8EE"/>
                </a:solidFill>
              </a:rPr>
              <a:t>Chai · Raphael · Pavan  ·  Tencent Cloud AI CAN DO IT Hackathon Singapore 2026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Team status, 13 Oct (internal: remove before submission)</a:t>
            </a:r>
            <a:endParaRPr lang="en-US" sz="2800" dirty="0"/>
          </a:p>
        </p:txBody>
      </p:sp>
      <p:sp>
        <p:nvSpPr>
          <p:cNvPr id="3" name="status-col-304"/>
          <p:cNvSpPr/>
          <p:nvPr/>
        </p:nvSpPr>
        <p:spPr>
          <a:xfrm>
            <a:off x="548640" y="1325880"/>
            <a:ext cx="3520440" cy="3840480"/>
          </a:xfrm>
          <a:prstGeom prst="roundRect">
            <a:avLst>
              <a:gd name="adj" fmla="val 2078"/>
            </a:avLst>
          </a:prstGeom>
          <a:solidFill>
            <a:srgbClr val="E3F5F2"/>
          </a:solidFill>
          <a:ln/>
        </p:spPr>
      </p:sp>
      <p:sp>
        <p:nvSpPr>
          <p:cNvPr id="4" name="text-305"/>
          <p:cNvSpPr txBox="1"/>
          <p:nvPr/>
        </p:nvSpPr>
        <p:spPr>
          <a:xfrm>
            <a:off x="822960" y="1508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1"/>
                </a:solidFill>
              </a:rPr>
              <a:t>Done</a:t>
            </a:r>
            <a:endParaRPr lang="en-US" sz="1900" dirty="0"/>
          </a:p>
        </p:txBody>
      </p:sp>
      <p:sp>
        <p:nvSpPr>
          <p:cNvPr id="5" name="status-list-306"/>
          <p:cNvSpPr txBox="1"/>
          <p:nvPr/>
        </p:nvSpPr>
        <p:spPr>
          <a:xfrm>
            <a:off x="822960" y="2057400"/>
            <a:ext cx="30632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Access-control library v2: native permission ceiling, fail-closed checks, Slack/Drive normalisers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Research note with primary sources for all four platforms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Saved-answer revocation fix with 6 tests (PR #6)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This deck: architecture and trust boundaries</a:t>
            </a:r>
            <a:endParaRPr lang="en-US" sz="1350" dirty="0"/>
          </a:p>
        </p:txBody>
      </p:sp>
      <p:sp>
        <p:nvSpPr>
          <p:cNvPr id="6" name="status-col-307"/>
          <p:cNvSpPr/>
          <p:nvPr/>
        </p:nvSpPr>
        <p:spPr>
          <a:xfrm>
            <a:off x="4297680" y="1325880"/>
            <a:ext cx="3520440" cy="3840480"/>
          </a:xfrm>
          <a:prstGeom prst="roundRect">
            <a:avLst>
              <a:gd name="adj" fmla="val 2078"/>
            </a:avLst>
          </a:prstGeom>
          <a:solidFill>
            <a:srgbClr val="FDF4E4"/>
          </a:solidFill>
          <a:ln/>
        </p:spPr>
      </p:sp>
      <p:sp>
        <p:nvSpPr>
          <p:cNvPr id="7" name="text-308"/>
          <p:cNvSpPr txBox="1"/>
          <p:nvPr/>
        </p:nvSpPr>
        <p:spPr>
          <a:xfrm>
            <a:off x="4572000" y="1508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3"/>
                </a:solidFill>
              </a:rPr>
              <a:t>Needs team agreement</a:t>
            </a:r>
            <a:endParaRPr lang="en-US" sz="1900" dirty="0"/>
          </a:p>
        </p:txBody>
      </p:sp>
      <p:sp>
        <p:nvSpPr>
          <p:cNvPr id="8" name="status-list-309"/>
          <p:cNvSpPr txBox="1"/>
          <p:nvPr/>
        </p:nvSpPr>
        <p:spPr>
          <a:xfrm>
            <a:off x="4572000" y="2057400"/>
            <a:ext cx="30632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Adopt v2 rules: admins no longer see everything; grants cannot widen source access (Raphael, Pavan)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Access-request approval when the source still blocks the requester (Raphael)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Wire the query-time access service into the app (Pavan)</a:t>
            </a:r>
            <a:endParaRPr lang="en-US" sz="1350" dirty="0"/>
          </a:p>
        </p:txBody>
      </p:sp>
      <p:sp>
        <p:nvSpPr>
          <p:cNvPr id="9" name="status-col-310"/>
          <p:cNvSpPr/>
          <p:nvPr/>
        </p:nvSpPr>
        <p:spPr>
          <a:xfrm>
            <a:off x="8046720" y="1325880"/>
            <a:ext cx="3520440" cy="3840480"/>
          </a:xfrm>
          <a:prstGeom prst="roundRect">
            <a:avLst>
              <a:gd name="adj" fmla="val 2078"/>
            </a:avLst>
          </a:prstGeom>
          <a:solidFill>
            <a:srgbClr val="E8F0FC"/>
          </a:solidFill>
          <a:ln/>
        </p:spPr>
      </p:sp>
      <p:sp>
        <p:nvSpPr>
          <p:cNvPr id="10" name="text-311"/>
          <p:cNvSpPr txBox="1"/>
          <p:nvPr/>
        </p:nvSpPr>
        <p:spPr>
          <a:xfrm>
            <a:off x="8321040" y="1508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chemeClr val="accent4"/>
                </a:solidFill>
              </a:rPr>
              <a:t>Next, before filming 14 Oct</a:t>
            </a:r>
            <a:endParaRPr lang="en-US" sz="1900" dirty="0"/>
          </a:p>
        </p:txBody>
      </p:sp>
      <p:sp>
        <p:nvSpPr>
          <p:cNvPr id="11" name="status-list-312"/>
          <p:cNvSpPr txBox="1"/>
          <p:nvPr/>
        </p:nvSpPr>
        <p:spPr>
          <a:xfrm>
            <a:off x="8321040" y="2057400"/>
            <a:ext cx="30632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Demo source-side revocation: remove Priya from the Drive share, sync, ask again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Signed demo sessions instead of the spoofable persona header (Raphael)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CodeBuddy / WorkBuddy screenshots: at least three (everyone)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Submit 16 Oct: URL, video, this PPT, GitHub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114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ernal Brain">
  <a:themeElements>
    <a:clrScheme name="Internal Brain">
      <a:dk1>
        <a:srgbClr val="0F172A"/>
      </a:dk1>
      <a:lt1>
        <a:srgbClr val="FFFFFF"/>
      </a:lt1>
      <a:dk2>
        <a:srgbClr val="0B2545"/>
      </a:dk2>
      <a:lt2>
        <a:srgbClr val="EEF3F8"/>
      </a:lt2>
      <a:accent1>
        <a:srgbClr val="0E9F8E"/>
      </a:accent1>
      <a:accent2>
        <a:srgbClr val="E5484D"/>
      </a:accent2>
      <a:accent3>
        <a:srgbClr val="E9A23B"/>
      </a:accent3>
      <a:accent4>
        <a:srgbClr val="2F6FDB"/>
      </a:accent4>
      <a:accent5>
        <a:srgbClr val="7C5CD6"/>
      </a:accent5>
      <a:accent6>
        <a:srgbClr val="64748B"/>
      </a:accent6>
      <a:hlink>
        <a:srgbClr val="2F6FDB"/>
      </a:hlink>
      <a:folHlink>
        <a:srgbClr val="7C5CD6"/>
      </a:folHlink>
    </a:clrScheme>
    <a:fontScheme name="Internal Brain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Internal Brain: architecture and trust boundaries</dc:title>
  <dc:subject>PptxGenJS Presentation</dc:subject>
  <dc:creator>Chai Pin Zheng</dc:creator>
  <cp:lastModifiedBy>Chai Pin Zheng</cp:lastModifiedBy>
  <cp:revision>1</cp:revision>
  <dcterms:created xsi:type="dcterms:W3CDTF">2026-10-12T16:54:47Z</dcterms:created>
  <dcterms:modified xsi:type="dcterms:W3CDTF">2026-10-12T16:54:47Z</dcterms:modified>
</cp:coreProperties>
</file>