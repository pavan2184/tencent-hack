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ory" id="{a132602a-7d26-2f69-59e5-80f0d432bef6}">
          <p14:sldIdLst>
            <p14:sldId id="256"/>
            <p14:sldId id="257"/>
            <p14:sldId id="258"/>
          </p14:sldIdLst>
        </p14:section>
        <p14:section name="Architecture" id="{092b3cbe-1720-0b7b-68e7-afb15b4d3135}">
          <p14:sldIdLst>
            <p14:sldId id="259"/>
            <p14:sldId id="260"/>
            <p14:sldId id="261"/>
          </p14:sldIdLst>
        </p14:section>
        <p14:section name="Proof" id="{bc2af1c4-466d-3b41-ad5d-03e9b7d03fbe}">
          <p14:sldIdLst>
            <p14:sldId id="262"/>
            <p14:sldId id="263"/>
            <p14:sldId id="264"/>
            <p14:sldId id="265"/>
            <p14:sldId id="266"/>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Minutes until a permission change applies</c:v>
                </c:pt>
              </c:strCache>
            </c:strRef>
          </c:tx>
          <c:spPr>
            <a:solidFill>
              <a:srgbClr val="A6A6A6"/>
            </a:solidFill>
            <a:effectLst/>
          </c:spPr>
          <c:invertIfNegative val="0"/>
          <c:dLbls>
            <c:numFmt formatCode="#,##0&quot; min&quot;" sourceLinked="0"/>
            <c:txPr>
              <a:bodyPr/>
              <a:lstStyle/>
              <a:p>
                <a:pPr>
                  <a:defRPr b="1" i="0" strike="noStrike" sz="1300" u="none">
                    <a:solidFill>
                      <a:srgbClr val="1D1D1D"/>
                    </a:solidFill>
                    <a:latin typeface="+mn-lt"/>
                  </a:defRPr>
                </a:pPr>
              </a:p>
            </c:txPr>
            <c:showLegendKey val="0"/>
            <c:showVal val="1"/>
            <c:showCatName val="0"/>
            <c:showSerName val="0"/>
            <c:showPercent val="0"/>
            <c:showBubbleSize val="0"/>
            <c:showLeaderLines val="0"/>
          </c:dLbls>
          <c:dPt>
            <c:idx val="0"/>
            <c:invertIfNegative val="0"/>
            <c:bubble3D val="0"/>
            <c:spPr>
              <a:solidFill>
                <a:srgbClr val="A6A6A6"/>
              </a:solidFill>
              <a:effectLst/>
            </c:spPr>
          </c:dPt>
          <c:dPt>
            <c:idx val="1"/>
            <c:invertIfNegative val="0"/>
            <c:bubble3D val="0"/>
            <c:spPr>
              <a:solidFill>
                <a:srgbClr val="A6A6A6"/>
              </a:solidFill>
              <a:effectLst/>
            </c:spPr>
          </c:dPt>
          <c:dPt>
            <c:idx val="2"/>
            <c:invertIfNegative val="0"/>
            <c:bubble3D val="0"/>
            <c:spPr>
              <a:solidFill>
                <a:srgbClr val="A6A6A6"/>
              </a:solidFill>
              <a:effectLst/>
            </c:spPr>
          </c:dPt>
          <c:dPt>
            <c:idx val="3"/>
            <c:invertIfNegative val="0"/>
            <c:bubble3D val="0"/>
            <c:spPr>
              <a:solidFill>
                <a:srgbClr val="549F58"/>
              </a:solidFill>
              <a:effectLst/>
            </c:spPr>
          </c:dPt>
          <c:cat>
            <c:multiLvlStrRef>
              <c:f>Sheet1!$A$2:$A$5</c:f>
              <c:multiLvlStrCache>
                <c:ptCount val="4"/>
                <c:lvl>
                  <c:pt idx="0">
                    <c:v>Microsoft 365 Copilot, Confluence connector</c:v>
                  </c:pt>
                  <c:pt idx="1">
                    <c:v>Glean, Google Drive identity refresh</c:v>
                  </c:pt>
                  <c:pt idx="2">
                    <c:v>Gemini Enterprise, fastest identity sync</c:v>
                  </c:pt>
                  <c:pt idx="3">
                    <c:v>Brain Sauce, confidential documents</c:v>
                  </c:pt>
                </c:lvl>
              </c:multiLvlStrCache>
            </c:multiLvlStrRef>
          </c:cat>
          <c:val>
            <c:numRef>
              <c:f>Sheet1!$B$2:$B$5</c:f>
              <c:numCache>
                <c:formatCode>General</c:formatCode>
                <c:ptCount val="4"/>
                <c:pt idx="0">
                  <c:v>1440</c:v>
                </c:pt>
                <c:pt idx="1">
                  <c:v>60</c:v>
                </c:pt>
                <c:pt idx="2">
                  <c:v>30</c:v>
                </c:pt>
                <c:pt idx="3">
                  <c:v>5</c:v>
                </c:pt>
              </c:numCache>
            </c:numRef>
          </c:val>
        </c:ser>
        <c:dLbls>
          <c:numFmt formatCode="#,##0&quot; min&quot;" sourceLinked="0"/>
          <c:txPr>
            <a:bodyPr/>
            <a:lstStyle/>
            <a:p>
              <a:pPr>
                <a:defRPr b="1" i="0" strike="noStrike" sz="1300" u="none">
                  <a:solidFill>
                    <a:srgbClr val="1D1D1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D1D1D"/>
                </a:solidFill>
                <a:latin typeface="+mn-lt"/>
              </a:defRPr>
            </a:pPr>
            <a:endParaRPr lang="en-US"/>
          </a:p>
        </c:txPr>
        <c:crossAx val="2094734552"/>
        <c:crosses val="autoZero"/>
        <c:auto val="1"/>
        <c:lblAlgn val="ctr"/>
        <c:noMultiLvlLbl val="1"/>
      </c:catAx>
      <c:valAx>
        <c:axId val="2094734552"/>
        <c:scaling>
          <c:logBase val="10"/>
          <c:orientation val="minMax"/>
          <c:max val="10000"/>
          <c:min val="1"/>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case study: Aspire's Internal Brain challenge in the FinTech track. One sentence: we answer across the four platforms, but only from evidence the asker may see, and every answer carries its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Identity is resolved by the server, never trusted from the client. Search over-fetches candidates. The access gate evaluates each document against native permissions reloaded on every query. Only then does anything reach freshness checks, prompt-injection screening and the Tencent ADP model. The red line is the key trust boundary: denied text never crosses it. Verification drops unsupported claims; one hash-chained audit event records the whole decision trail. Precision for questions: ingestion does embed every document so search works, so the embedding provider processes all content and the vector store is protected like the source data. The gate protects the language model that writes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did not invent a new access model: the foundation is the one Glean, Microsoft and Google document. What we add is accountability: saved answers re-checked, every allow and deny logged in a tamper-evident chain, and a hard five-minute limit on stale permissions. Sources: Glean docs (security principles, crawl refresh rates), Microsoft Learn (Confluence Cloud connector, Purview Copilot audit), Google Cloud (Gemini Enterprise connectors), AWS Amazon Q Business connector concepts.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17320"/>
            <a:ext cx="7863840" cy="1097280"/>
          </a:xfrm>
          <a:prstGeom prst="rect">
            <a:avLst/>
          </a:prstGeom>
          <a:noFill/>
          <a:ln/>
        </p:spPr>
        <p:txBody>
          <a:bodyPr wrap="square" rtlCol="0"/>
          <a:lstStyle>
            <a:lvl1pPr algn="l" indent="0" marL="0">
              <a:buNone/>
              <a:defRPr lang="en-US" sz="6000" b="1" dirty="0">
                <a:solidFill>
                  <a:schemeClr val="tx2"/>
                </a:solidFill>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2600" b="1" dirty="0">
                <a:solidFill>
                  <a:schemeClr val="tx2"/>
                </a:solidFill>
              </a:defRPr>
            </a:lvl1pPr>
          </a:lstStyle>
          <a:p>
            <a:pPr algn="l" indent="0" marL="0">
              <a:buNone/>
            </a:pPr>
            <a:endParaRPr lang="en-US" sz="2600" dirty="0"/>
          </a:p>
        </p:txBody>
      </p:sp>
      <p:sp>
        <p:nvSpPr>
          <p:cNvPr id="3" name="Text 0"/>
          <p:cNvSpPr/>
          <p:nvPr/>
        </p:nvSpPr>
        <p:spPr>
          <a:xfrm>
            <a:off x="548640" y="6400800"/>
            <a:ext cx="9601200" cy="274320"/>
          </a:xfrm>
          <a:prstGeom prst="rect">
            <a:avLst/>
          </a:prstGeom>
          <a:noFill/>
          <a:ln/>
        </p:spPr>
        <p:txBody>
          <a:bodyPr wrap="square" lIns="0" tIns="0" rIns="0" bIns="0" rtlCol="0" anchor="ctr"/>
          <a:lstStyle/>
          <a:p>
            <a:pPr indent="0" marL="0">
              <a:buNone/>
            </a:pPr>
            <a:r>
              <a:rPr lang="en-US" sz="1000" dirty="0">
                <a:solidFill>
                  <a:schemeClr val="accent6"/>
                </a:solidFill>
              </a:rPr>
              <a:t>Brain Sauce  ·  Tencent Cloud AI CAN DO IT Hackathon SG 2026  ·  FinTech track, Aspire case study</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10881360" cy="14630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3.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3.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4.xml"/><Relationship Id="rId6"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ill-1"/>
          <p:cNvSpPr txBox="1"/>
          <p:nvPr/>
        </p:nvSpPr>
        <p:spPr>
          <a:xfrm>
            <a:off x="640080" y="731520"/>
            <a:ext cx="3566160" cy="384048"/>
          </a:xfrm>
          <a:prstGeom prst="roundRect">
            <a:avLst>
              <a:gd name="adj" fmla="val 50000"/>
            </a:avLst>
          </a:prstGeom>
          <a:solidFill>
            <a:srgbClr val="EAF3EA"/>
          </a:solidFill>
          <a:ln/>
        </p:spPr>
        <p:txBody>
          <a:bodyPr wrap="square" lIns="0" tIns="0" rIns="0" bIns="0" rtlCol="0" anchor="ctr"/>
          <a:lstStyle/>
          <a:p>
            <a:pPr algn="ctr" indent="0" marL="0">
              <a:buNone/>
            </a:pPr>
            <a:r>
              <a:rPr lang="en-US" sz="1200" b="1" dirty="0">
                <a:solidFill>
                  <a:schemeClr val="accent1"/>
                </a:solidFill>
              </a:rPr>
              <a:t>FINTECH TRACK  ·  ASPIRE CASE STUDY</a:t>
            </a:r>
            <a:endParaRPr lang="en-US" sz="1200" dirty="0"/>
          </a:p>
        </p:txBody>
      </p:sp>
      <p:sp>
        <p:nvSpPr>
          <p:cNvPr id="3" name="Text 0"/>
          <p:cNvSpPr/>
          <p:nvPr>
            <p:ph idx="100" type="title" hasCustomPrompt="1"/>
          </p:nvPr>
        </p:nvSpPr>
        <p:spPr>
          <a:xfrm>
            <a:off x="640080" y="1417320"/>
            <a:ext cx="7863840" cy="1097280"/>
          </a:xfrm>
          <a:prstGeom prst="rect">
            <a:avLst/>
          </a:prstGeom>
          <a:noFill/>
          <a:ln/>
        </p:spPr>
        <p:txBody>
          <a:bodyPr wrap="square" lIns="0" tIns="0" rIns="0" bIns="0" rtlCol="0" anchor="t"/>
          <a:lstStyle/>
          <a:p>
            <a:pPr algn="l" indent="0" marL="0">
              <a:buNone/>
            </a:pPr>
            <a:r>
              <a:rPr lang="en-US" sz="6000" b="1" dirty="0">
                <a:solidFill>
                  <a:schemeClr val="tx2"/>
                </a:solidFill>
              </a:rPr>
              <a:t>Brain Sauce.</a:t>
            </a:r>
            <a:endParaRPr lang="en-US" sz="6000" dirty="0"/>
          </a:p>
        </p:txBody>
      </p:sp>
      <p:sp>
        <p:nvSpPr>
          <p:cNvPr id="4" name="text-2"/>
          <p:cNvSpPr txBox="1"/>
          <p:nvPr/>
        </p:nvSpPr>
        <p:spPr>
          <a:xfrm>
            <a:off x="640080" y="2286000"/>
            <a:ext cx="7863840" cy="914400"/>
          </a:xfrm>
          <a:prstGeom prst="rect">
            <a:avLst/>
          </a:prstGeom>
          <a:noFill/>
          <a:ln/>
        </p:spPr>
        <p:txBody>
          <a:bodyPr wrap="square" lIns="0" tIns="0" rIns="0" bIns="0" rtlCol="0" anchor="t"/>
          <a:lstStyle/>
          <a:p>
            <a:pPr algn="l" indent="0" marL="0">
              <a:buNone/>
            </a:pPr>
            <a:r>
              <a:rPr lang="en-US" sz="5400" b="1" dirty="0">
                <a:solidFill>
                  <a:srgbClr val="A6A6A6"/>
                </a:solidFill>
              </a:rPr>
              <a:t>Answers with receipts.</a:t>
            </a:r>
            <a:endParaRPr lang="en-US" sz="5400" dirty="0"/>
          </a:p>
        </p:txBody>
      </p:sp>
      <p:sp>
        <p:nvSpPr>
          <p:cNvPr id="5" name="text-3"/>
          <p:cNvSpPr txBox="1"/>
          <p:nvPr/>
        </p:nvSpPr>
        <p:spPr>
          <a:xfrm>
            <a:off x="640080" y="3520440"/>
            <a:ext cx="6766560" cy="914400"/>
          </a:xfrm>
          <a:prstGeom prst="rect">
            <a:avLst/>
          </a:prstGeom>
          <a:noFill/>
          <a:ln/>
        </p:spPr>
        <p:txBody>
          <a:bodyPr wrap="square" lIns="0" tIns="0" rIns="0" bIns="0" rtlCol="0" anchor="t"/>
          <a:lstStyle/>
          <a:p>
            <a:pPr algn="l" indent="0" marL="0">
              <a:buNone/>
            </a:pPr>
            <a:r>
              <a:rPr lang="en-US" sz="1800" dirty="0">
                <a:solidFill>
                  <a:srgbClr val="666666"/>
                </a:solidFill>
              </a:rPr>
              <a:t>Ask one question across Confluence, Jira, Slack and Google Drive. Get an answer built only from what you are allowed to see, with the proof attached.</a:t>
            </a:r>
            <a:endParaRPr lang="en-US" sz="1800" dirty="0"/>
          </a:p>
        </p:txBody>
      </p:sp>
      <p:sp>
        <p:nvSpPr>
          <p:cNvPr id="6" name="text-4"/>
          <p:cNvSpPr txBox="1"/>
          <p:nvPr/>
        </p:nvSpPr>
        <p:spPr>
          <a:xfrm>
            <a:off x="640080" y="4572000"/>
            <a:ext cx="6766560" cy="640080"/>
          </a:xfrm>
          <a:prstGeom prst="rect">
            <a:avLst/>
          </a:prstGeom>
          <a:noFill/>
          <a:ln/>
        </p:spPr>
        <p:txBody>
          <a:bodyPr wrap="square" lIns="0" tIns="0" rIns="0" bIns="0" rtlCol="0" anchor="t"/>
          <a:lstStyle/>
          <a:p>
            <a:pPr algn="l" indent="0" marL="0">
              <a:buNone/>
            </a:pPr>
            <a:r>
              <a:rPr lang="en-US" sz="1300" b="1" dirty="0">
                <a:solidFill>
                  <a:schemeClr val="tx2"/>
                </a:solidFill>
              </a:rPr>
              <a:t>Challenge: </a:t>
            </a:r>
            <a:pPr algn="l" indent="0" marL="0">
              <a:buNone/>
            </a:pPr>
            <a:r>
              <a:rPr lang="en-US" sz="1300" dirty="0">
                <a:solidFill>
                  <a:srgbClr val="666666"/>
                </a:solidFill>
              </a:rPr>
              <a:t>The Internal Brain: a context-aware enterprise knowledge system with RBAC, security logging and audit trail</a:t>
            </a:r>
            <a:endParaRPr lang="en-US" sz="1300" dirty="0"/>
          </a:p>
        </p:txBody>
      </p:sp>
      <p:sp>
        <p:nvSpPr>
          <p:cNvPr id="7" name="text-5"/>
          <p:cNvSpPr txBox="1"/>
          <p:nvPr/>
        </p:nvSpPr>
        <p:spPr>
          <a:xfrm>
            <a:off x="640080" y="6035040"/>
            <a:ext cx="10515600" cy="320040"/>
          </a:xfrm>
          <a:prstGeom prst="rect">
            <a:avLst/>
          </a:prstGeom>
          <a:noFill/>
          <a:ln/>
        </p:spPr>
        <p:txBody>
          <a:bodyPr wrap="square" lIns="0" tIns="0" rIns="0" bIns="0" rtlCol="0" anchor="t"/>
          <a:lstStyle/>
          <a:p>
            <a:pPr algn="l" indent="0" marL="0">
              <a:buNone/>
            </a:pPr>
            <a:r>
              <a:rPr lang="en-US" sz="1200" dirty="0">
                <a:solidFill>
                  <a:schemeClr val="accent6"/>
                </a:solidFill>
              </a:rPr>
              <a:t>Team: Chai · Raphael · Pavan     |     Tencent Cloud AI CAN DO IT Hackathon Singapore 2026</a:t>
            </a:r>
            <a:endParaRPr lang="en-US" sz="1200" dirty="0"/>
          </a:p>
        </p:txBody>
      </p:sp>
      <p:sp>
        <p:nvSpPr>
          <p:cNvPr id="8" name="icon-bg-6"/>
          <p:cNvSpPr/>
          <p:nvPr/>
        </p:nvSpPr>
        <p:spPr>
          <a:xfrm>
            <a:off x="8366760" y="914400"/>
            <a:ext cx="731520" cy="731520"/>
          </a:xfrm>
          <a:prstGeom prst="ellipse">
            <a:avLst/>
          </a:prstGeom>
          <a:solidFill>
            <a:schemeClr val="bg2"/>
          </a:solidFill>
          <a:ln/>
        </p:spPr>
      </p:sp>
      <p:pic>
        <p:nvPicPr>
          <p:cNvPr id="9" name="icon-7" descr="preencoded.png">    </p:cNvPr>
          <p:cNvPicPr>
            <a:picLocks noChangeAspect="1"/>
          </p:cNvPicPr>
          <p:nvPr/>
        </p:nvPicPr>
        <p:blipFill>
          <a:blip r:embed="rId1"/>
          <a:stretch>
            <a:fillRect/>
          </a:stretch>
        </p:blipFill>
        <p:spPr>
          <a:xfrm>
            <a:off x="8527694" y="1075334"/>
            <a:ext cx="409651" cy="409651"/>
          </a:xfrm>
          <a:prstGeom prst="rect">
            <a:avLst/>
          </a:prstGeom>
        </p:spPr>
      </p:pic>
      <p:sp>
        <p:nvSpPr>
          <p:cNvPr id="10" name="text-8"/>
          <p:cNvSpPr txBox="1"/>
          <p:nvPr/>
        </p:nvSpPr>
        <p:spPr>
          <a:xfrm>
            <a:off x="8183880" y="1682496"/>
            <a:ext cx="1097280" cy="256032"/>
          </a:xfrm>
          <a:prstGeom prst="rect">
            <a:avLst/>
          </a:prstGeom>
          <a:noFill/>
          <a:ln/>
        </p:spPr>
        <p:txBody>
          <a:bodyPr wrap="square" lIns="0" tIns="0" rIns="0" bIns="0" rtlCol="0" anchor="t"/>
          <a:lstStyle/>
          <a:p>
            <a:pPr algn="ctr" indent="0" marL="0">
              <a:buNone/>
            </a:pPr>
            <a:r>
              <a:rPr lang="en-US" sz="1100" dirty="0">
                <a:solidFill>
                  <a:schemeClr val="accent6"/>
                </a:solidFill>
              </a:rPr>
              <a:t>Confluence</a:t>
            </a:r>
            <a:endParaRPr lang="en-US" sz="1100" dirty="0"/>
          </a:p>
        </p:txBody>
      </p:sp>
      <p:sp>
        <p:nvSpPr>
          <p:cNvPr id="11" name="arrow-9"/>
          <p:cNvSpPr/>
          <p:nvPr/>
        </p:nvSpPr>
        <p:spPr>
          <a:xfrm>
            <a:off x="9189720" y="1280160"/>
            <a:ext cx="868680" cy="1554480"/>
          </a:xfrm>
          <a:prstGeom prst="line">
            <a:avLst/>
          </a:prstGeom>
          <a:noFill/>
          <a:ln w="15875">
            <a:solidFill>
              <a:srgbClr val="D7D7D7"/>
            </a:solidFill>
            <a:prstDash val="solid"/>
            <a:tailEnd type="triangle"/>
          </a:ln>
        </p:spPr>
      </p:sp>
      <p:sp>
        <p:nvSpPr>
          <p:cNvPr id="12" name="icon-bg-10"/>
          <p:cNvSpPr/>
          <p:nvPr/>
        </p:nvSpPr>
        <p:spPr>
          <a:xfrm>
            <a:off x="8366760" y="1993392"/>
            <a:ext cx="731520" cy="731520"/>
          </a:xfrm>
          <a:prstGeom prst="ellipse">
            <a:avLst/>
          </a:prstGeom>
          <a:solidFill>
            <a:schemeClr val="bg2"/>
          </a:solidFill>
          <a:ln/>
        </p:spPr>
      </p:sp>
      <p:pic>
        <p:nvPicPr>
          <p:cNvPr id="13" name="icon-11" descr="preencoded.png">    </p:cNvPr>
          <p:cNvPicPr>
            <a:picLocks noChangeAspect="1"/>
          </p:cNvPicPr>
          <p:nvPr/>
        </p:nvPicPr>
        <p:blipFill>
          <a:blip r:embed="rId2"/>
          <a:stretch>
            <a:fillRect/>
          </a:stretch>
        </p:blipFill>
        <p:spPr>
          <a:xfrm>
            <a:off x="8527694" y="2154326"/>
            <a:ext cx="409651" cy="409651"/>
          </a:xfrm>
          <a:prstGeom prst="rect">
            <a:avLst/>
          </a:prstGeom>
        </p:spPr>
      </p:pic>
      <p:sp>
        <p:nvSpPr>
          <p:cNvPr id="14" name="text-12"/>
          <p:cNvSpPr txBox="1"/>
          <p:nvPr/>
        </p:nvSpPr>
        <p:spPr>
          <a:xfrm>
            <a:off x="8183880" y="2761488"/>
            <a:ext cx="1097280" cy="256032"/>
          </a:xfrm>
          <a:prstGeom prst="rect">
            <a:avLst/>
          </a:prstGeom>
          <a:noFill/>
          <a:ln/>
        </p:spPr>
        <p:txBody>
          <a:bodyPr wrap="square" lIns="0" tIns="0" rIns="0" bIns="0" rtlCol="0" anchor="t"/>
          <a:lstStyle/>
          <a:p>
            <a:pPr algn="ctr" indent="0" marL="0">
              <a:buNone/>
            </a:pPr>
            <a:r>
              <a:rPr lang="en-US" sz="1100" dirty="0">
                <a:solidFill>
                  <a:schemeClr val="accent6"/>
                </a:solidFill>
              </a:rPr>
              <a:t>Jira</a:t>
            </a:r>
            <a:endParaRPr lang="en-US" sz="1100" dirty="0"/>
          </a:p>
        </p:txBody>
      </p:sp>
      <p:sp>
        <p:nvSpPr>
          <p:cNvPr id="15" name="arrow-13"/>
          <p:cNvSpPr/>
          <p:nvPr/>
        </p:nvSpPr>
        <p:spPr>
          <a:xfrm>
            <a:off x="9189720" y="2359152"/>
            <a:ext cx="868680" cy="475488"/>
          </a:xfrm>
          <a:prstGeom prst="line">
            <a:avLst/>
          </a:prstGeom>
          <a:noFill/>
          <a:ln w="15875">
            <a:solidFill>
              <a:srgbClr val="D7D7D7"/>
            </a:solidFill>
            <a:prstDash val="solid"/>
            <a:tailEnd type="triangle"/>
          </a:ln>
        </p:spPr>
      </p:sp>
      <p:sp>
        <p:nvSpPr>
          <p:cNvPr id="16" name="icon-bg-14"/>
          <p:cNvSpPr/>
          <p:nvPr/>
        </p:nvSpPr>
        <p:spPr>
          <a:xfrm>
            <a:off x="8366760" y="3072384"/>
            <a:ext cx="731520" cy="731520"/>
          </a:xfrm>
          <a:prstGeom prst="ellipse">
            <a:avLst/>
          </a:prstGeom>
          <a:solidFill>
            <a:schemeClr val="bg2"/>
          </a:solidFill>
          <a:ln/>
        </p:spPr>
      </p:sp>
      <p:pic>
        <p:nvPicPr>
          <p:cNvPr id="17" name="icon-15" descr="preencoded.png">    </p:cNvPr>
          <p:cNvPicPr>
            <a:picLocks noChangeAspect="1"/>
          </p:cNvPicPr>
          <p:nvPr/>
        </p:nvPicPr>
        <p:blipFill>
          <a:blip r:embed="rId3"/>
          <a:stretch>
            <a:fillRect/>
          </a:stretch>
        </p:blipFill>
        <p:spPr>
          <a:xfrm>
            <a:off x="8527694" y="3233318"/>
            <a:ext cx="409651" cy="409651"/>
          </a:xfrm>
          <a:prstGeom prst="rect">
            <a:avLst/>
          </a:prstGeom>
        </p:spPr>
      </p:pic>
      <p:sp>
        <p:nvSpPr>
          <p:cNvPr id="18" name="text-16"/>
          <p:cNvSpPr txBox="1"/>
          <p:nvPr/>
        </p:nvSpPr>
        <p:spPr>
          <a:xfrm>
            <a:off x="8183880" y="3840480"/>
            <a:ext cx="1097280" cy="256032"/>
          </a:xfrm>
          <a:prstGeom prst="rect">
            <a:avLst/>
          </a:prstGeom>
          <a:noFill/>
          <a:ln/>
        </p:spPr>
        <p:txBody>
          <a:bodyPr wrap="square" lIns="0" tIns="0" rIns="0" bIns="0" rtlCol="0" anchor="t"/>
          <a:lstStyle/>
          <a:p>
            <a:pPr algn="ctr" indent="0" marL="0">
              <a:buNone/>
            </a:pPr>
            <a:r>
              <a:rPr lang="en-US" sz="1100" dirty="0">
                <a:solidFill>
                  <a:schemeClr val="accent6"/>
                </a:solidFill>
              </a:rPr>
              <a:t>Slack</a:t>
            </a:r>
            <a:endParaRPr lang="en-US" sz="1100" dirty="0"/>
          </a:p>
        </p:txBody>
      </p:sp>
      <p:sp>
        <p:nvSpPr>
          <p:cNvPr id="19" name="arrow-17"/>
          <p:cNvSpPr/>
          <p:nvPr/>
        </p:nvSpPr>
        <p:spPr>
          <a:xfrm flipV="1">
            <a:off x="9189720" y="2834640"/>
            <a:ext cx="868680" cy="603504"/>
          </a:xfrm>
          <a:prstGeom prst="line">
            <a:avLst/>
          </a:prstGeom>
          <a:noFill/>
          <a:ln w="15875">
            <a:solidFill>
              <a:srgbClr val="D7D7D7"/>
            </a:solidFill>
            <a:prstDash val="solid"/>
            <a:tailEnd type="triangle"/>
          </a:ln>
        </p:spPr>
      </p:sp>
      <p:sp>
        <p:nvSpPr>
          <p:cNvPr id="20" name="icon-bg-18"/>
          <p:cNvSpPr/>
          <p:nvPr/>
        </p:nvSpPr>
        <p:spPr>
          <a:xfrm>
            <a:off x="8366760" y="4151376"/>
            <a:ext cx="731520" cy="731520"/>
          </a:xfrm>
          <a:prstGeom prst="ellipse">
            <a:avLst/>
          </a:prstGeom>
          <a:solidFill>
            <a:schemeClr val="bg2"/>
          </a:solidFill>
          <a:ln/>
        </p:spPr>
      </p:sp>
      <p:pic>
        <p:nvPicPr>
          <p:cNvPr id="21" name="icon-19" descr="preencoded.png">    </p:cNvPr>
          <p:cNvPicPr>
            <a:picLocks noChangeAspect="1"/>
          </p:cNvPicPr>
          <p:nvPr/>
        </p:nvPicPr>
        <p:blipFill>
          <a:blip r:embed="rId4"/>
          <a:stretch>
            <a:fillRect/>
          </a:stretch>
        </p:blipFill>
        <p:spPr>
          <a:xfrm>
            <a:off x="8527694" y="4312310"/>
            <a:ext cx="409651" cy="409651"/>
          </a:xfrm>
          <a:prstGeom prst="rect">
            <a:avLst/>
          </a:prstGeom>
        </p:spPr>
      </p:pic>
      <p:sp>
        <p:nvSpPr>
          <p:cNvPr id="22" name="text-20"/>
          <p:cNvSpPr txBox="1"/>
          <p:nvPr/>
        </p:nvSpPr>
        <p:spPr>
          <a:xfrm>
            <a:off x="8183880" y="4919472"/>
            <a:ext cx="1097280" cy="256032"/>
          </a:xfrm>
          <a:prstGeom prst="rect">
            <a:avLst/>
          </a:prstGeom>
          <a:noFill/>
          <a:ln/>
        </p:spPr>
        <p:txBody>
          <a:bodyPr wrap="square" lIns="0" tIns="0" rIns="0" bIns="0" rtlCol="0" anchor="t"/>
          <a:lstStyle/>
          <a:p>
            <a:pPr algn="ctr" indent="0" marL="0">
              <a:buNone/>
            </a:pPr>
            <a:r>
              <a:rPr lang="en-US" sz="1100" dirty="0">
                <a:solidFill>
                  <a:schemeClr val="accent6"/>
                </a:solidFill>
              </a:rPr>
              <a:t>Google Drive</a:t>
            </a:r>
            <a:endParaRPr lang="en-US" sz="1100" dirty="0"/>
          </a:p>
        </p:txBody>
      </p:sp>
      <p:sp>
        <p:nvSpPr>
          <p:cNvPr id="23" name="arrow-21"/>
          <p:cNvSpPr/>
          <p:nvPr/>
        </p:nvSpPr>
        <p:spPr>
          <a:xfrm flipV="1">
            <a:off x="9189720" y="2834640"/>
            <a:ext cx="868680" cy="1682496"/>
          </a:xfrm>
          <a:prstGeom prst="line">
            <a:avLst/>
          </a:prstGeom>
          <a:noFill/>
          <a:ln w="15875">
            <a:solidFill>
              <a:srgbClr val="D7D7D7"/>
            </a:solidFill>
            <a:prstDash val="solid"/>
            <a:tailEnd type="triangle"/>
          </a:ln>
        </p:spPr>
      </p:sp>
      <p:sp>
        <p:nvSpPr>
          <p:cNvPr id="24" name="icon-bg-22"/>
          <p:cNvSpPr/>
          <p:nvPr/>
        </p:nvSpPr>
        <p:spPr>
          <a:xfrm>
            <a:off x="10104120" y="2377440"/>
            <a:ext cx="1005840" cy="1005840"/>
          </a:xfrm>
          <a:prstGeom prst="ellipse">
            <a:avLst/>
          </a:prstGeom>
          <a:solidFill>
            <a:srgbClr val="549F58"/>
          </a:solidFill>
          <a:ln/>
        </p:spPr>
      </p:sp>
      <p:pic>
        <p:nvPicPr>
          <p:cNvPr id="25" name="icon-23" descr="preencoded.png">    </p:cNvPr>
          <p:cNvPicPr>
            <a:picLocks noChangeAspect="1"/>
          </p:cNvPicPr>
          <p:nvPr/>
        </p:nvPicPr>
        <p:blipFill>
          <a:blip r:embed="rId5"/>
          <a:stretch>
            <a:fillRect/>
          </a:stretch>
        </p:blipFill>
        <p:spPr>
          <a:xfrm>
            <a:off x="10345522" y="2618842"/>
            <a:ext cx="523037" cy="523037"/>
          </a:xfrm>
          <a:prstGeom prst="rect">
            <a:avLst/>
          </a:prstGeom>
        </p:spPr>
      </p:pic>
      <p:sp>
        <p:nvSpPr>
          <p:cNvPr id="26" name="text-24"/>
          <p:cNvSpPr txBox="1"/>
          <p:nvPr/>
        </p:nvSpPr>
        <p:spPr>
          <a:xfrm>
            <a:off x="9784080" y="3474720"/>
            <a:ext cx="1645920" cy="274320"/>
          </a:xfrm>
          <a:prstGeom prst="rect">
            <a:avLst/>
          </a:prstGeom>
          <a:noFill/>
          <a:ln/>
        </p:spPr>
        <p:txBody>
          <a:bodyPr wrap="square" lIns="0" tIns="0" rIns="0" bIns="0" rtlCol="0" anchor="t"/>
          <a:lstStyle/>
          <a:p>
            <a:pPr algn="ctr" indent="0" marL="0">
              <a:buNone/>
            </a:pPr>
            <a:r>
              <a:rPr lang="en-US" sz="1200" b="1" dirty="0">
                <a:solidFill>
                  <a:schemeClr val="tx2"/>
                </a:solidFill>
              </a:rPr>
              <a:t>Governed answer</a:t>
            </a:r>
            <a:endParaRPr lang="en-US" sz="1200" dirty="0"/>
          </a:p>
        </p:txBody>
      </p:sp>
      <p:sp>
        <p:nvSpPr>
          <p:cNvPr id="27" name="text-25"/>
          <p:cNvSpPr txBox="1"/>
          <p:nvPr/>
        </p:nvSpPr>
        <p:spPr>
          <a:xfrm>
            <a:off x="9509760" y="3749040"/>
            <a:ext cx="2194560" cy="274320"/>
          </a:xfrm>
          <a:prstGeom prst="rect">
            <a:avLst/>
          </a:prstGeom>
          <a:noFill/>
          <a:ln/>
        </p:spPr>
        <p:txBody>
          <a:bodyPr wrap="square" lIns="0" tIns="0" rIns="0" bIns="0" rtlCol="0" anchor="t"/>
          <a:lstStyle/>
          <a:p>
            <a:pPr algn="ctr" indent="0" marL="0">
              <a:buNone/>
            </a:pPr>
            <a:r>
              <a:rPr lang="en-US" sz="1000" dirty="0">
                <a:solidFill>
                  <a:schemeClr val="accent6"/>
                </a:solidFill>
              </a:rPr>
              <a:t>permitted · fresh · grounded · audited</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A chatbot on top of search fails a fintech</a:t>
            </a:r>
            <a:pPr algn="l" indent="0" marL="0">
              <a:buNone/>
            </a:pPr>
            <a:r>
              <a:rPr lang="en-US" sz="2600" b="1" dirty="0">
                <a:solidFill>
                  <a:srgbClr val="8C8C8C"/>
                </a:solidFill>
              </a:rPr>
              <a:t> in three ways</a:t>
            </a:r>
            <a:endParaRPr lang="en-US" sz="2600" dirty="0"/>
          </a:p>
        </p:txBody>
      </p:sp>
      <p:sp>
        <p:nvSpPr>
          <p:cNvPr id="3" name="problem-card-26"/>
          <p:cNvSpPr/>
          <p:nvPr/>
        </p:nvSpPr>
        <p:spPr>
          <a:xfrm>
            <a:off x="548640" y="1417320"/>
            <a:ext cx="3520440" cy="3246120"/>
          </a:xfrm>
          <a:prstGeom prst="roundRect">
            <a:avLst>
              <a:gd name="adj" fmla="val 1408"/>
            </a:avLst>
          </a:prstGeom>
          <a:solidFill>
            <a:schemeClr val="bg2"/>
          </a:solidFill>
          <a:ln/>
        </p:spPr>
      </p:sp>
      <p:sp>
        <p:nvSpPr>
          <p:cNvPr id="4" name="icon-bg-27"/>
          <p:cNvSpPr/>
          <p:nvPr/>
        </p:nvSpPr>
        <p:spPr>
          <a:xfrm>
            <a:off x="868680" y="1691640"/>
            <a:ext cx="731520" cy="731520"/>
          </a:xfrm>
          <a:prstGeom prst="ellipse">
            <a:avLst/>
          </a:prstGeom>
          <a:solidFill>
            <a:schemeClr val="accent2"/>
          </a:solidFill>
          <a:ln/>
        </p:spPr>
      </p:sp>
      <p:pic>
        <p:nvPicPr>
          <p:cNvPr id="5" name="icon-28" descr="preencoded.png">    </p:cNvPr>
          <p:cNvPicPr>
            <a:picLocks noChangeAspect="1"/>
          </p:cNvPicPr>
          <p:nvPr/>
        </p:nvPicPr>
        <p:blipFill>
          <a:blip r:embed="rId1"/>
          <a:stretch>
            <a:fillRect/>
          </a:stretch>
        </p:blipFill>
        <p:spPr>
          <a:xfrm>
            <a:off x="1029614" y="1852574"/>
            <a:ext cx="409651" cy="409651"/>
          </a:xfrm>
          <a:prstGeom prst="rect">
            <a:avLst/>
          </a:prstGeom>
        </p:spPr>
      </p:pic>
      <p:sp>
        <p:nvSpPr>
          <p:cNvPr id="6" name="text-29"/>
          <p:cNvSpPr txBox="1"/>
          <p:nvPr/>
        </p:nvSpPr>
        <p:spPr>
          <a:xfrm>
            <a:off x="868680" y="2606040"/>
            <a:ext cx="2926080" cy="457200"/>
          </a:xfrm>
          <a:prstGeom prst="rect">
            <a:avLst/>
          </a:prstGeom>
          <a:noFill/>
          <a:ln/>
        </p:spPr>
        <p:txBody>
          <a:bodyPr wrap="square" lIns="0" tIns="0" rIns="0" bIns="0" rtlCol="0" anchor="t"/>
          <a:lstStyle/>
          <a:p>
            <a:pPr algn="l" indent="0" marL="0">
              <a:buNone/>
            </a:pPr>
            <a:r>
              <a:rPr lang="en-US" sz="2200" b="1" dirty="0">
                <a:solidFill>
                  <a:schemeClr val="tx2"/>
                </a:solidFill>
              </a:rPr>
              <a:t>It leaks</a:t>
            </a:r>
            <a:endParaRPr lang="en-US" sz="2200" dirty="0"/>
          </a:p>
        </p:txBody>
      </p:sp>
      <p:sp>
        <p:nvSpPr>
          <p:cNvPr id="7" name="text-30"/>
          <p:cNvSpPr txBox="1"/>
          <p:nvPr/>
        </p:nvSpPr>
        <p:spPr>
          <a:xfrm>
            <a:off x="868680" y="3108960"/>
            <a:ext cx="2926080" cy="1463040"/>
          </a:xfrm>
          <a:prstGeom prst="rect">
            <a:avLst/>
          </a:prstGeom>
          <a:noFill/>
          <a:ln/>
        </p:spPr>
        <p:txBody>
          <a:bodyPr wrap="square" lIns="0" tIns="0" rIns="0" bIns="0" rtlCol="0" anchor="t"/>
          <a:lstStyle/>
          <a:p>
            <a:pPr algn="l" indent="0" marL="0">
              <a:buNone/>
            </a:pPr>
            <a:r>
              <a:rPr lang="en-US" sz="1500" dirty="0">
                <a:solidFill>
                  <a:schemeClr val="tx1"/>
                </a:solidFill>
              </a:rPr>
              <a:t>A contractor asks about Q3 revenue and the bot quotes the confidential board deck, because search never checked who was asking.</a:t>
            </a:r>
            <a:endParaRPr lang="en-US" sz="1500" dirty="0"/>
          </a:p>
        </p:txBody>
      </p:sp>
      <p:sp>
        <p:nvSpPr>
          <p:cNvPr id="8" name="problem-card-31"/>
          <p:cNvSpPr/>
          <p:nvPr/>
        </p:nvSpPr>
        <p:spPr>
          <a:xfrm>
            <a:off x="4297680" y="1417320"/>
            <a:ext cx="3520440" cy="3246120"/>
          </a:xfrm>
          <a:prstGeom prst="roundRect">
            <a:avLst>
              <a:gd name="adj" fmla="val 1408"/>
            </a:avLst>
          </a:prstGeom>
          <a:solidFill>
            <a:schemeClr val="bg2"/>
          </a:solidFill>
          <a:ln/>
        </p:spPr>
      </p:sp>
      <p:sp>
        <p:nvSpPr>
          <p:cNvPr id="9" name="icon-bg-32"/>
          <p:cNvSpPr/>
          <p:nvPr/>
        </p:nvSpPr>
        <p:spPr>
          <a:xfrm>
            <a:off x="4617720" y="1691640"/>
            <a:ext cx="731520" cy="731520"/>
          </a:xfrm>
          <a:prstGeom prst="ellipse">
            <a:avLst/>
          </a:prstGeom>
          <a:solidFill>
            <a:schemeClr val="accent3"/>
          </a:solidFill>
          <a:ln/>
        </p:spPr>
      </p:sp>
      <p:pic>
        <p:nvPicPr>
          <p:cNvPr id="10" name="icon-33" descr="preencoded.png">    </p:cNvPr>
          <p:cNvPicPr>
            <a:picLocks noChangeAspect="1"/>
          </p:cNvPicPr>
          <p:nvPr/>
        </p:nvPicPr>
        <p:blipFill>
          <a:blip r:embed="rId2"/>
          <a:stretch>
            <a:fillRect/>
          </a:stretch>
        </p:blipFill>
        <p:spPr>
          <a:xfrm>
            <a:off x="4778654" y="1852574"/>
            <a:ext cx="409651" cy="409651"/>
          </a:xfrm>
          <a:prstGeom prst="rect">
            <a:avLst/>
          </a:prstGeom>
        </p:spPr>
      </p:pic>
      <p:sp>
        <p:nvSpPr>
          <p:cNvPr id="11" name="text-34"/>
          <p:cNvSpPr txBox="1"/>
          <p:nvPr/>
        </p:nvSpPr>
        <p:spPr>
          <a:xfrm>
            <a:off x="4617720" y="2606040"/>
            <a:ext cx="2926080" cy="457200"/>
          </a:xfrm>
          <a:prstGeom prst="rect">
            <a:avLst/>
          </a:prstGeom>
          <a:noFill/>
          <a:ln/>
        </p:spPr>
        <p:txBody>
          <a:bodyPr wrap="square" lIns="0" tIns="0" rIns="0" bIns="0" rtlCol="0" anchor="t"/>
          <a:lstStyle/>
          <a:p>
            <a:pPr algn="l" indent="0" marL="0">
              <a:buNone/>
            </a:pPr>
            <a:r>
              <a:rPr lang="en-US" sz="2200" b="1" dirty="0">
                <a:solidFill>
                  <a:schemeClr val="tx2"/>
                </a:solidFill>
              </a:rPr>
              <a:t>It goes stale</a:t>
            </a:r>
            <a:endParaRPr lang="en-US" sz="2200" dirty="0"/>
          </a:p>
        </p:txBody>
      </p:sp>
      <p:sp>
        <p:nvSpPr>
          <p:cNvPr id="12" name="text-35"/>
          <p:cNvSpPr txBox="1"/>
          <p:nvPr/>
        </p:nvSpPr>
        <p:spPr>
          <a:xfrm>
            <a:off x="4617720" y="3108960"/>
            <a:ext cx="2926080" cy="1463040"/>
          </a:xfrm>
          <a:prstGeom prst="rect">
            <a:avLst/>
          </a:prstGeom>
          <a:noFill/>
          <a:ln/>
        </p:spPr>
        <p:txBody>
          <a:bodyPr wrap="square" lIns="0" tIns="0" rIns="0" bIns="0" rtlCol="0" anchor="t"/>
          <a:lstStyle/>
          <a:p>
            <a:pPr algn="l" indent="0" marL="0">
              <a:buNone/>
            </a:pPr>
            <a:r>
              <a:rPr lang="en-US" sz="1500" dirty="0">
                <a:solidFill>
                  <a:schemeClr val="tx1"/>
                </a:solidFill>
              </a:rPr>
              <a:t>The payment-rail failover runbook changed at the source. The index still serves the old version as if it were current.</a:t>
            </a:r>
            <a:endParaRPr lang="en-US" sz="1500" dirty="0"/>
          </a:p>
        </p:txBody>
      </p:sp>
      <p:sp>
        <p:nvSpPr>
          <p:cNvPr id="13" name="problem-card-36"/>
          <p:cNvSpPr/>
          <p:nvPr/>
        </p:nvSpPr>
        <p:spPr>
          <a:xfrm>
            <a:off x="8046720" y="1417320"/>
            <a:ext cx="3520440" cy="3246120"/>
          </a:xfrm>
          <a:prstGeom prst="roundRect">
            <a:avLst>
              <a:gd name="adj" fmla="val 1408"/>
            </a:avLst>
          </a:prstGeom>
          <a:solidFill>
            <a:schemeClr val="bg2"/>
          </a:solidFill>
          <a:ln/>
        </p:spPr>
      </p:sp>
      <p:sp>
        <p:nvSpPr>
          <p:cNvPr id="14" name="icon-bg-37"/>
          <p:cNvSpPr/>
          <p:nvPr/>
        </p:nvSpPr>
        <p:spPr>
          <a:xfrm>
            <a:off x="8366760" y="1691640"/>
            <a:ext cx="731520" cy="731520"/>
          </a:xfrm>
          <a:prstGeom prst="ellipse">
            <a:avLst/>
          </a:prstGeom>
          <a:solidFill>
            <a:schemeClr val="accent5"/>
          </a:solidFill>
          <a:ln/>
        </p:spPr>
      </p:sp>
      <p:pic>
        <p:nvPicPr>
          <p:cNvPr id="15" name="icon-38" descr="preencoded.png">    </p:cNvPr>
          <p:cNvPicPr>
            <a:picLocks noChangeAspect="1"/>
          </p:cNvPicPr>
          <p:nvPr/>
        </p:nvPicPr>
        <p:blipFill>
          <a:blip r:embed="rId3"/>
          <a:stretch>
            <a:fillRect/>
          </a:stretch>
        </p:blipFill>
        <p:spPr>
          <a:xfrm>
            <a:off x="8527694" y="1852574"/>
            <a:ext cx="409651" cy="409651"/>
          </a:xfrm>
          <a:prstGeom prst="rect">
            <a:avLst/>
          </a:prstGeom>
        </p:spPr>
      </p:pic>
      <p:sp>
        <p:nvSpPr>
          <p:cNvPr id="16" name="text-39"/>
          <p:cNvSpPr txBox="1"/>
          <p:nvPr/>
        </p:nvSpPr>
        <p:spPr>
          <a:xfrm>
            <a:off x="8366760" y="2606040"/>
            <a:ext cx="2926080" cy="457200"/>
          </a:xfrm>
          <a:prstGeom prst="rect">
            <a:avLst/>
          </a:prstGeom>
          <a:noFill/>
          <a:ln/>
        </p:spPr>
        <p:txBody>
          <a:bodyPr wrap="square" lIns="0" tIns="0" rIns="0" bIns="0" rtlCol="0" anchor="t"/>
          <a:lstStyle/>
          <a:p>
            <a:pPr algn="l" indent="0" marL="0">
              <a:buNone/>
            </a:pPr>
            <a:r>
              <a:rPr lang="en-US" sz="2200" b="1" dirty="0">
                <a:solidFill>
                  <a:schemeClr val="tx2"/>
                </a:solidFill>
              </a:rPr>
              <a:t>It cannot be audited</a:t>
            </a:r>
            <a:endParaRPr lang="en-US" sz="2200" dirty="0"/>
          </a:p>
        </p:txBody>
      </p:sp>
      <p:sp>
        <p:nvSpPr>
          <p:cNvPr id="17" name="text-40"/>
          <p:cNvSpPr txBox="1"/>
          <p:nvPr/>
        </p:nvSpPr>
        <p:spPr>
          <a:xfrm>
            <a:off x="8366760" y="3108960"/>
            <a:ext cx="2926080" cy="1463040"/>
          </a:xfrm>
          <a:prstGeom prst="rect">
            <a:avLst/>
          </a:prstGeom>
          <a:noFill/>
          <a:ln/>
        </p:spPr>
        <p:txBody>
          <a:bodyPr wrap="square" lIns="0" tIns="0" rIns="0" bIns="0" rtlCol="0" anchor="t"/>
          <a:lstStyle/>
          <a:p>
            <a:pPr algn="l" indent="0" marL="0">
              <a:buNone/>
            </a:pPr>
            <a:r>
              <a:rPr lang="en-US" sz="1500" dirty="0">
                <a:solidFill>
                  <a:schemeClr val="tx1"/>
                </a:solidFill>
              </a:rPr>
              <a:t>Compliance cannot reconstruct who asked, what was retrieved, what was denied and what the model answered.</a:t>
            </a:r>
            <a:endParaRPr lang="en-US" sz="1500" dirty="0"/>
          </a:p>
        </p:txBody>
      </p:sp>
      <p:sp>
        <p:nvSpPr>
          <p:cNvPr id="18" name="context-band-41"/>
          <p:cNvSpPr/>
          <p:nvPr/>
        </p:nvSpPr>
        <p:spPr>
          <a:xfrm>
            <a:off x="548640" y="4983480"/>
            <a:ext cx="11064240" cy="1097280"/>
          </a:xfrm>
          <a:prstGeom prst="roundRect">
            <a:avLst>
              <a:gd name="adj" fmla="val 4167"/>
            </a:avLst>
          </a:prstGeom>
          <a:solidFill>
            <a:schemeClr val="tx2"/>
          </a:solidFill>
          <a:ln/>
        </p:spPr>
      </p:sp>
      <p:sp>
        <p:nvSpPr>
          <p:cNvPr id="19" name="text-42"/>
          <p:cNvSpPr txBox="1"/>
          <p:nvPr/>
        </p:nvSpPr>
        <p:spPr>
          <a:xfrm>
            <a:off x="86868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600+</a:t>
            </a:r>
            <a:endParaRPr lang="en-US" sz="3000" dirty="0"/>
          </a:p>
        </p:txBody>
      </p:sp>
      <p:sp>
        <p:nvSpPr>
          <p:cNvPr id="20" name="text-43"/>
          <p:cNvSpPr txBox="1"/>
          <p:nvPr/>
        </p:nvSpPr>
        <p:spPr>
          <a:xfrm>
            <a:off x="868680" y="5596128"/>
            <a:ext cx="2194560" cy="365760"/>
          </a:xfrm>
          <a:prstGeom prst="rect">
            <a:avLst/>
          </a:prstGeom>
          <a:noFill/>
          <a:ln/>
        </p:spPr>
        <p:txBody>
          <a:bodyPr wrap="square" lIns="0" tIns="0" rIns="0" bIns="0" rtlCol="0" anchor="t"/>
          <a:lstStyle/>
          <a:p>
            <a:pPr algn="l" indent="0" marL="0">
              <a:buNone/>
            </a:pPr>
            <a:r>
              <a:rPr lang="en-US" sz="1300" dirty="0">
                <a:solidFill>
                  <a:srgbClr val="A6A6A6"/>
                </a:solidFill>
              </a:rPr>
              <a:t>employees</a:t>
            </a:r>
            <a:endParaRPr lang="en-US" sz="1300" dirty="0"/>
          </a:p>
        </p:txBody>
      </p:sp>
      <p:sp>
        <p:nvSpPr>
          <p:cNvPr id="21" name="text-44"/>
          <p:cNvSpPr txBox="1"/>
          <p:nvPr/>
        </p:nvSpPr>
        <p:spPr>
          <a:xfrm>
            <a:off x="320040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9</a:t>
            </a:r>
            <a:endParaRPr lang="en-US" sz="3000" dirty="0"/>
          </a:p>
        </p:txBody>
      </p:sp>
      <p:sp>
        <p:nvSpPr>
          <p:cNvPr id="22" name="text-45"/>
          <p:cNvSpPr txBox="1"/>
          <p:nvPr/>
        </p:nvSpPr>
        <p:spPr>
          <a:xfrm>
            <a:off x="3200400" y="5596128"/>
            <a:ext cx="2194560" cy="365760"/>
          </a:xfrm>
          <a:prstGeom prst="rect">
            <a:avLst/>
          </a:prstGeom>
          <a:noFill/>
          <a:ln/>
        </p:spPr>
        <p:txBody>
          <a:bodyPr wrap="square" lIns="0" tIns="0" rIns="0" bIns="0" rtlCol="0" anchor="t"/>
          <a:lstStyle/>
          <a:p>
            <a:pPr algn="l" indent="0" marL="0">
              <a:buNone/>
            </a:pPr>
            <a:r>
              <a:rPr lang="en-US" sz="1300" dirty="0">
                <a:solidFill>
                  <a:srgbClr val="A6A6A6"/>
                </a:solidFill>
              </a:rPr>
              <a:t>countries</a:t>
            </a:r>
            <a:endParaRPr lang="en-US" sz="1300" dirty="0"/>
          </a:p>
        </p:txBody>
      </p:sp>
      <p:sp>
        <p:nvSpPr>
          <p:cNvPr id="23" name="text-46"/>
          <p:cNvSpPr txBox="1"/>
          <p:nvPr/>
        </p:nvSpPr>
        <p:spPr>
          <a:xfrm>
            <a:off x="553212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30+</a:t>
            </a:r>
            <a:endParaRPr lang="en-US" sz="3000" dirty="0"/>
          </a:p>
        </p:txBody>
      </p:sp>
      <p:sp>
        <p:nvSpPr>
          <p:cNvPr id="24" name="text-47"/>
          <p:cNvSpPr txBox="1"/>
          <p:nvPr/>
        </p:nvSpPr>
        <p:spPr>
          <a:xfrm>
            <a:off x="5532120" y="5596128"/>
            <a:ext cx="2194560" cy="365760"/>
          </a:xfrm>
          <a:prstGeom prst="rect">
            <a:avLst/>
          </a:prstGeom>
          <a:noFill/>
          <a:ln/>
        </p:spPr>
        <p:txBody>
          <a:bodyPr wrap="square" lIns="0" tIns="0" rIns="0" bIns="0" rtlCol="0" anchor="t"/>
          <a:lstStyle/>
          <a:p>
            <a:pPr algn="l" indent="0" marL="0">
              <a:buNone/>
            </a:pPr>
            <a:r>
              <a:rPr lang="en-US" sz="1300" dirty="0">
                <a:solidFill>
                  <a:srgbClr val="A6A6A6"/>
                </a:solidFill>
              </a:rPr>
              <a:t>client markets</a:t>
            </a:r>
            <a:endParaRPr lang="en-US" sz="1300" dirty="0"/>
          </a:p>
        </p:txBody>
      </p:sp>
      <p:sp>
        <p:nvSpPr>
          <p:cNvPr id="25" name="text-48"/>
          <p:cNvSpPr txBox="1"/>
          <p:nvPr/>
        </p:nvSpPr>
        <p:spPr>
          <a:xfrm>
            <a:off x="786384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4</a:t>
            </a:r>
            <a:endParaRPr lang="en-US" sz="3000" dirty="0"/>
          </a:p>
        </p:txBody>
      </p:sp>
      <p:sp>
        <p:nvSpPr>
          <p:cNvPr id="26" name="text-49"/>
          <p:cNvSpPr txBox="1"/>
          <p:nvPr/>
        </p:nvSpPr>
        <p:spPr>
          <a:xfrm>
            <a:off x="7863840" y="5596128"/>
            <a:ext cx="2194560" cy="365760"/>
          </a:xfrm>
          <a:prstGeom prst="rect">
            <a:avLst/>
          </a:prstGeom>
          <a:noFill/>
          <a:ln/>
        </p:spPr>
        <p:txBody>
          <a:bodyPr wrap="square" lIns="0" tIns="0" rIns="0" bIns="0" rtlCol="0" anchor="t"/>
          <a:lstStyle/>
          <a:p>
            <a:pPr algn="l" indent="0" marL="0">
              <a:buNone/>
            </a:pPr>
            <a:r>
              <a:rPr lang="en-US" sz="1300" dirty="0">
                <a:solidFill>
                  <a:srgbClr val="A6A6A6"/>
                </a:solidFill>
              </a:rPr>
              <a:t>platforms, 4 permission models</a:t>
            </a:r>
            <a:endParaRPr lang="en-US" sz="1300" dirty="0"/>
          </a:p>
        </p:txBody>
      </p:sp>
      <p:sp>
        <p:nvSpPr>
          <p:cNvPr id="27" name="text-50"/>
          <p:cNvSpPr txBox="1"/>
          <p:nvPr/>
        </p:nvSpPr>
        <p:spPr>
          <a:xfrm>
            <a:off x="9966960" y="5138928"/>
            <a:ext cx="1554480" cy="822960"/>
          </a:xfrm>
          <a:prstGeom prst="rect">
            <a:avLst/>
          </a:prstGeom>
          <a:noFill/>
          <a:ln/>
        </p:spPr>
        <p:txBody>
          <a:bodyPr wrap="square" lIns="0" tIns="0" rIns="0" bIns="0" rtlCol="0" anchor="t"/>
          <a:lstStyle/>
          <a:p>
            <a:pPr algn="l" indent="0" marL="0">
              <a:buNone/>
            </a:pPr>
            <a:r>
              <a:rPr lang="en-US" sz="1100" i="1" dirty="0">
                <a:solidFill>
                  <a:srgbClr val="A6A6A6"/>
                </a:solidFill>
              </a:rPr>
              <a:t>Aspire, per the challenge brief</a:t>
            </a:r>
            <a:endParaRPr lang="en-US" sz="11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One governed pipeline,</a:t>
            </a:r>
            <a:pPr algn="l" indent="0" marL="0">
              <a:buNone/>
            </a:pPr>
            <a:r>
              <a:rPr lang="en-US" sz="2600" b="1" dirty="0">
                <a:solidFill>
                  <a:srgbClr val="8C8C8C"/>
                </a:solidFill>
              </a:rPr>
              <a:t> four guarantees on every answer</a:t>
            </a:r>
            <a:endParaRPr lang="en-US" sz="2600" dirty="0"/>
          </a:p>
        </p:txBody>
      </p:sp>
      <p:sp>
        <p:nvSpPr>
          <p:cNvPr id="3" name="pillar-51"/>
          <p:cNvSpPr/>
          <p:nvPr/>
        </p:nvSpPr>
        <p:spPr>
          <a:xfrm>
            <a:off x="548640" y="1417320"/>
            <a:ext cx="2606040" cy="3657600"/>
          </a:xfrm>
          <a:prstGeom prst="roundRect">
            <a:avLst>
              <a:gd name="adj" fmla="val 1754"/>
            </a:avLst>
          </a:prstGeom>
          <a:solidFill>
            <a:srgbClr val="EAF3EA"/>
          </a:solidFill>
          <a:ln/>
        </p:spPr>
      </p:sp>
      <p:sp>
        <p:nvSpPr>
          <p:cNvPr id="4" name="icon-bg-52"/>
          <p:cNvSpPr/>
          <p:nvPr/>
        </p:nvSpPr>
        <p:spPr>
          <a:xfrm>
            <a:off x="822960" y="1691640"/>
            <a:ext cx="777240" cy="777240"/>
          </a:xfrm>
          <a:prstGeom prst="ellipse">
            <a:avLst/>
          </a:prstGeom>
          <a:solidFill>
            <a:schemeClr val="accent1"/>
          </a:solidFill>
          <a:ln/>
        </p:spPr>
      </p:sp>
      <p:pic>
        <p:nvPicPr>
          <p:cNvPr id="5" name="icon-53" descr="preencoded.png">    </p:cNvPr>
          <p:cNvPicPr>
            <a:picLocks noChangeAspect="1"/>
          </p:cNvPicPr>
          <p:nvPr/>
        </p:nvPicPr>
        <p:blipFill>
          <a:blip r:embed="rId1"/>
          <a:stretch>
            <a:fillRect/>
          </a:stretch>
        </p:blipFill>
        <p:spPr>
          <a:xfrm>
            <a:off x="993953" y="1862633"/>
            <a:ext cx="435254" cy="435254"/>
          </a:xfrm>
          <a:prstGeom prst="rect">
            <a:avLst/>
          </a:prstGeom>
        </p:spPr>
      </p:pic>
      <p:sp>
        <p:nvSpPr>
          <p:cNvPr id="6" name="text-54"/>
          <p:cNvSpPr txBox="1"/>
          <p:nvPr/>
        </p:nvSpPr>
        <p:spPr>
          <a:xfrm>
            <a:off x="822960"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Permitted</a:t>
            </a:r>
            <a:endParaRPr lang="en-US" sz="2400" dirty="0"/>
          </a:p>
        </p:txBody>
      </p:sp>
      <p:sp>
        <p:nvSpPr>
          <p:cNvPr id="7" name="text-55"/>
          <p:cNvSpPr txBox="1"/>
          <p:nvPr/>
        </p:nvSpPr>
        <p:spPr>
          <a:xfrm>
            <a:off x="822960"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Native Confluence, Jira, Slack and Drive permissions are checked per document, before any model call.</a:t>
            </a:r>
            <a:endParaRPr lang="en-US" sz="1500" dirty="0"/>
          </a:p>
        </p:txBody>
      </p:sp>
      <p:sp>
        <p:nvSpPr>
          <p:cNvPr id="8" name="pillar-56"/>
          <p:cNvSpPr/>
          <p:nvPr/>
        </p:nvSpPr>
        <p:spPr>
          <a:xfrm>
            <a:off x="3364992" y="1417320"/>
            <a:ext cx="2606040" cy="3657600"/>
          </a:xfrm>
          <a:prstGeom prst="roundRect">
            <a:avLst>
              <a:gd name="adj" fmla="val 1754"/>
            </a:avLst>
          </a:prstGeom>
          <a:solidFill>
            <a:srgbClr val="FCF3E3"/>
          </a:solidFill>
          <a:ln/>
        </p:spPr>
      </p:sp>
      <p:sp>
        <p:nvSpPr>
          <p:cNvPr id="9" name="icon-bg-57"/>
          <p:cNvSpPr/>
          <p:nvPr/>
        </p:nvSpPr>
        <p:spPr>
          <a:xfrm>
            <a:off x="3639312" y="1691640"/>
            <a:ext cx="777240" cy="777240"/>
          </a:xfrm>
          <a:prstGeom prst="ellipse">
            <a:avLst/>
          </a:prstGeom>
          <a:solidFill>
            <a:schemeClr val="accent3"/>
          </a:solidFill>
          <a:ln/>
        </p:spPr>
      </p:sp>
      <p:pic>
        <p:nvPicPr>
          <p:cNvPr id="10" name="icon-58" descr="preencoded.png">    </p:cNvPr>
          <p:cNvPicPr>
            <a:picLocks noChangeAspect="1"/>
          </p:cNvPicPr>
          <p:nvPr/>
        </p:nvPicPr>
        <p:blipFill>
          <a:blip r:embed="rId2"/>
          <a:stretch>
            <a:fillRect/>
          </a:stretch>
        </p:blipFill>
        <p:spPr>
          <a:xfrm>
            <a:off x="3810305" y="1862633"/>
            <a:ext cx="435254" cy="435254"/>
          </a:xfrm>
          <a:prstGeom prst="rect">
            <a:avLst/>
          </a:prstGeom>
        </p:spPr>
      </p:pic>
      <p:sp>
        <p:nvSpPr>
          <p:cNvPr id="11" name="text-59"/>
          <p:cNvSpPr txBox="1"/>
          <p:nvPr/>
        </p:nvSpPr>
        <p:spPr>
          <a:xfrm>
            <a:off x="3639312"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Fresh</a:t>
            </a:r>
            <a:endParaRPr lang="en-US" sz="2400" dirty="0"/>
          </a:p>
        </p:txBody>
      </p:sp>
      <p:sp>
        <p:nvSpPr>
          <p:cNvPr id="12" name="text-60"/>
          <p:cNvSpPr txBox="1"/>
          <p:nvPr/>
        </p:nvSpPr>
        <p:spPr>
          <a:xfrm>
            <a:off x="3639312"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Critical evidence is live-verified at the source. Stale versions are omitted, never shown as current.</a:t>
            </a:r>
            <a:endParaRPr lang="en-US" sz="1500" dirty="0"/>
          </a:p>
        </p:txBody>
      </p:sp>
      <p:sp>
        <p:nvSpPr>
          <p:cNvPr id="13" name="pillar-61"/>
          <p:cNvSpPr/>
          <p:nvPr/>
        </p:nvSpPr>
        <p:spPr>
          <a:xfrm>
            <a:off x="6181344" y="1417320"/>
            <a:ext cx="2606040" cy="3657600"/>
          </a:xfrm>
          <a:prstGeom prst="roundRect">
            <a:avLst>
              <a:gd name="adj" fmla="val 1754"/>
            </a:avLst>
          </a:prstGeom>
          <a:solidFill>
            <a:srgbClr val="F5F5F5"/>
          </a:solidFill>
          <a:ln/>
        </p:spPr>
      </p:sp>
      <p:sp>
        <p:nvSpPr>
          <p:cNvPr id="14" name="icon-bg-62"/>
          <p:cNvSpPr/>
          <p:nvPr/>
        </p:nvSpPr>
        <p:spPr>
          <a:xfrm>
            <a:off x="6455664" y="1691640"/>
            <a:ext cx="777240" cy="777240"/>
          </a:xfrm>
          <a:prstGeom prst="ellipse">
            <a:avLst/>
          </a:prstGeom>
          <a:solidFill>
            <a:schemeClr val="accent4"/>
          </a:solidFill>
          <a:ln/>
        </p:spPr>
      </p:sp>
      <p:pic>
        <p:nvPicPr>
          <p:cNvPr id="15" name="icon-63" descr="preencoded.png">    </p:cNvPr>
          <p:cNvPicPr>
            <a:picLocks noChangeAspect="1"/>
          </p:cNvPicPr>
          <p:nvPr/>
        </p:nvPicPr>
        <p:blipFill>
          <a:blip r:embed="rId3"/>
          <a:stretch>
            <a:fillRect/>
          </a:stretch>
        </p:blipFill>
        <p:spPr>
          <a:xfrm>
            <a:off x="6626657" y="1862633"/>
            <a:ext cx="435254" cy="435254"/>
          </a:xfrm>
          <a:prstGeom prst="rect">
            <a:avLst/>
          </a:prstGeom>
        </p:spPr>
      </p:pic>
      <p:sp>
        <p:nvSpPr>
          <p:cNvPr id="16" name="text-64"/>
          <p:cNvSpPr txBox="1"/>
          <p:nvPr/>
        </p:nvSpPr>
        <p:spPr>
          <a:xfrm>
            <a:off x="6455664"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Grounded</a:t>
            </a:r>
            <a:endParaRPr lang="en-US" sz="2400" dirty="0"/>
          </a:p>
        </p:txBody>
      </p:sp>
      <p:sp>
        <p:nvSpPr>
          <p:cNvPr id="17" name="text-65"/>
          <p:cNvSpPr txBox="1"/>
          <p:nvPr/>
        </p:nvSpPr>
        <p:spPr>
          <a:xfrm>
            <a:off x="6455664"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Every claim is checked against its cited evidence, numbers and dates included. Below the bar, the system abstains rather than guesses.</a:t>
            </a:r>
            <a:endParaRPr lang="en-US" sz="1500" dirty="0"/>
          </a:p>
        </p:txBody>
      </p:sp>
      <p:sp>
        <p:nvSpPr>
          <p:cNvPr id="18" name="pillar-66"/>
          <p:cNvSpPr/>
          <p:nvPr/>
        </p:nvSpPr>
        <p:spPr>
          <a:xfrm>
            <a:off x="8997696" y="1417320"/>
            <a:ext cx="2606040" cy="3657600"/>
          </a:xfrm>
          <a:prstGeom prst="roundRect">
            <a:avLst>
              <a:gd name="adj" fmla="val 1754"/>
            </a:avLst>
          </a:prstGeom>
          <a:solidFill>
            <a:srgbClr val="F5F5F5"/>
          </a:solidFill>
          <a:ln/>
        </p:spPr>
      </p:sp>
      <p:sp>
        <p:nvSpPr>
          <p:cNvPr id="19" name="icon-bg-67"/>
          <p:cNvSpPr/>
          <p:nvPr/>
        </p:nvSpPr>
        <p:spPr>
          <a:xfrm>
            <a:off x="9272016" y="1691640"/>
            <a:ext cx="777240" cy="777240"/>
          </a:xfrm>
          <a:prstGeom prst="ellipse">
            <a:avLst/>
          </a:prstGeom>
          <a:solidFill>
            <a:schemeClr val="accent5"/>
          </a:solidFill>
          <a:ln/>
        </p:spPr>
      </p:sp>
      <p:pic>
        <p:nvPicPr>
          <p:cNvPr id="20" name="icon-68" descr="preencoded.png">    </p:cNvPr>
          <p:cNvPicPr>
            <a:picLocks noChangeAspect="1"/>
          </p:cNvPicPr>
          <p:nvPr/>
        </p:nvPicPr>
        <p:blipFill>
          <a:blip r:embed="rId4"/>
          <a:stretch>
            <a:fillRect/>
          </a:stretch>
        </p:blipFill>
        <p:spPr>
          <a:xfrm>
            <a:off x="9443009" y="1862633"/>
            <a:ext cx="435254" cy="435254"/>
          </a:xfrm>
          <a:prstGeom prst="rect">
            <a:avLst/>
          </a:prstGeom>
        </p:spPr>
      </p:pic>
      <p:sp>
        <p:nvSpPr>
          <p:cNvPr id="21" name="text-69"/>
          <p:cNvSpPr txBox="1"/>
          <p:nvPr/>
        </p:nvSpPr>
        <p:spPr>
          <a:xfrm>
            <a:off x="9272016"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Audited</a:t>
            </a:r>
            <a:endParaRPr lang="en-US" sz="2400" dirty="0"/>
          </a:p>
        </p:txBody>
      </p:sp>
      <p:sp>
        <p:nvSpPr>
          <p:cNvPr id="22" name="text-70"/>
          <p:cNvSpPr txBox="1"/>
          <p:nvPr/>
        </p:nvSpPr>
        <p:spPr>
          <a:xfrm>
            <a:off x="9272016"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A hash-chained record of the asker, retrieved IDs, every allow/deny decision and the final answer.</a:t>
            </a:r>
            <a:endParaRPr lang="en-US" sz="1500" dirty="0"/>
          </a:p>
        </p:txBody>
      </p:sp>
      <p:sp>
        <p:nvSpPr>
          <p:cNvPr id="23" name="text-71"/>
          <p:cNvSpPr txBox="1"/>
          <p:nvPr/>
        </p:nvSpPr>
        <p:spPr>
          <a:xfrm>
            <a:off x="548640" y="5257800"/>
            <a:ext cx="11064240" cy="548640"/>
          </a:xfrm>
          <a:prstGeom prst="rect">
            <a:avLst/>
          </a:prstGeom>
          <a:noFill/>
          <a:ln/>
        </p:spPr>
        <p:txBody>
          <a:bodyPr wrap="square" lIns="0" tIns="0" rIns="0" bIns="0" rtlCol="0" anchor="t"/>
          <a:lstStyle/>
          <a:p>
            <a:pPr algn="l" indent="0" marL="0">
              <a:buNone/>
            </a:pPr>
            <a:r>
              <a:rPr lang="en-US" sz="1500" b="1" dirty="0">
                <a:solidFill>
                  <a:schemeClr val="tx2"/>
                </a:solidFill>
              </a:rPr>
              <a:t>One pipeline, three front doors: </a:t>
            </a:r>
            <a:pPr algn="l" indent="0" marL="0">
              <a:buNone/>
            </a:pPr>
            <a:r>
              <a:rPr lang="en-US" sz="1500" dirty="0">
                <a:solidFill>
                  <a:schemeClr val="tx1"/>
                </a:solidFill>
              </a:rPr>
              <a:t>the web app, the REST API and MCP tools for AI agents all run the same checks, so there is no back door around them.</a:t>
            </a:r>
            <a:endParaRPr lang="en-US" sz="15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Restricted evidence never reaches</a:t>
            </a:r>
            <a:pPr algn="l" indent="0" marL="0">
              <a:buNone/>
            </a:pPr>
            <a:r>
              <a:rPr lang="en-US" sz="2600" b="1" dirty="0">
                <a:solidFill>
                  <a:srgbClr val="8C8C8C"/>
                </a:solidFill>
              </a:rPr>
              <a:t> the language model</a:t>
            </a:r>
            <a:endParaRPr lang="en-US" sz="2600" dirty="0"/>
          </a:p>
        </p:txBody>
      </p:sp>
      <p:sp>
        <p:nvSpPr>
          <p:cNvPr id="3" name="zone-untrusted-72"/>
          <p:cNvSpPr/>
          <p:nvPr/>
        </p:nvSpPr>
        <p:spPr>
          <a:xfrm>
            <a:off x="292608" y="1463040"/>
            <a:ext cx="1609344" cy="1755648"/>
          </a:xfrm>
          <a:prstGeom prst="roundRect">
            <a:avLst>
              <a:gd name="adj" fmla="val 3409"/>
            </a:avLst>
          </a:prstGeom>
          <a:solidFill>
            <a:schemeClr val="bg1"/>
          </a:solidFill>
          <a:ln w="12700">
            <a:solidFill>
              <a:schemeClr val="accent6"/>
            </a:solidFill>
            <a:prstDash val="dash"/>
          </a:ln>
        </p:spPr>
      </p:sp>
      <p:sp>
        <p:nvSpPr>
          <p:cNvPr id="4" name="text-73"/>
          <p:cNvSpPr txBox="1"/>
          <p:nvPr/>
        </p:nvSpPr>
        <p:spPr>
          <a:xfrm>
            <a:off x="292608" y="1499616"/>
            <a:ext cx="1609344" cy="228600"/>
          </a:xfrm>
          <a:prstGeom prst="rect">
            <a:avLst/>
          </a:prstGeom>
          <a:noFill/>
          <a:ln/>
        </p:spPr>
        <p:txBody>
          <a:bodyPr wrap="square" lIns="0" tIns="0" rIns="0" bIns="0" rtlCol="0" anchor="t"/>
          <a:lstStyle/>
          <a:p>
            <a:pPr algn="ctr" indent="0" marL="0">
              <a:buNone/>
            </a:pPr>
            <a:r>
              <a:rPr lang="en-US" sz="1000" b="1" dirty="0">
                <a:solidFill>
                  <a:schemeClr val="accent6"/>
                </a:solidFill>
              </a:rPr>
              <a:t>UNTRUSTED</a:t>
            </a:r>
            <a:endParaRPr lang="en-US" sz="1000" dirty="0"/>
          </a:p>
        </p:txBody>
      </p:sp>
      <p:sp>
        <p:nvSpPr>
          <p:cNvPr id="5" name="zone-server-74"/>
          <p:cNvSpPr/>
          <p:nvPr/>
        </p:nvSpPr>
        <p:spPr>
          <a:xfrm>
            <a:off x="1965960" y="1463040"/>
            <a:ext cx="6629400" cy="1755648"/>
          </a:xfrm>
          <a:prstGeom prst="roundRect">
            <a:avLst>
              <a:gd name="adj" fmla="val 3125"/>
            </a:avLst>
          </a:prstGeom>
          <a:solidFill>
            <a:srgbClr val="F5F5F5"/>
          </a:solidFill>
          <a:ln/>
        </p:spPr>
      </p:sp>
      <p:sp>
        <p:nvSpPr>
          <p:cNvPr id="6" name="text-75"/>
          <p:cNvSpPr txBox="1"/>
          <p:nvPr/>
        </p:nvSpPr>
        <p:spPr>
          <a:xfrm>
            <a:off x="2057400" y="1499616"/>
            <a:ext cx="4572000" cy="228600"/>
          </a:xfrm>
          <a:prstGeom prst="rect">
            <a:avLst/>
          </a:prstGeom>
          <a:noFill/>
          <a:ln/>
        </p:spPr>
        <p:txBody>
          <a:bodyPr wrap="square" lIns="0" tIns="0" rIns="0" bIns="0" rtlCol="0" anchor="t"/>
          <a:lstStyle/>
          <a:p>
            <a:pPr algn="l" indent="0" marL="0">
              <a:buNone/>
            </a:pPr>
            <a:r>
              <a:rPr lang="en-US" sz="1000" b="1" dirty="0">
                <a:solidFill>
                  <a:schemeClr val="tx2"/>
                </a:solidFill>
              </a:rPr>
              <a:t>TRUSTED SERVER  ·  governed pipeline</a:t>
            </a:r>
            <a:endParaRPr lang="en-US" sz="1000" dirty="0"/>
          </a:p>
        </p:txBody>
      </p:sp>
      <p:sp>
        <p:nvSpPr>
          <p:cNvPr id="7" name="zone-model-76"/>
          <p:cNvSpPr/>
          <p:nvPr/>
        </p:nvSpPr>
        <p:spPr>
          <a:xfrm>
            <a:off x="8659368" y="1463040"/>
            <a:ext cx="1609344" cy="1755648"/>
          </a:xfrm>
          <a:prstGeom prst="roundRect">
            <a:avLst>
              <a:gd name="adj" fmla="val 3409"/>
            </a:avLst>
          </a:prstGeom>
          <a:solidFill>
            <a:srgbClr val="F5F5F5"/>
          </a:solidFill>
          <a:ln w="12700">
            <a:solidFill>
              <a:schemeClr val="accent5"/>
            </a:solidFill>
            <a:prstDash val="dash"/>
          </a:ln>
        </p:spPr>
      </p:sp>
      <p:sp>
        <p:nvSpPr>
          <p:cNvPr id="8" name="text-77"/>
          <p:cNvSpPr txBox="1"/>
          <p:nvPr/>
        </p:nvSpPr>
        <p:spPr>
          <a:xfrm>
            <a:off x="8659368" y="1499616"/>
            <a:ext cx="1609344" cy="228600"/>
          </a:xfrm>
          <a:prstGeom prst="rect">
            <a:avLst/>
          </a:prstGeom>
          <a:noFill/>
          <a:ln/>
        </p:spPr>
        <p:txBody>
          <a:bodyPr wrap="square" lIns="0" tIns="0" rIns="0" bIns="0" rtlCol="0" anchor="t"/>
          <a:lstStyle/>
          <a:p>
            <a:pPr algn="ctr" indent="0" marL="0">
              <a:buNone/>
            </a:pPr>
            <a:r>
              <a:rPr lang="en-US" sz="1000" b="1" dirty="0">
                <a:solidFill>
                  <a:schemeClr val="accent5"/>
                </a:solidFill>
              </a:rPr>
              <a:t>MODEL ZONE</a:t>
            </a:r>
            <a:endParaRPr lang="en-US" sz="1000" dirty="0"/>
          </a:p>
        </p:txBody>
      </p:sp>
      <p:sp>
        <p:nvSpPr>
          <p:cNvPr id="9" name="zone-server-2-78"/>
          <p:cNvSpPr/>
          <p:nvPr/>
        </p:nvSpPr>
        <p:spPr>
          <a:xfrm>
            <a:off x="10332720" y="1463040"/>
            <a:ext cx="1609344" cy="1755648"/>
          </a:xfrm>
          <a:prstGeom prst="roundRect">
            <a:avLst>
              <a:gd name="adj" fmla="val 3409"/>
            </a:avLst>
          </a:prstGeom>
          <a:solidFill>
            <a:srgbClr val="F5F5F5"/>
          </a:solidFill>
          <a:ln/>
        </p:spPr>
      </p:sp>
      <p:sp>
        <p:nvSpPr>
          <p:cNvPr id="10" name="text-79"/>
          <p:cNvSpPr txBox="1"/>
          <p:nvPr/>
        </p:nvSpPr>
        <p:spPr>
          <a:xfrm>
            <a:off x="10332720" y="1499616"/>
            <a:ext cx="1609344" cy="228600"/>
          </a:xfrm>
          <a:prstGeom prst="rect">
            <a:avLst/>
          </a:prstGeom>
          <a:noFill/>
          <a:ln/>
        </p:spPr>
        <p:txBody>
          <a:bodyPr wrap="square" lIns="0" tIns="0" rIns="0" bIns="0" rtlCol="0" anchor="t"/>
          <a:lstStyle/>
          <a:p>
            <a:pPr algn="ctr" indent="0" marL="0">
              <a:buNone/>
            </a:pPr>
            <a:r>
              <a:rPr lang="en-US" sz="1000" b="1" dirty="0">
                <a:solidFill>
                  <a:schemeClr val="tx2"/>
                </a:solidFill>
              </a:rPr>
              <a:t>TRUSTED SERVER</a:t>
            </a:r>
            <a:endParaRPr lang="en-US" sz="1000" dirty="0"/>
          </a:p>
        </p:txBody>
      </p:sp>
      <p:sp>
        <p:nvSpPr>
          <p:cNvPr id="11" name="step-80"/>
          <p:cNvSpPr/>
          <p:nvPr/>
        </p:nvSpPr>
        <p:spPr>
          <a:xfrm>
            <a:off x="411480" y="1874520"/>
            <a:ext cx="1371600" cy="1207008"/>
          </a:xfrm>
          <a:prstGeom prst="roundRect">
            <a:avLst>
              <a:gd name="adj" fmla="val 3788"/>
            </a:avLst>
          </a:prstGeom>
          <a:solidFill>
            <a:schemeClr val="bg1"/>
          </a:solidFill>
          <a:ln w="15875">
            <a:solidFill>
              <a:schemeClr val="accent6"/>
            </a:solidFill>
            <a:prstDash val="solid"/>
          </a:ln>
        </p:spPr>
      </p:sp>
      <p:sp>
        <p:nvSpPr>
          <p:cNvPr id="12" name="text-81"/>
          <p:cNvSpPr txBox="1"/>
          <p:nvPr/>
        </p:nvSpPr>
        <p:spPr>
          <a:xfrm>
            <a:off x="502920"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Asker</a:t>
            </a:r>
            <a:endParaRPr lang="en-US" sz="1300" dirty="0"/>
          </a:p>
        </p:txBody>
      </p:sp>
      <p:sp>
        <p:nvSpPr>
          <p:cNvPr id="13" name="text-82"/>
          <p:cNvSpPr txBox="1"/>
          <p:nvPr/>
        </p:nvSpPr>
        <p:spPr>
          <a:xfrm>
            <a:off x="502920"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Employee, contractor, auditor or agent</a:t>
            </a:r>
            <a:endParaRPr lang="en-US" sz="1050" dirty="0"/>
          </a:p>
        </p:txBody>
      </p:sp>
      <p:sp>
        <p:nvSpPr>
          <p:cNvPr id="14" name="arrow-83"/>
          <p:cNvSpPr/>
          <p:nvPr/>
        </p:nvSpPr>
        <p:spPr>
          <a:xfrm>
            <a:off x="1783080" y="2478024"/>
            <a:ext cx="301752" cy="91"/>
          </a:xfrm>
          <a:prstGeom prst="line">
            <a:avLst/>
          </a:prstGeom>
          <a:noFill/>
          <a:ln w="22225">
            <a:solidFill>
              <a:schemeClr val="accent6"/>
            </a:solidFill>
            <a:prstDash val="solid"/>
            <a:tailEnd type="triangle"/>
          </a:ln>
        </p:spPr>
      </p:sp>
      <p:sp>
        <p:nvSpPr>
          <p:cNvPr id="15" name="step-84"/>
          <p:cNvSpPr/>
          <p:nvPr/>
        </p:nvSpPr>
        <p:spPr>
          <a:xfrm>
            <a:off x="2084832" y="1874520"/>
            <a:ext cx="1371600" cy="1207008"/>
          </a:xfrm>
          <a:prstGeom prst="roundRect">
            <a:avLst>
              <a:gd name="adj" fmla="val 3788"/>
            </a:avLst>
          </a:prstGeom>
          <a:solidFill>
            <a:schemeClr val="bg1"/>
          </a:solidFill>
          <a:ln w="15875">
            <a:solidFill>
              <a:schemeClr val="accent4"/>
            </a:solidFill>
            <a:prstDash val="solid"/>
          </a:ln>
        </p:spPr>
      </p:sp>
      <p:sp>
        <p:nvSpPr>
          <p:cNvPr id="16" name="text-85"/>
          <p:cNvSpPr txBox="1"/>
          <p:nvPr/>
        </p:nvSpPr>
        <p:spPr>
          <a:xfrm>
            <a:off x="2176272"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① Identity</a:t>
            </a:r>
            <a:endParaRPr lang="en-US" sz="1300" dirty="0"/>
          </a:p>
        </p:txBody>
      </p:sp>
      <p:sp>
        <p:nvSpPr>
          <p:cNvPr id="17" name="text-86"/>
          <p:cNvSpPr txBox="1"/>
          <p:nvPr/>
        </p:nvSpPr>
        <p:spPr>
          <a:xfrm>
            <a:off x="2176272"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Resolved server-side; demo personas, SSO in production</a:t>
            </a:r>
            <a:endParaRPr lang="en-US" sz="1050" dirty="0"/>
          </a:p>
        </p:txBody>
      </p:sp>
      <p:sp>
        <p:nvSpPr>
          <p:cNvPr id="18" name="arrow-87"/>
          <p:cNvSpPr/>
          <p:nvPr/>
        </p:nvSpPr>
        <p:spPr>
          <a:xfrm>
            <a:off x="3456432" y="2478024"/>
            <a:ext cx="301752" cy="91"/>
          </a:xfrm>
          <a:prstGeom prst="line">
            <a:avLst/>
          </a:prstGeom>
          <a:noFill/>
          <a:ln w="22225">
            <a:solidFill>
              <a:schemeClr val="accent6"/>
            </a:solidFill>
            <a:prstDash val="solid"/>
            <a:tailEnd type="triangle"/>
          </a:ln>
        </p:spPr>
      </p:sp>
      <p:sp>
        <p:nvSpPr>
          <p:cNvPr id="19" name="step-88"/>
          <p:cNvSpPr/>
          <p:nvPr/>
        </p:nvSpPr>
        <p:spPr>
          <a:xfrm>
            <a:off x="3758184" y="1874520"/>
            <a:ext cx="1371600" cy="1207008"/>
          </a:xfrm>
          <a:prstGeom prst="roundRect">
            <a:avLst>
              <a:gd name="adj" fmla="val 3788"/>
            </a:avLst>
          </a:prstGeom>
          <a:solidFill>
            <a:schemeClr val="bg1"/>
          </a:solidFill>
          <a:ln w="15875">
            <a:solidFill>
              <a:schemeClr val="accent4"/>
            </a:solidFill>
            <a:prstDash val="solid"/>
          </a:ln>
        </p:spPr>
      </p:sp>
      <p:sp>
        <p:nvSpPr>
          <p:cNvPr id="20" name="text-89"/>
          <p:cNvSpPr txBox="1"/>
          <p:nvPr/>
        </p:nvSpPr>
        <p:spPr>
          <a:xfrm>
            <a:off x="3849624"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② Search</a:t>
            </a:r>
            <a:endParaRPr lang="en-US" sz="1300" dirty="0"/>
          </a:p>
        </p:txBody>
      </p:sp>
      <p:sp>
        <p:nvSpPr>
          <p:cNvPr id="21" name="text-90"/>
          <p:cNvSpPr txBox="1"/>
          <p:nvPr/>
        </p:nvSpPr>
        <p:spPr>
          <a:xfrm>
            <a:off x="3849624"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Hybrid keyword + vector search across all four sources</a:t>
            </a:r>
            <a:endParaRPr lang="en-US" sz="1050" dirty="0"/>
          </a:p>
        </p:txBody>
      </p:sp>
      <p:sp>
        <p:nvSpPr>
          <p:cNvPr id="22" name="arrow-91"/>
          <p:cNvSpPr/>
          <p:nvPr/>
        </p:nvSpPr>
        <p:spPr>
          <a:xfrm>
            <a:off x="5129784" y="2478024"/>
            <a:ext cx="301752" cy="91"/>
          </a:xfrm>
          <a:prstGeom prst="line">
            <a:avLst/>
          </a:prstGeom>
          <a:noFill/>
          <a:ln w="22225">
            <a:solidFill>
              <a:schemeClr val="accent6"/>
            </a:solidFill>
            <a:prstDash val="solid"/>
            <a:tailEnd type="triangle"/>
          </a:ln>
        </p:spPr>
      </p:sp>
      <p:sp>
        <p:nvSpPr>
          <p:cNvPr id="23" name="step-92"/>
          <p:cNvSpPr/>
          <p:nvPr/>
        </p:nvSpPr>
        <p:spPr>
          <a:xfrm>
            <a:off x="5431536" y="1874520"/>
            <a:ext cx="1371600" cy="1207008"/>
          </a:xfrm>
          <a:prstGeom prst="roundRect">
            <a:avLst>
              <a:gd name="adj" fmla="val 3788"/>
            </a:avLst>
          </a:prstGeom>
          <a:solidFill>
            <a:srgbClr val="EAF3EA"/>
          </a:solidFill>
          <a:ln w="28575">
            <a:solidFill>
              <a:schemeClr val="accent1"/>
            </a:solidFill>
            <a:prstDash val="solid"/>
          </a:ln>
        </p:spPr>
      </p:sp>
      <p:sp>
        <p:nvSpPr>
          <p:cNvPr id="24" name="text-93"/>
          <p:cNvSpPr txBox="1"/>
          <p:nvPr/>
        </p:nvSpPr>
        <p:spPr>
          <a:xfrm>
            <a:off x="5522976"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③ Access gate</a:t>
            </a:r>
            <a:endParaRPr lang="en-US" sz="1300" dirty="0"/>
          </a:p>
        </p:txBody>
      </p:sp>
      <p:sp>
        <p:nvSpPr>
          <p:cNvPr id="25" name="text-94"/>
          <p:cNvSpPr txBox="1"/>
          <p:nvPr/>
        </p:nvSpPr>
        <p:spPr>
          <a:xfrm>
            <a:off x="5522976"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Allow/deny per document; permissions under 5 min old</a:t>
            </a:r>
            <a:endParaRPr lang="en-US" sz="1050" dirty="0"/>
          </a:p>
        </p:txBody>
      </p:sp>
      <p:sp>
        <p:nvSpPr>
          <p:cNvPr id="26" name="arrow-95"/>
          <p:cNvSpPr/>
          <p:nvPr/>
        </p:nvSpPr>
        <p:spPr>
          <a:xfrm>
            <a:off x="6803136" y="2478024"/>
            <a:ext cx="301752" cy="91"/>
          </a:xfrm>
          <a:prstGeom prst="line">
            <a:avLst/>
          </a:prstGeom>
          <a:noFill/>
          <a:ln w="22225">
            <a:solidFill>
              <a:schemeClr val="accent1"/>
            </a:solidFill>
            <a:prstDash val="solid"/>
            <a:tailEnd type="triangle"/>
          </a:ln>
        </p:spPr>
      </p:sp>
      <p:sp>
        <p:nvSpPr>
          <p:cNvPr id="27" name="step-96"/>
          <p:cNvSpPr/>
          <p:nvPr/>
        </p:nvSpPr>
        <p:spPr>
          <a:xfrm>
            <a:off x="7104888" y="1874520"/>
            <a:ext cx="1371600" cy="1207008"/>
          </a:xfrm>
          <a:prstGeom prst="roundRect">
            <a:avLst>
              <a:gd name="adj" fmla="val 3788"/>
            </a:avLst>
          </a:prstGeom>
          <a:solidFill>
            <a:schemeClr val="bg1"/>
          </a:solidFill>
          <a:ln w="15875">
            <a:solidFill>
              <a:schemeClr val="accent3"/>
            </a:solidFill>
            <a:prstDash val="solid"/>
          </a:ln>
        </p:spPr>
      </p:sp>
      <p:sp>
        <p:nvSpPr>
          <p:cNvPr id="28" name="text-97"/>
          <p:cNvSpPr txBox="1"/>
          <p:nvPr/>
        </p:nvSpPr>
        <p:spPr>
          <a:xfrm>
            <a:off x="7196328"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④ Fresh + safe</a:t>
            </a:r>
            <a:endParaRPr lang="en-US" sz="1300" dirty="0"/>
          </a:p>
        </p:txBody>
      </p:sp>
      <p:sp>
        <p:nvSpPr>
          <p:cNvPr id="29" name="text-98"/>
          <p:cNvSpPr txBox="1"/>
          <p:nvPr/>
        </p:nvSpPr>
        <p:spPr>
          <a:xfrm>
            <a:off x="7196328"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Live-verify critical docs; screen injection</a:t>
            </a:r>
            <a:endParaRPr lang="en-US" sz="1050" dirty="0"/>
          </a:p>
        </p:txBody>
      </p:sp>
      <p:sp>
        <p:nvSpPr>
          <p:cNvPr id="30" name="arrow-99"/>
          <p:cNvSpPr/>
          <p:nvPr/>
        </p:nvSpPr>
        <p:spPr>
          <a:xfrm>
            <a:off x="8476488" y="2478024"/>
            <a:ext cx="301752" cy="91"/>
          </a:xfrm>
          <a:prstGeom prst="line">
            <a:avLst/>
          </a:prstGeom>
          <a:noFill/>
          <a:ln w="22225">
            <a:solidFill>
              <a:schemeClr val="accent1"/>
            </a:solidFill>
            <a:prstDash val="solid"/>
            <a:tailEnd type="triangle"/>
          </a:ln>
        </p:spPr>
      </p:sp>
      <p:sp>
        <p:nvSpPr>
          <p:cNvPr id="31" name="step-100"/>
          <p:cNvSpPr/>
          <p:nvPr/>
        </p:nvSpPr>
        <p:spPr>
          <a:xfrm>
            <a:off x="8778240" y="1874520"/>
            <a:ext cx="1371600" cy="1207008"/>
          </a:xfrm>
          <a:prstGeom prst="roundRect">
            <a:avLst>
              <a:gd name="adj" fmla="val 3788"/>
            </a:avLst>
          </a:prstGeom>
          <a:solidFill>
            <a:schemeClr val="bg1"/>
          </a:solidFill>
          <a:ln w="15875">
            <a:solidFill>
              <a:schemeClr val="accent5"/>
            </a:solidFill>
            <a:prstDash val="solid"/>
          </a:ln>
        </p:spPr>
      </p:sp>
      <p:sp>
        <p:nvSpPr>
          <p:cNvPr id="32" name="text-101"/>
          <p:cNvSpPr txBox="1"/>
          <p:nvPr/>
        </p:nvSpPr>
        <p:spPr>
          <a:xfrm>
            <a:off x="8869680"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⑤ LLM</a:t>
            </a:r>
            <a:endParaRPr lang="en-US" sz="1300" dirty="0"/>
          </a:p>
        </p:txBody>
      </p:sp>
      <p:sp>
        <p:nvSpPr>
          <p:cNvPr id="33" name="text-102"/>
          <p:cNvSpPr txBox="1"/>
          <p:nvPr/>
        </p:nvSpPr>
        <p:spPr>
          <a:xfrm>
            <a:off x="8869680"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Tencent Cloud ADP composes from cited spans</a:t>
            </a:r>
            <a:endParaRPr lang="en-US" sz="1050" dirty="0"/>
          </a:p>
        </p:txBody>
      </p:sp>
      <p:sp>
        <p:nvSpPr>
          <p:cNvPr id="34" name="arrow-103"/>
          <p:cNvSpPr/>
          <p:nvPr/>
        </p:nvSpPr>
        <p:spPr>
          <a:xfrm>
            <a:off x="10149840" y="2478024"/>
            <a:ext cx="301752" cy="91"/>
          </a:xfrm>
          <a:prstGeom prst="line">
            <a:avLst/>
          </a:prstGeom>
          <a:noFill/>
          <a:ln w="22225">
            <a:solidFill>
              <a:schemeClr val="accent6"/>
            </a:solidFill>
            <a:prstDash val="solid"/>
            <a:tailEnd type="triangle"/>
          </a:ln>
        </p:spPr>
      </p:sp>
      <p:sp>
        <p:nvSpPr>
          <p:cNvPr id="35" name="step-104"/>
          <p:cNvSpPr/>
          <p:nvPr/>
        </p:nvSpPr>
        <p:spPr>
          <a:xfrm>
            <a:off x="10451592" y="1874520"/>
            <a:ext cx="1371600" cy="1207008"/>
          </a:xfrm>
          <a:prstGeom prst="roundRect">
            <a:avLst>
              <a:gd name="adj" fmla="val 3788"/>
            </a:avLst>
          </a:prstGeom>
          <a:solidFill>
            <a:schemeClr val="bg1"/>
          </a:solidFill>
          <a:ln w="15875">
            <a:solidFill>
              <a:schemeClr val="accent4"/>
            </a:solidFill>
            <a:prstDash val="solid"/>
          </a:ln>
        </p:spPr>
      </p:sp>
      <p:sp>
        <p:nvSpPr>
          <p:cNvPr id="36" name="text-105"/>
          <p:cNvSpPr txBox="1"/>
          <p:nvPr/>
        </p:nvSpPr>
        <p:spPr>
          <a:xfrm>
            <a:off x="10543032"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⑥ Verify</a:t>
            </a:r>
            <a:endParaRPr lang="en-US" sz="1300" dirty="0"/>
          </a:p>
        </p:txBody>
      </p:sp>
      <p:sp>
        <p:nvSpPr>
          <p:cNvPr id="37" name="text-106"/>
          <p:cNvSpPr txBox="1"/>
          <p:nvPr/>
        </p:nvSpPr>
        <p:spPr>
          <a:xfrm>
            <a:off x="10543032" y="2286000"/>
            <a:ext cx="1188720" cy="749808"/>
          </a:xfrm>
          <a:prstGeom prst="rect">
            <a:avLst/>
          </a:prstGeom>
          <a:noFill/>
          <a:ln/>
        </p:spPr>
        <p:txBody>
          <a:bodyPr wrap="square" lIns="0" tIns="0" rIns="0" bIns="0" rtlCol="0" anchor="t"/>
          <a:lstStyle/>
          <a:p>
            <a:pPr algn="l" indent="0" marL="0">
              <a:buNone/>
            </a:pPr>
            <a:r>
              <a:rPr lang="en-US" sz="1050" dirty="0">
                <a:solidFill>
                  <a:schemeClr val="tx1"/>
                </a:solidFill>
              </a:rPr>
              <a:t>Deterministic check of each claim; no LLM judge</a:t>
            </a:r>
            <a:endParaRPr lang="en-US" sz="1050" dirty="0"/>
          </a:p>
        </p:txBody>
      </p:sp>
      <p:sp>
        <p:nvSpPr>
          <p:cNvPr id="38" name="arrow-107"/>
          <p:cNvSpPr/>
          <p:nvPr/>
        </p:nvSpPr>
        <p:spPr>
          <a:xfrm flipV="1">
            <a:off x="11137392" y="1298448"/>
            <a:ext cx="91" cy="164592"/>
          </a:xfrm>
          <a:prstGeom prst="line">
            <a:avLst/>
          </a:prstGeom>
          <a:noFill/>
          <a:ln w="22225">
            <a:solidFill>
              <a:schemeClr val="accent1"/>
            </a:solidFill>
            <a:prstDash val="solid"/>
          </a:ln>
        </p:spPr>
      </p:sp>
      <p:sp>
        <p:nvSpPr>
          <p:cNvPr id="39" name="arrow-108"/>
          <p:cNvSpPr/>
          <p:nvPr/>
        </p:nvSpPr>
        <p:spPr>
          <a:xfrm flipH="1">
            <a:off x="1097280" y="1298448"/>
            <a:ext cx="10040112" cy="91"/>
          </a:xfrm>
          <a:prstGeom prst="line">
            <a:avLst/>
          </a:prstGeom>
          <a:noFill/>
          <a:ln w="22225">
            <a:solidFill>
              <a:schemeClr val="accent1"/>
            </a:solidFill>
            <a:prstDash val="solid"/>
          </a:ln>
        </p:spPr>
      </p:sp>
      <p:sp>
        <p:nvSpPr>
          <p:cNvPr id="40" name="arrow-109"/>
          <p:cNvSpPr/>
          <p:nvPr/>
        </p:nvSpPr>
        <p:spPr>
          <a:xfrm>
            <a:off x="1097280" y="1298448"/>
            <a:ext cx="91" cy="164592"/>
          </a:xfrm>
          <a:prstGeom prst="line">
            <a:avLst/>
          </a:prstGeom>
          <a:noFill/>
          <a:ln w="22225">
            <a:solidFill>
              <a:schemeClr val="accent1"/>
            </a:solidFill>
            <a:prstDash val="solid"/>
            <a:tailEnd type="triangle"/>
          </a:ln>
        </p:spPr>
      </p:sp>
      <p:sp>
        <p:nvSpPr>
          <p:cNvPr id="41" name="text-110"/>
          <p:cNvSpPr txBox="1"/>
          <p:nvPr/>
        </p:nvSpPr>
        <p:spPr>
          <a:xfrm>
            <a:off x="2194560" y="1069848"/>
            <a:ext cx="7772400" cy="219456"/>
          </a:xfrm>
          <a:prstGeom prst="rect">
            <a:avLst/>
          </a:prstGeom>
          <a:noFill/>
          <a:ln/>
        </p:spPr>
        <p:txBody>
          <a:bodyPr wrap="square" lIns="0" tIns="0" rIns="0" bIns="0" rtlCol="0" anchor="t"/>
          <a:lstStyle/>
          <a:p>
            <a:pPr algn="ctr" indent="0" marL="0">
              <a:buNone/>
            </a:pPr>
            <a:r>
              <a:rPr lang="en-US" sz="1050" b="1" dirty="0">
                <a:solidFill>
                  <a:schemeClr val="accent1"/>
                </a:solidFill>
              </a:rPr>
              <a:t>Cited answer + freshness receipt + grounding report + access summary (allowed count only)</a:t>
            </a:r>
            <a:endParaRPr lang="en-US" sz="1050" dirty="0"/>
          </a:p>
        </p:txBody>
      </p:sp>
      <p:sp>
        <p:nvSpPr>
          <p:cNvPr id="42" name="arrow-111"/>
          <p:cNvSpPr/>
          <p:nvPr/>
        </p:nvSpPr>
        <p:spPr>
          <a:xfrm>
            <a:off x="6949440" y="1417320"/>
            <a:ext cx="91" cy="1783080"/>
          </a:xfrm>
          <a:prstGeom prst="line">
            <a:avLst/>
          </a:prstGeom>
          <a:noFill/>
          <a:ln w="28575">
            <a:solidFill>
              <a:schemeClr val="accent2"/>
            </a:solidFill>
            <a:prstDash val="dash"/>
          </a:ln>
        </p:spPr>
      </p:sp>
      <p:sp>
        <p:nvSpPr>
          <p:cNvPr id="43" name="pill-112"/>
          <p:cNvSpPr txBox="1"/>
          <p:nvPr/>
        </p:nvSpPr>
        <p:spPr>
          <a:xfrm>
            <a:off x="6080760" y="3200400"/>
            <a:ext cx="1737360" cy="274320"/>
          </a:xfrm>
          <a:prstGeom prst="roundRect">
            <a:avLst>
              <a:gd name="adj" fmla="val 50000"/>
            </a:avLst>
          </a:prstGeom>
          <a:solidFill>
            <a:schemeClr val="accent2"/>
          </a:solidFill>
          <a:ln/>
        </p:spPr>
        <p:txBody>
          <a:bodyPr wrap="square" lIns="0" tIns="0" rIns="0" bIns="0" rtlCol="0" anchor="ctr"/>
          <a:lstStyle/>
          <a:p>
            <a:pPr algn="ctr" indent="0" marL="0">
              <a:buNone/>
            </a:pPr>
            <a:r>
              <a:rPr lang="en-US" sz="800" b="1" dirty="0">
                <a:solidFill>
                  <a:schemeClr val="bg1"/>
                </a:solidFill>
              </a:rPr>
              <a:t>MODEL-CONTEXT BOUNDARY</a:t>
            </a:r>
            <a:endParaRPr lang="en-US" sz="800" dirty="0"/>
          </a:p>
        </p:txBody>
      </p:sp>
      <p:sp>
        <p:nvSpPr>
          <p:cNvPr id="44" name="denied-callout-113"/>
          <p:cNvSpPr/>
          <p:nvPr/>
        </p:nvSpPr>
        <p:spPr>
          <a:xfrm>
            <a:off x="7086600" y="3611880"/>
            <a:ext cx="2103120" cy="841248"/>
          </a:xfrm>
          <a:prstGeom prst="roundRect">
            <a:avLst>
              <a:gd name="adj" fmla="val 5435"/>
            </a:avLst>
          </a:prstGeom>
          <a:solidFill>
            <a:srgbClr val="FBECEB"/>
          </a:solidFill>
          <a:ln w="12700">
            <a:solidFill>
              <a:schemeClr val="accent2"/>
            </a:solidFill>
            <a:prstDash val="solid"/>
          </a:ln>
        </p:spPr>
      </p:sp>
      <p:pic>
        <p:nvPicPr>
          <p:cNvPr id="45" name="ban-114" descr="preencoded.png">    </p:cNvPr>
          <p:cNvPicPr>
            <a:picLocks noChangeAspect="1"/>
          </p:cNvPicPr>
          <p:nvPr/>
        </p:nvPicPr>
        <p:blipFill>
          <a:blip r:embed="rId1"/>
          <a:stretch>
            <a:fillRect/>
          </a:stretch>
        </p:blipFill>
        <p:spPr>
          <a:xfrm>
            <a:off x="7178040" y="3703320"/>
            <a:ext cx="274320" cy="274320"/>
          </a:xfrm>
          <a:prstGeom prst="rect">
            <a:avLst/>
          </a:prstGeom>
        </p:spPr>
      </p:pic>
      <p:sp>
        <p:nvSpPr>
          <p:cNvPr id="46" name="text-115"/>
          <p:cNvSpPr txBox="1"/>
          <p:nvPr/>
        </p:nvSpPr>
        <p:spPr>
          <a:xfrm>
            <a:off x="7516368" y="3648456"/>
            <a:ext cx="1627632" cy="777240"/>
          </a:xfrm>
          <a:prstGeom prst="rect">
            <a:avLst/>
          </a:prstGeom>
          <a:noFill/>
          <a:ln/>
        </p:spPr>
        <p:txBody>
          <a:bodyPr wrap="square" lIns="0" tIns="0" rIns="0" bIns="0" rtlCol="0" anchor="ctr"/>
          <a:lstStyle/>
          <a:p>
            <a:pPr algn="l" indent="0" marL="0">
              <a:buNone/>
            </a:pPr>
            <a:r>
              <a:rPr lang="en-US" sz="950" b="1" dirty="0">
                <a:solidFill>
                  <a:schemeClr val="accent2"/>
                </a:solidFill>
              </a:rPr>
              <a:t>Denied documents stop at the gate. </a:t>
            </a:r>
            <a:pPr algn="l" indent="0" marL="0">
              <a:buNone/>
            </a:pPr>
            <a:r>
              <a:rPr lang="en-US" sz="950" dirty="0">
                <a:solidFill>
                  <a:schemeClr val="tx1"/>
                </a:solidFill>
              </a:rPr>
              <a:t>Their text never reaches the model; only the audit log records it.</a:t>
            </a:r>
            <a:endParaRPr lang="en-US" sz="950" dirty="0"/>
          </a:p>
        </p:txBody>
      </p:sp>
      <p:sp>
        <p:nvSpPr>
          <p:cNvPr id="47" name="zone-sources-116"/>
          <p:cNvSpPr/>
          <p:nvPr/>
        </p:nvSpPr>
        <p:spPr>
          <a:xfrm>
            <a:off x="292608" y="4553712"/>
            <a:ext cx="1828800" cy="1545336"/>
          </a:xfrm>
          <a:prstGeom prst="roundRect">
            <a:avLst>
              <a:gd name="adj" fmla="val 3550"/>
            </a:avLst>
          </a:prstGeom>
          <a:solidFill>
            <a:schemeClr val="bg1"/>
          </a:solidFill>
          <a:ln w="12700">
            <a:solidFill>
              <a:schemeClr val="accent6"/>
            </a:solidFill>
            <a:prstDash val="dash"/>
          </a:ln>
        </p:spPr>
      </p:sp>
      <p:sp>
        <p:nvSpPr>
          <p:cNvPr id="48" name="text-117"/>
          <p:cNvSpPr txBox="1"/>
          <p:nvPr/>
        </p:nvSpPr>
        <p:spPr>
          <a:xfrm>
            <a:off x="292608" y="4590288"/>
            <a:ext cx="1828800" cy="201168"/>
          </a:xfrm>
          <a:prstGeom prst="rect">
            <a:avLst/>
          </a:prstGeom>
          <a:noFill/>
          <a:ln/>
        </p:spPr>
        <p:txBody>
          <a:bodyPr wrap="square" lIns="0" tIns="0" rIns="0" bIns="0" rtlCol="0" anchor="t"/>
          <a:lstStyle/>
          <a:p>
            <a:pPr algn="ctr" indent="0" marL="0">
              <a:buNone/>
            </a:pPr>
            <a:r>
              <a:rPr lang="en-US" sz="900" b="1" dirty="0">
                <a:solidFill>
                  <a:schemeClr val="accent6"/>
                </a:solidFill>
              </a:rPr>
              <a:t>SOURCES  (text is untrusted)</a:t>
            </a:r>
            <a:endParaRPr lang="en-US" sz="900" dirty="0"/>
          </a:p>
        </p:txBody>
      </p:sp>
      <p:pic>
        <p:nvPicPr>
          <p:cNvPr id="49" name="src-icon-118" descr="preencoded.png">    </p:cNvPr>
          <p:cNvPicPr>
            <a:picLocks noChangeAspect="1"/>
          </p:cNvPicPr>
          <p:nvPr/>
        </p:nvPicPr>
        <p:blipFill>
          <a:blip r:embed="rId2"/>
          <a:stretch>
            <a:fillRect/>
          </a:stretch>
        </p:blipFill>
        <p:spPr>
          <a:xfrm>
            <a:off x="457200" y="4846320"/>
            <a:ext cx="237744" cy="237744"/>
          </a:xfrm>
          <a:prstGeom prst="rect">
            <a:avLst/>
          </a:prstGeom>
        </p:spPr>
      </p:pic>
      <p:sp>
        <p:nvSpPr>
          <p:cNvPr id="50" name="text-119"/>
          <p:cNvSpPr txBox="1"/>
          <p:nvPr/>
        </p:nvSpPr>
        <p:spPr>
          <a:xfrm>
            <a:off x="777240" y="4846320"/>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Confluence</a:t>
            </a:r>
            <a:endParaRPr lang="en-US" sz="1200" dirty="0"/>
          </a:p>
        </p:txBody>
      </p:sp>
      <p:pic>
        <p:nvPicPr>
          <p:cNvPr id="51" name="src-icon-120" descr="preencoded.png">    </p:cNvPr>
          <p:cNvPicPr>
            <a:picLocks noChangeAspect="1"/>
          </p:cNvPicPr>
          <p:nvPr/>
        </p:nvPicPr>
        <p:blipFill>
          <a:blip r:embed="rId3"/>
          <a:stretch>
            <a:fillRect/>
          </a:stretch>
        </p:blipFill>
        <p:spPr>
          <a:xfrm>
            <a:off x="457200" y="5157216"/>
            <a:ext cx="237744" cy="237744"/>
          </a:xfrm>
          <a:prstGeom prst="rect">
            <a:avLst/>
          </a:prstGeom>
        </p:spPr>
      </p:pic>
      <p:sp>
        <p:nvSpPr>
          <p:cNvPr id="52" name="text-121"/>
          <p:cNvSpPr txBox="1"/>
          <p:nvPr/>
        </p:nvSpPr>
        <p:spPr>
          <a:xfrm>
            <a:off x="777240" y="5157216"/>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Jira</a:t>
            </a:r>
            <a:endParaRPr lang="en-US" sz="1200" dirty="0"/>
          </a:p>
        </p:txBody>
      </p:sp>
      <p:pic>
        <p:nvPicPr>
          <p:cNvPr id="53" name="src-icon-122" descr="preencoded.png">    </p:cNvPr>
          <p:cNvPicPr>
            <a:picLocks noChangeAspect="1"/>
          </p:cNvPicPr>
          <p:nvPr/>
        </p:nvPicPr>
        <p:blipFill>
          <a:blip r:embed="rId4"/>
          <a:stretch>
            <a:fillRect/>
          </a:stretch>
        </p:blipFill>
        <p:spPr>
          <a:xfrm>
            <a:off x="457200" y="5468112"/>
            <a:ext cx="237744" cy="237744"/>
          </a:xfrm>
          <a:prstGeom prst="rect">
            <a:avLst/>
          </a:prstGeom>
        </p:spPr>
      </p:pic>
      <p:sp>
        <p:nvSpPr>
          <p:cNvPr id="54" name="text-123"/>
          <p:cNvSpPr txBox="1"/>
          <p:nvPr/>
        </p:nvSpPr>
        <p:spPr>
          <a:xfrm>
            <a:off x="777240" y="5468112"/>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Slack</a:t>
            </a:r>
            <a:endParaRPr lang="en-US" sz="1200" dirty="0"/>
          </a:p>
        </p:txBody>
      </p:sp>
      <p:pic>
        <p:nvPicPr>
          <p:cNvPr id="55" name="src-icon-124" descr="preencoded.png">    </p:cNvPr>
          <p:cNvPicPr>
            <a:picLocks noChangeAspect="1"/>
          </p:cNvPicPr>
          <p:nvPr/>
        </p:nvPicPr>
        <p:blipFill>
          <a:blip r:embed="rId5"/>
          <a:stretch>
            <a:fillRect/>
          </a:stretch>
        </p:blipFill>
        <p:spPr>
          <a:xfrm>
            <a:off x="457200" y="5779008"/>
            <a:ext cx="237744" cy="237744"/>
          </a:xfrm>
          <a:prstGeom prst="rect">
            <a:avLst/>
          </a:prstGeom>
        </p:spPr>
      </p:pic>
      <p:sp>
        <p:nvSpPr>
          <p:cNvPr id="56" name="text-125"/>
          <p:cNvSpPr txBox="1"/>
          <p:nvPr/>
        </p:nvSpPr>
        <p:spPr>
          <a:xfrm>
            <a:off x="777240" y="5779008"/>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Google Drive</a:t>
            </a:r>
            <a:endParaRPr lang="en-US" sz="1200" dirty="0"/>
          </a:p>
        </p:txBody>
      </p:sp>
      <p:sp>
        <p:nvSpPr>
          <p:cNvPr id="57" name="store-126"/>
          <p:cNvSpPr/>
          <p:nvPr/>
        </p:nvSpPr>
        <p:spPr>
          <a:xfrm>
            <a:off x="2377440" y="4663440"/>
            <a:ext cx="2148840" cy="1325880"/>
          </a:xfrm>
          <a:prstGeom prst="roundRect">
            <a:avLst>
              <a:gd name="adj" fmla="val 3448"/>
            </a:avLst>
          </a:prstGeom>
          <a:solidFill>
            <a:schemeClr val="bg1"/>
          </a:solidFill>
          <a:ln w="15875">
            <a:solidFill>
              <a:schemeClr val="accent4"/>
            </a:solidFill>
            <a:prstDash val="solid"/>
          </a:ln>
        </p:spPr>
      </p:sp>
      <p:pic>
        <p:nvPicPr>
          <p:cNvPr id="58" name="store-icon-127" descr="preencoded.png">    </p:cNvPr>
          <p:cNvPicPr>
            <a:picLocks noChangeAspect="1"/>
          </p:cNvPicPr>
          <p:nvPr/>
        </p:nvPicPr>
        <p:blipFill>
          <a:blip r:embed="rId6"/>
          <a:stretch>
            <a:fillRect/>
          </a:stretch>
        </p:blipFill>
        <p:spPr>
          <a:xfrm>
            <a:off x="2514600" y="4800600"/>
            <a:ext cx="310896" cy="310896"/>
          </a:xfrm>
          <a:prstGeom prst="rect">
            <a:avLst/>
          </a:prstGeom>
        </p:spPr>
      </p:pic>
      <p:sp>
        <p:nvSpPr>
          <p:cNvPr id="59" name="text-128"/>
          <p:cNvSpPr txBox="1"/>
          <p:nvPr/>
        </p:nvSpPr>
        <p:spPr>
          <a:xfrm>
            <a:off x="2907792" y="4782312"/>
            <a:ext cx="1508760" cy="347472"/>
          </a:xfrm>
          <a:prstGeom prst="rect">
            <a:avLst/>
          </a:prstGeom>
          <a:noFill/>
          <a:ln/>
        </p:spPr>
        <p:txBody>
          <a:bodyPr wrap="square" lIns="0" tIns="0" rIns="0" bIns="0" rtlCol="0" anchor="ctr"/>
          <a:lstStyle/>
          <a:p>
            <a:pPr algn="l" indent="0" marL="0">
              <a:buNone/>
            </a:pPr>
            <a:r>
              <a:rPr lang="en-US" sz="1300" b="1" dirty="0">
                <a:solidFill>
                  <a:schemeClr val="tx2"/>
                </a:solidFill>
              </a:rPr>
              <a:t>Sync workers</a:t>
            </a:r>
            <a:endParaRPr lang="en-US" sz="1300" dirty="0"/>
          </a:p>
        </p:txBody>
      </p:sp>
      <p:sp>
        <p:nvSpPr>
          <p:cNvPr id="60" name="text-129"/>
          <p:cNvSpPr txBox="1"/>
          <p:nvPr/>
        </p:nvSpPr>
        <p:spPr>
          <a:xfrm>
            <a:off x="2514600" y="5212080"/>
            <a:ext cx="1874520" cy="868680"/>
          </a:xfrm>
          <a:prstGeom prst="rect">
            <a:avLst/>
          </a:prstGeom>
          <a:noFill/>
          <a:ln/>
        </p:spPr>
        <p:txBody>
          <a:bodyPr wrap="square" lIns="0" tIns="0" rIns="0" bIns="0" rtlCol="0" anchor="t"/>
          <a:lstStyle/>
          <a:p>
            <a:pPr algn="l" indent="0" marL="0">
              <a:buNone/>
            </a:pPr>
            <a:r>
              <a:rPr lang="en-US" sz="1100" dirty="0">
                <a:solidFill>
                  <a:schemeClr val="tx1"/>
                </a:solidFill>
              </a:rPr>
              <a:t>Celery: webhooks and syncs. Re-reads every page's permissions each minute.</a:t>
            </a:r>
            <a:endParaRPr lang="en-US" sz="1100" dirty="0"/>
          </a:p>
        </p:txBody>
      </p:sp>
      <p:sp>
        <p:nvSpPr>
          <p:cNvPr id="61" name="store-130"/>
          <p:cNvSpPr/>
          <p:nvPr/>
        </p:nvSpPr>
        <p:spPr>
          <a:xfrm>
            <a:off x="4800600" y="4663440"/>
            <a:ext cx="2834640" cy="1325880"/>
          </a:xfrm>
          <a:prstGeom prst="roundRect">
            <a:avLst>
              <a:gd name="adj" fmla="val 3448"/>
            </a:avLst>
          </a:prstGeom>
          <a:solidFill>
            <a:schemeClr val="bg1"/>
          </a:solidFill>
          <a:ln w="15875">
            <a:solidFill>
              <a:schemeClr val="accent4"/>
            </a:solidFill>
            <a:prstDash val="solid"/>
          </a:ln>
        </p:spPr>
      </p:sp>
      <p:pic>
        <p:nvPicPr>
          <p:cNvPr id="62" name="store-icon-131" descr="preencoded.png">    </p:cNvPr>
          <p:cNvPicPr>
            <a:picLocks noChangeAspect="1"/>
          </p:cNvPicPr>
          <p:nvPr/>
        </p:nvPicPr>
        <p:blipFill>
          <a:blip r:embed="rId7"/>
          <a:stretch>
            <a:fillRect/>
          </a:stretch>
        </p:blipFill>
        <p:spPr>
          <a:xfrm>
            <a:off x="4937760" y="4800600"/>
            <a:ext cx="310896" cy="310896"/>
          </a:xfrm>
          <a:prstGeom prst="rect">
            <a:avLst/>
          </a:prstGeom>
        </p:spPr>
      </p:pic>
      <p:sp>
        <p:nvSpPr>
          <p:cNvPr id="63" name="text-132"/>
          <p:cNvSpPr txBox="1"/>
          <p:nvPr/>
        </p:nvSpPr>
        <p:spPr>
          <a:xfrm>
            <a:off x="5330952" y="4782312"/>
            <a:ext cx="2194560" cy="347472"/>
          </a:xfrm>
          <a:prstGeom prst="rect">
            <a:avLst/>
          </a:prstGeom>
          <a:noFill/>
          <a:ln/>
        </p:spPr>
        <p:txBody>
          <a:bodyPr wrap="square" lIns="0" tIns="0" rIns="0" bIns="0" rtlCol="0" anchor="ctr"/>
          <a:lstStyle/>
          <a:p>
            <a:pPr algn="l" indent="0" marL="0">
              <a:buNone/>
            </a:pPr>
            <a:r>
              <a:rPr lang="en-US" sz="1300" b="1" dirty="0">
                <a:solidFill>
                  <a:schemeClr val="tx2"/>
                </a:solidFill>
              </a:rPr>
              <a:t>Postgres + pgvector</a:t>
            </a:r>
            <a:endParaRPr lang="en-US" sz="1300" dirty="0"/>
          </a:p>
        </p:txBody>
      </p:sp>
      <p:sp>
        <p:nvSpPr>
          <p:cNvPr id="64" name="text-133"/>
          <p:cNvSpPr txBox="1"/>
          <p:nvPr/>
        </p:nvSpPr>
        <p:spPr>
          <a:xfrm>
            <a:off x="4937760" y="5212080"/>
            <a:ext cx="2560320" cy="868680"/>
          </a:xfrm>
          <a:prstGeom prst="rect">
            <a:avLst/>
          </a:prstGeom>
          <a:noFill/>
          <a:ln/>
        </p:spPr>
        <p:txBody>
          <a:bodyPr wrap="square" lIns="0" tIns="0" rIns="0" bIns="0" rtlCol="0" anchor="t"/>
          <a:lstStyle/>
          <a:p>
            <a:pPr algn="l" indent="0" marL="0">
              <a:buNone/>
            </a:pPr>
            <a:r>
              <a:rPr lang="en-US" sz="1100" dirty="0">
                <a:solidFill>
                  <a:schemeClr val="tx1"/>
                </a:solidFill>
              </a:rPr>
              <a:t>Pages, chunks, embeddings, permission snapshots and grants</a:t>
            </a:r>
            <a:endParaRPr lang="en-US" sz="1100" dirty="0"/>
          </a:p>
        </p:txBody>
      </p:sp>
      <p:sp>
        <p:nvSpPr>
          <p:cNvPr id="65" name="store-134"/>
          <p:cNvSpPr/>
          <p:nvPr/>
        </p:nvSpPr>
        <p:spPr>
          <a:xfrm>
            <a:off x="8778240" y="4663440"/>
            <a:ext cx="3044952" cy="1325880"/>
          </a:xfrm>
          <a:prstGeom prst="roundRect">
            <a:avLst>
              <a:gd name="adj" fmla="val 3448"/>
            </a:avLst>
          </a:prstGeom>
          <a:solidFill>
            <a:schemeClr val="bg1"/>
          </a:solidFill>
          <a:ln w="15875">
            <a:solidFill>
              <a:schemeClr val="accent5"/>
            </a:solidFill>
            <a:prstDash val="solid"/>
          </a:ln>
        </p:spPr>
      </p:sp>
      <p:pic>
        <p:nvPicPr>
          <p:cNvPr id="66" name="store-icon-135" descr="preencoded.png">    </p:cNvPr>
          <p:cNvPicPr>
            <a:picLocks noChangeAspect="1"/>
          </p:cNvPicPr>
          <p:nvPr/>
        </p:nvPicPr>
        <p:blipFill>
          <a:blip r:embed="rId8"/>
          <a:stretch>
            <a:fillRect/>
          </a:stretch>
        </p:blipFill>
        <p:spPr>
          <a:xfrm>
            <a:off x="8915400" y="4800600"/>
            <a:ext cx="310896" cy="310896"/>
          </a:xfrm>
          <a:prstGeom prst="rect">
            <a:avLst/>
          </a:prstGeom>
        </p:spPr>
      </p:pic>
      <p:sp>
        <p:nvSpPr>
          <p:cNvPr id="67" name="text-136"/>
          <p:cNvSpPr txBox="1"/>
          <p:nvPr/>
        </p:nvSpPr>
        <p:spPr>
          <a:xfrm>
            <a:off x="9308592" y="4782312"/>
            <a:ext cx="2404872" cy="347472"/>
          </a:xfrm>
          <a:prstGeom prst="rect">
            <a:avLst/>
          </a:prstGeom>
          <a:noFill/>
          <a:ln/>
        </p:spPr>
        <p:txBody>
          <a:bodyPr wrap="square" lIns="0" tIns="0" rIns="0" bIns="0" rtlCol="0" anchor="ctr"/>
          <a:lstStyle/>
          <a:p>
            <a:pPr algn="l" indent="0" marL="0">
              <a:buNone/>
            </a:pPr>
            <a:r>
              <a:rPr lang="en-US" sz="1300" b="1" dirty="0">
                <a:solidFill>
                  <a:schemeClr val="tx2"/>
                </a:solidFill>
              </a:rPr>
              <a:t>Audit log</a:t>
            </a:r>
            <a:endParaRPr lang="en-US" sz="1300" dirty="0"/>
          </a:p>
        </p:txBody>
      </p:sp>
      <p:sp>
        <p:nvSpPr>
          <p:cNvPr id="68" name="text-137"/>
          <p:cNvSpPr txBox="1"/>
          <p:nvPr/>
        </p:nvSpPr>
        <p:spPr>
          <a:xfrm>
            <a:off x="8915400" y="5212080"/>
            <a:ext cx="2770632" cy="868680"/>
          </a:xfrm>
          <a:prstGeom prst="rect">
            <a:avLst/>
          </a:prstGeom>
          <a:noFill/>
          <a:ln/>
        </p:spPr>
        <p:txBody>
          <a:bodyPr wrap="square" lIns="0" tIns="0" rIns="0" bIns="0" rtlCol="0" anchor="t"/>
          <a:lstStyle/>
          <a:p>
            <a:pPr algn="l" indent="0" marL="0">
              <a:buNone/>
            </a:pPr>
            <a:r>
              <a:rPr lang="en-US" sz="1100" dirty="0">
                <a:solidFill>
                  <a:schemeClr val="tx1"/>
                </a:solidFill>
              </a:rPr>
              <a:t>Append-only, hash-chained: who asked, what was retrieved, each allow/deny, the answer</a:t>
            </a:r>
            <a:endParaRPr lang="en-US" sz="1100" dirty="0"/>
          </a:p>
        </p:txBody>
      </p:sp>
      <p:sp>
        <p:nvSpPr>
          <p:cNvPr id="69" name="arrow-138"/>
          <p:cNvSpPr/>
          <p:nvPr/>
        </p:nvSpPr>
        <p:spPr>
          <a:xfrm>
            <a:off x="2121408" y="5326380"/>
            <a:ext cx="256032" cy="91"/>
          </a:xfrm>
          <a:prstGeom prst="line">
            <a:avLst/>
          </a:prstGeom>
          <a:noFill/>
          <a:ln w="22225">
            <a:solidFill>
              <a:schemeClr val="accent6"/>
            </a:solidFill>
            <a:prstDash val="solid"/>
            <a:tailEnd type="triangle"/>
          </a:ln>
        </p:spPr>
      </p:sp>
      <p:sp>
        <p:nvSpPr>
          <p:cNvPr id="70" name="arrow-139"/>
          <p:cNvSpPr/>
          <p:nvPr/>
        </p:nvSpPr>
        <p:spPr>
          <a:xfrm>
            <a:off x="4526280" y="5326380"/>
            <a:ext cx="274320" cy="91"/>
          </a:xfrm>
          <a:prstGeom prst="line">
            <a:avLst/>
          </a:prstGeom>
          <a:noFill/>
          <a:ln w="22225">
            <a:solidFill>
              <a:schemeClr val="accent6"/>
            </a:solidFill>
            <a:prstDash val="solid"/>
            <a:tailEnd type="triangle"/>
          </a:ln>
        </p:spPr>
      </p:sp>
      <p:sp>
        <p:nvSpPr>
          <p:cNvPr id="71" name="arrow-140"/>
          <p:cNvSpPr/>
          <p:nvPr/>
        </p:nvSpPr>
        <p:spPr>
          <a:xfrm flipV="1">
            <a:off x="4572000" y="3081528"/>
            <a:ext cx="91" cy="1581912"/>
          </a:xfrm>
          <a:prstGeom prst="line">
            <a:avLst/>
          </a:prstGeom>
          <a:noFill/>
          <a:ln w="22225">
            <a:solidFill>
              <a:schemeClr val="accent4"/>
            </a:solidFill>
            <a:prstDash val="solid"/>
            <a:tailEnd type="triangle"/>
          </a:ln>
        </p:spPr>
      </p:sp>
      <p:sp>
        <p:nvSpPr>
          <p:cNvPr id="72" name="text-141"/>
          <p:cNvSpPr txBox="1"/>
          <p:nvPr/>
        </p:nvSpPr>
        <p:spPr>
          <a:xfrm>
            <a:off x="3767328" y="3584448"/>
            <a:ext cx="777240" cy="201168"/>
          </a:xfrm>
          <a:prstGeom prst="rect">
            <a:avLst/>
          </a:prstGeom>
          <a:noFill/>
          <a:ln/>
        </p:spPr>
        <p:txBody>
          <a:bodyPr wrap="square" lIns="0" tIns="0" rIns="0" bIns="0" rtlCol="0" anchor="t"/>
          <a:lstStyle/>
          <a:p>
            <a:pPr algn="r" indent="0" marL="0">
              <a:buNone/>
            </a:pPr>
            <a:r>
              <a:rPr lang="en-US" sz="950" dirty="0">
                <a:solidFill>
                  <a:schemeClr val="accent4"/>
                </a:solidFill>
              </a:rPr>
              <a:t>candidates</a:t>
            </a:r>
            <a:endParaRPr lang="en-US" sz="950" dirty="0"/>
          </a:p>
        </p:txBody>
      </p:sp>
      <p:sp>
        <p:nvSpPr>
          <p:cNvPr id="73" name="arrow-142"/>
          <p:cNvSpPr/>
          <p:nvPr/>
        </p:nvSpPr>
        <p:spPr>
          <a:xfrm flipV="1">
            <a:off x="5989320" y="3081528"/>
            <a:ext cx="91" cy="1581912"/>
          </a:xfrm>
          <a:prstGeom prst="line">
            <a:avLst/>
          </a:prstGeom>
          <a:noFill/>
          <a:ln w="22225">
            <a:solidFill>
              <a:schemeClr val="accent1"/>
            </a:solidFill>
            <a:prstDash val="solid"/>
            <a:tailEnd type="triangle"/>
          </a:ln>
        </p:spPr>
      </p:sp>
      <p:sp>
        <p:nvSpPr>
          <p:cNvPr id="74" name="text-143"/>
          <p:cNvSpPr txBox="1"/>
          <p:nvPr/>
        </p:nvSpPr>
        <p:spPr>
          <a:xfrm>
            <a:off x="6053328" y="4069080"/>
            <a:ext cx="1005840" cy="384048"/>
          </a:xfrm>
          <a:prstGeom prst="rect">
            <a:avLst/>
          </a:prstGeom>
          <a:noFill/>
          <a:ln/>
        </p:spPr>
        <p:txBody>
          <a:bodyPr wrap="square" lIns="0" tIns="0" rIns="0" bIns="0" rtlCol="0" anchor="t"/>
          <a:lstStyle/>
          <a:p>
            <a:pPr algn="l" indent="0" marL="0">
              <a:buNone/>
            </a:pPr>
            <a:r>
              <a:rPr lang="en-US" sz="950" dirty="0">
                <a:solidFill>
                  <a:schemeClr val="accent1"/>
                </a:solidFill>
              </a:rPr>
              <a:t>permissions, reloaded every query</a:t>
            </a:r>
            <a:endParaRPr lang="en-US" sz="950" dirty="0"/>
          </a:p>
        </p:txBody>
      </p:sp>
      <p:sp>
        <p:nvSpPr>
          <p:cNvPr id="75" name="arrow-144"/>
          <p:cNvSpPr/>
          <p:nvPr/>
        </p:nvSpPr>
        <p:spPr>
          <a:xfrm>
            <a:off x="11137392" y="3081528"/>
            <a:ext cx="91" cy="1581912"/>
          </a:xfrm>
          <a:prstGeom prst="line">
            <a:avLst/>
          </a:prstGeom>
          <a:noFill/>
          <a:ln w="22225">
            <a:solidFill>
              <a:schemeClr val="accent5"/>
            </a:solidFill>
            <a:prstDash val="solid"/>
            <a:tailEnd type="triangle"/>
          </a:ln>
        </p:spPr>
      </p:sp>
      <p:sp>
        <p:nvSpPr>
          <p:cNvPr id="76" name="text-145"/>
          <p:cNvSpPr txBox="1"/>
          <p:nvPr/>
        </p:nvSpPr>
        <p:spPr>
          <a:xfrm>
            <a:off x="9235440" y="3584448"/>
            <a:ext cx="1783080" cy="384048"/>
          </a:xfrm>
          <a:prstGeom prst="rect">
            <a:avLst/>
          </a:prstGeom>
          <a:noFill/>
          <a:ln/>
        </p:spPr>
        <p:txBody>
          <a:bodyPr wrap="square" lIns="0" tIns="0" rIns="0" bIns="0" rtlCol="0" anchor="t"/>
          <a:lstStyle/>
          <a:p>
            <a:pPr algn="r" indent="0" marL="0">
              <a:buNone/>
            </a:pPr>
            <a:r>
              <a:rPr lang="en-US" sz="950" dirty="0">
                <a:solidFill>
                  <a:schemeClr val="accent5"/>
                </a:solidFill>
              </a:rPr>
              <a:t>one audit event per question</a:t>
            </a:r>
            <a:endParaRPr lang="en-US" sz="950" dirty="0"/>
          </a:p>
        </p:txBody>
      </p:sp>
      <p:sp>
        <p:nvSpPr>
          <p:cNvPr id="77" name="text-146"/>
          <p:cNvSpPr txBox="1"/>
          <p:nvPr/>
        </p:nvSpPr>
        <p:spPr>
          <a:xfrm>
            <a:off x="292608" y="6172200"/>
            <a:ext cx="11612880" cy="219456"/>
          </a:xfrm>
          <a:prstGeom prst="rect">
            <a:avLst/>
          </a:prstGeom>
          <a:noFill/>
          <a:ln/>
        </p:spPr>
        <p:txBody>
          <a:bodyPr wrap="square" lIns="0" tIns="0" rIns="0" bIns="0" rtlCol="0" anchor="t"/>
          <a:lstStyle/>
          <a:p>
            <a:pPr algn="l" indent="0" marL="0">
              <a:buNone/>
            </a:pPr>
            <a:r>
              <a:rPr lang="en-US" sz="950" i="1" dirty="0">
                <a:solidFill>
                  <a:schemeClr val="accent6"/>
                </a:solidFill>
              </a:rPr>
              <a:t>Green path: authorised evidence only.  Red dashed line: nothing denied crosses it.  Dashed boxes: untrusted or external.  Production Slack is searched live, never stored.</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Four trust boundaries,</a:t>
            </a:r>
            <a:pPr algn="l" indent="0" marL="0">
              <a:buNone/>
            </a:pPr>
            <a:r>
              <a:rPr lang="en-US" sz="2600" b="1" dirty="0">
                <a:solidFill>
                  <a:srgbClr val="8C8C8C"/>
                </a:solidFill>
              </a:rPr>
              <a:t> each failing closed</a:t>
            </a:r>
            <a:endParaRPr lang="en-US" sz="2600" dirty="0"/>
          </a:p>
        </p:txBody>
      </p:sp>
      <p:sp>
        <p:nvSpPr>
          <p:cNvPr id="3" name="tb-row-147"/>
          <p:cNvSpPr/>
          <p:nvPr/>
        </p:nvSpPr>
        <p:spPr>
          <a:xfrm>
            <a:off x="548640" y="1371600"/>
            <a:ext cx="11064240" cy="1051560"/>
          </a:xfrm>
          <a:prstGeom prst="roundRect">
            <a:avLst>
              <a:gd name="adj" fmla="val 4348"/>
            </a:avLst>
          </a:prstGeom>
          <a:solidFill>
            <a:schemeClr val="bg2"/>
          </a:solidFill>
          <a:ln/>
        </p:spPr>
      </p:sp>
      <p:sp>
        <p:nvSpPr>
          <p:cNvPr id="4" name="num-148"/>
          <p:cNvSpPr txBox="1"/>
          <p:nvPr/>
        </p:nvSpPr>
        <p:spPr>
          <a:xfrm>
            <a:off x="777240" y="1645920"/>
            <a:ext cx="502920" cy="50292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01</a:t>
            </a:r>
            <a:endParaRPr lang="en-US" sz="1400" dirty="0"/>
          </a:p>
        </p:txBody>
      </p:sp>
      <p:sp>
        <p:nvSpPr>
          <p:cNvPr id="5" name="text-149"/>
          <p:cNvSpPr txBox="1"/>
          <p:nvPr/>
        </p:nvSpPr>
        <p:spPr>
          <a:xfrm>
            <a:off x="1508760" y="1499616"/>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Who is asking</a:t>
            </a:r>
            <a:endParaRPr lang="en-US" sz="1800" dirty="0"/>
          </a:p>
        </p:txBody>
      </p:sp>
      <p:sp>
        <p:nvSpPr>
          <p:cNvPr id="6" name="text-150"/>
          <p:cNvSpPr txBox="1"/>
          <p:nvPr/>
        </p:nvSpPr>
        <p:spPr>
          <a:xfrm>
            <a:off x="4206240" y="1499616"/>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The server resolves the asker and their current groups. The client's claim is never trusted.</a:t>
            </a:r>
            <a:endParaRPr lang="en-US" sz="1400" dirty="0"/>
          </a:p>
        </p:txBody>
      </p:sp>
      <p:sp>
        <p:nvSpPr>
          <p:cNvPr id="7" name="failclosed-151"/>
          <p:cNvSpPr/>
          <p:nvPr/>
        </p:nvSpPr>
        <p:spPr>
          <a:xfrm>
            <a:off x="8732520" y="1554480"/>
            <a:ext cx="2697480" cy="685800"/>
          </a:xfrm>
          <a:prstGeom prst="roundRect">
            <a:avLst>
              <a:gd name="adj" fmla="val 6667"/>
            </a:avLst>
          </a:prstGeom>
          <a:solidFill>
            <a:schemeClr val="bg1"/>
          </a:solidFill>
          <a:ln w="12700">
            <a:solidFill>
              <a:schemeClr val="accent4"/>
            </a:solidFill>
            <a:prstDash val="solid"/>
          </a:ln>
        </p:spPr>
      </p:sp>
      <p:sp>
        <p:nvSpPr>
          <p:cNvPr id="8" name="text-152"/>
          <p:cNvSpPr txBox="1"/>
          <p:nvPr/>
        </p:nvSpPr>
        <p:spPr>
          <a:xfrm>
            <a:off x="8869680" y="1572768"/>
            <a:ext cx="2468880" cy="649224"/>
          </a:xfrm>
          <a:prstGeom prst="rect">
            <a:avLst/>
          </a:prstGeom>
          <a:noFill/>
          <a:ln/>
        </p:spPr>
        <p:txBody>
          <a:bodyPr wrap="square" lIns="0" tIns="0" rIns="0" bIns="0" rtlCol="0" anchor="ctr"/>
          <a:lstStyle/>
          <a:p>
            <a:pPr algn="l" indent="0" marL="0">
              <a:buNone/>
            </a:pPr>
            <a:r>
              <a:rPr lang="en-US" sz="1200" b="1" dirty="0">
                <a:solidFill>
                  <a:schemeClr val="accent4"/>
                </a:solidFill>
              </a:rPr>
              <a:t>Unknown or inactive principal: deny everything</a:t>
            </a:r>
            <a:endParaRPr lang="en-US" sz="1200" dirty="0"/>
          </a:p>
        </p:txBody>
      </p:sp>
      <p:sp>
        <p:nvSpPr>
          <p:cNvPr id="9" name="tb-row-153"/>
          <p:cNvSpPr/>
          <p:nvPr/>
        </p:nvSpPr>
        <p:spPr>
          <a:xfrm>
            <a:off x="548640" y="2578608"/>
            <a:ext cx="11064240" cy="1051560"/>
          </a:xfrm>
          <a:prstGeom prst="roundRect">
            <a:avLst>
              <a:gd name="adj" fmla="val 4348"/>
            </a:avLst>
          </a:prstGeom>
          <a:solidFill>
            <a:schemeClr val="bg2"/>
          </a:solidFill>
          <a:ln/>
        </p:spPr>
      </p:sp>
      <p:sp>
        <p:nvSpPr>
          <p:cNvPr id="10" name="num-154"/>
          <p:cNvSpPr txBox="1"/>
          <p:nvPr/>
        </p:nvSpPr>
        <p:spPr>
          <a:xfrm>
            <a:off x="777240" y="2852928"/>
            <a:ext cx="502920" cy="50292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02</a:t>
            </a:r>
            <a:endParaRPr lang="en-US" sz="1400" dirty="0"/>
          </a:p>
        </p:txBody>
      </p:sp>
      <p:sp>
        <p:nvSpPr>
          <p:cNvPr id="11" name="text-155"/>
          <p:cNvSpPr txBox="1"/>
          <p:nvPr/>
        </p:nvSpPr>
        <p:spPr>
          <a:xfrm>
            <a:off x="1508760" y="2706624"/>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What they may see</a:t>
            </a:r>
            <a:endParaRPr lang="en-US" sz="1800" dirty="0"/>
          </a:p>
        </p:txBody>
      </p:sp>
      <p:sp>
        <p:nvSpPr>
          <p:cNvPr id="12" name="text-156"/>
          <p:cNvSpPr txBox="1"/>
          <p:nvPr/>
        </p:nvSpPr>
        <p:spPr>
          <a:xfrm>
            <a:off x="4206240" y="2706624"/>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Every candidate document is checked against its native platform permissions before any model call. Permissions over 5 minutes old no longer count.</a:t>
            </a:r>
            <a:endParaRPr lang="en-US" sz="1400" dirty="0"/>
          </a:p>
        </p:txBody>
      </p:sp>
      <p:sp>
        <p:nvSpPr>
          <p:cNvPr id="13" name="failclosed-157"/>
          <p:cNvSpPr/>
          <p:nvPr/>
        </p:nvSpPr>
        <p:spPr>
          <a:xfrm>
            <a:off x="8732520" y="2761488"/>
            <a:ext cx="2697480" cy="685800"/>
          </a:xfrm>
          <a:prstGeom prst="roundRect">
            <a:avLst>
              <a:gd name="adj" fmla="val 6667"/>
            </a:avLst>
          </a:prstGeom>
          <a:solidFill>
            <a:schemeClr val="bg1"/>
          </a:solidFill>
          <a:ln w="12700">
            <a:solidFill>
              <a:schemeClr val="accent1"/>
            </a:solidFill>
            <a:prstDash val="solid"/>
          </a:ln>
        </p:spPr>
      </p:sp>
      <p:sp>
        <p:nvSpPr>
          <p:cNvPr id="14" name="text-158"/>
          <p:cNvSpPr txBox="1"/>
          <p:nvPr/>
        </p:nvSpPr>
        <p:spPr>
          <a:xfrm>
            <a:off x="8869680" y="2779776"/>
            <a:ext cx="2468880" cy="649224"/>
          </a:xfrm>
          <a:prstGeom prst="rect">
            <a:avLst/>
          </a:prstGeom>
          <a:noFill/>
          <a:ln/>
        </p:spPr>
        <p:txBody>
          <a:bodyPr wrap="square" lIns="0" tIns="0" rIns="0" bIns="0" rtlCol="0" anchor="ctr"/>
          <a:lstStyle/>
          <a:p>
            <a:pPr algn="l" indent="0" marL="0">
              <a:buNone/>
            </a:pPr>
            <a:r>
              <a:rPr lang="en-US" sz="1200" b="1" dirty="0">
                <a:solidFill>
                  <a:schemeClr val="accent1"/>
                </a:solidFill>
              </a:rPr>
              <a:t>Missing, unreadable or expired permissions: deny</a:t>
            </a:r>
            <a:endParaRPr lang="en-US" sz="1200" dirty="0"/>
          </a:p>
        </p:txBody>
      </p:sp>
      <p:sp>
        <p:nvSpPr>
          <p:cNvPr id="15" name="tb-row-159"/>
          <p:cNvSpPr/>
          <p:nvPr/>
        </p:nvSpPr>
        <p:spPr>
          <a:xfrm>
            <a:off x="548640" y="3785616"/>
            <a:ext cx="11064240" cy="1051560"/>
          </a:xfrm>
          <a:prstGeom prst="roundRect">
            <a:avLst>
              <a:gd name="adj" fmla="val 4348"/>
            </a:avLst>
          </a:prstGeom>
          <a:solidFill>
            <a:schemeClr val="bg2"/>
          </a:solidFill>
          <a:ln/>
        </p:spPr>
      </p:sp>
      <p:sp>
        <p:nvSpPr>
          <p:cNvPr id="16" name="num-160"/>
          <p:cNvSpPr txBox="1"/>
          <p:nvPr/>
        </p:nvSpPr>
        <p:spPr>
          <a:xfrm>
            <a:off x="777240" y="4059936"/>
            <a:ext cx="502920" cy="50292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03</a:t>
            </a:r>
            <a:endParaRPr lang="en-US" sz="1400" dirty="0"/>
          </a:p>
        </p:txBody>
      </p:sp>
      <p:sp>
        <p:nvSpPr>
          <p:cNvPr id="17" name="text-161"/>
          <p:cNvSpPr txBox="1"/>
          <p:nvPr/>
        </p:nvSpPr>
        <p:spPr>
          <a:xfrm>
            <a:off x="1508760" y="3913632"/>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What the model receives</a:t>
            </a:r>
            <a:endParaRPr lang="en-US" sz="1800" dirty="0"/>
          </a:p>
        </p:txBody>
      </p:sp>
      <p:sp>
        <p:nvSpPr>
          <p:cNvPr id="18" name="text-162"/>
          <p:cNvSpPr txBox="1"/>
          <p:nvPr/>
        </p:nvSpPr>
        <p:spPr>
          <a:xfrm>
            <a:off x="4206240" y="3913632"/>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Only authorised, fresh, sanitised evidence spans. Retrieved text is treated as data, never as instructions.</a:t>
            </a:r>
            <a:endParaRPr lang="en-US" sz="1400" dirty="0"/>
          </a:p>
        </p:txBody>
      </p:sp>
      <p:sp>
        <p:nvSpPr>
          <p:cNvPr id="19" name="failclosed-163"/>
          <p:cNvSpPr/>
          <p:nvPr/>
        </p:nvSpPr>
        <p:spPr>
          <a:xfrm>
            <a:off x="8732520" y="3968496"/>
            <a:ext cx="2697480" cy="685800"/>
          </a:xfrm>
          <a:prstGeom prst="roundRect">
            <a:avLst>
              <a:gd name="adj" fmla="val 6667"/>
            </a:avLst>
          </a:prstGeom>
          <a:solidFill>
            <a:schemeClr val="bg1"/>
          </a:solidFill>
          <a:ln w="12700">
            <a:solidFill>
              <a:schemeClr val="accent2"/>
            </a:solidFill>
            <a:prstDash val="solid"/>
          </a:ln>
        </p:spPr>
      </p:sp>
      <p:sp>
        <p:nvSpPr>
          <p:cNvPr id="20" name="text-164"/>
          <p:cNvSpPr txBox="1"/>
          <p:nvPr/>
        </p:nvSpPr>
        <p:spPr>
          <a:xfrm>
            <a:off x="8869680" y="3986784"/>
            <a:ext cx="2468880" cy="649224"/>
          </a:xfrm>
          <a:prstGeom prst="rect">
            <a:avLst/>
          </a:prstGeom>
          <a:noFill/>
          <a:ln/>
        </p:spPr>
        <p:txBody>
          <a:bodyPr wrap="square" lIns="0" tIns="0" rIns="0" bIns="0" rtlCol="0" anchor="ctr"/>
          <a:lstStyle/>
          <a:p>
            <a:pPr algn="l" indent="0" marL="0">
              <a:buNone/>
            </a:pPr>
            <a:r>
              <a:rPr lang="en-US" sz="1200" b="1" dirty="0">
                <a:solidFill>
                  <a:schemeClr val="accent2"/>
                </a:solidFill>
              </a:rPr>
              <a:t>Prompt-injection text: quarantined</a:t>
            </a:r>
            <a:endParaRPr lang="en-US" sz="1200" dirty="0"/>
          </a:p>
        </p:txBody>
      </p:sp>
      <p:sp>
        <p:nvSpPr>
          <p:cNvPr id="21" name="tb-row-165"/>
          <p:cNvSpPr/>
          <p:nvPr/>
        </p:nvSpPr>
        <p:spPr>
          <a:xfrm>
            <a:off x="548640" y="4992624"/>
            <a:ext cx="11064240" cy="1051560"/>
          </a:xfrm>
          <a:prstGeom prst="roundRect">
            <a:avLst>
              <a:gd name="adj" fmla="val 4348"/>
            </a:avLst>
          </a:prstGeom>
          <a:solidFill>
            <a:schemeClr val="bg2"/>
          </a:solidFill>
          <a:ln/>
        </p:spPr>
      </p:sp>
      <p:sp>
        <p:nvSpPr>
          <p:cNvPr id="22" name="num-166"/>
          <p:cNvSpPr txBox="1"/>
          <p:nvPr/>
        </p:nvSpPr>
        <p:spPr>
          <a:xfrm>
            <a:off x="777240" y="5266944"/>
            <a:ext cx="502920" cy="50292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04</a:t>
            </a:r>
            <a:endParaRPr lang="en-US" sz="1400" dirty="0"/>
          </a:p>
        </p:txBody>
      </p:sp>
      <p:sp>
        <p:nvSpPr>
          <p:cNvPr id="23" name="text-167"/>
          <p:cNvSpPr txBox="1"/>
          <p:nvPr/>
        </p:nvSpPr>
        <p:spPr>
          <a:xfrm>
            <a:off x="1508760" y="5120640"/>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What leaves the system</a:t>
            </a:r>
            <a:endParaRPr lang="en-US" sz="1800" dirty="0"/>
          </a:p>
        </p:txBody>
      </p:sp>
      <p:sp>
        <p:nvSpPr>
          <p:cNvPr id="24" name="text-168"/>
          <p:cNvSpPr txBox="1"/>
          <p:nvPr/>
        </p:nvSpPr>
        <p:spPr>
          <a:xfrm>
            <a:off x="4206240" y="5120640"/>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Denials look exactly like missing documents. Saved answers are re-checked each time they are opened.</a:t>
            </a:r>
            <a:endParaRPr lang="en-US" sz="1400" dirty="0"/>
          </a:p>
        </p:txBody>
      </p:sp>
      <p:sp>
        <p:nvSpPr>
          <p:cNvPr id="25" name="failclosed-169"/>
          <p:cNvSpPr/>
          <p:nvPr/>
        </p:nvSpPr>
        <p:spPr>
          <a:xfrm>
            <a:off x="8732520" y="5175504"/>
            <a:ext cx="2697480" cy="685800"/>
          </a:xfrm>
          <a:prstGeom prst="roundRect">
            <a:avLst>
              <a:gd name="adj" fmla="val 6667"/>
            </a:avLst>
          </a:prstGeom>
          <a:solidFill>
            <a:schemeClr val="bg1"/>
          </a:solidFill>
          <a:ln w="12700">
            <a:solidFill>
              <a:schemeClr val="accent5"/>
            </a:solidFill>
            <a:prstDash val="solid"/>
          </a:ln>
        </p:spPr>
      </p:sp>
      <p:sp>
        <p:nvSpPr>
          <p:cNvPr id="26" name="text-170"/>
          <p:cNvSpPr txBox="1"/>
          <p:nvPr/>
        </p:nvSpPr>
        <p:spPr>
          <a:xfrm>
            <a:off x="8869680" y="5193792"/>
            <a:ext cx="2468880" cy="649224"/>
          </a:xfrm>
          <a:prstGeom prst="rect">
            <a:avLst/>
          </a:prstGeom>
          <a:noFill/>
          <a:ln/>
        </p:spPr>
        <p:txBody>
          <a:bodyPr wrap="square" lIns="0" tIns="0" rIns="0" bIns="0" rtlCol="0" anchor="ctr"/>
          <a:lstStyle/>
          <a:p>
            <a:pPr algn="l" indent="0" marL="0">
              <a:buNone/>
            </a:pPr>
            <a:r>
              <a:rPr lang="en-US" sz="1200" b="1" dirty="0">
                <a:solidFill>
                  <a:schemeClr val="accent5"/>
                </a:solidFill>
              </a:rPr>
              <a:t>Revoked or untraceable evidence: answer withheld</a:t>
            </a:r>
            <a:endParaRPr lang="en-US" sz="1200" dirty="0"/>
          </a:p>
        </p:txBody>
      </p:sp>
      <p:sp>
        <p:nvSpPr>
          <p:cNvPr id="27" name="text-171"/>
          <p:cNvSpPr txBox="1"/>
          <p:nvPr/>
        </p:nvSpPr>
        <p:spPr>
          <a:xfrm>
            <a:off x="8732520" y="1143000"/>
            <a:ext cx="2697480" cy="219456"/>
          </a:xfrm>
          <a:prstGeom prst="rect">
            <a:avLst/>
          </a:prstGeom>
          <a:noFill/>
          <a:ln/>
        </p:spPr>
        <p:txBody>
          <a:bodyPr wrap="square" lIns="0" tIns="0" rIns="0" bIns="0" rtlCol="0" anchor="t"/>
          <a:lstStyle/>
          <a:p>
            <a:pPr algn="l" indent="0" marL="0">
              <a:buNone/>
            </a:pPr>
            <a:r>
              <a:rPr lang="en-US" sz="1000" b="1" dirty="0">
                <a:solidFill>
                  <a:schemeClr val="accent6"/>
                </a:solidFill>
              </a:rPr>
              <a:t>FAILS CLOSED TO</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Each platform keeps its own permission model,</a:t>
            </a:r>
            <a:pPr algn="l" indent="0" marL="0">
              <a:buNone/>
            </a:pPr>
            <a:r>
              <a:rPr lang="en-US" sz="2600" b="1" dirty="0">
                <a:solidFill>
                  <a:srgbClr val="8C8C8C"/>
                </a:solidFill>
              </a:rPr>
              <a:t> never flattened</a:t>
            </a:r>
            <a:endParaRPr lang="en-US" sz="2600" dirty="0"/>
          </a:p>
        </p:txBody>
      </p:sp>
      <p:sp>
        <p:nvSpPr>
          <p:cNvPr id="3" name="src-card-172"/>
          <p:cNvSpPr/>
          <p:nvPr/>
        </p:nvSpPr>
        <p:spPr>
          <a:xfrm>
            <a:off x="548640" y="1325880"/>
            <a:ext cx="5440680" cy="1783080"/>
          </a:xfrm>
          <a:prstGeom prst="roundRect">
            <a:avLst>
              <a:gd name="adj" fmla="val 2564"/>
            </a:avLst>
          </a:prstGeom>
          <a:solidFill>
            <a:schemeClr val="bg1"/>
          </a:solidFill>
          <a:ln w="12700">
            <a:solidFill>
              <a:srgbClr val="D7D7D7"/>
            </a:solidFill>
            <a:prstDash val="solid"/>
          </a:ln>
        </p:spPr>
      </p:sp>
      <p:sp>
        <p:nvSpPr>
          <p:cNvPr id="4" name="icon-bg-173"/>
          <p:cNvSpPr/>
          <p:nvPr/>
        </p:nvSpPr>
        <p:spPr>
          <a:xfrm>
            <a:off x="777240" y="1554480"/>
            <a:ext cx="640080" cy="640080"/>
          </a:xfrm>
          <a:prstGeom prst="ellipse">
            <a:avLst/>
          </a:prstGeom>
          <a:solidFill>
            <a:schemeClr val="bg2"/>
          </a:solidFill>
          <a:ln/>
        </p:spPr>
      </p:sp>
      <p:pic>
        <p:nvPicPr>
          <p:cNvPr id="5" name="icon-174" descr="preencoded.png">    </p:cNvPr>
          <p:cNvPicPr>
            <a:picLocks noChangeAspect="1"/>
          </p:cNvPicPr>
          <p:nvPr/>
        </p:nvPicPr>
        <p:blipFill>
          <a:blip r:embed="rId1"/>
          <a:stretch>
            <a:fillRect/>
          </a:stretch>
        </p:blipFill>
        <p:spPr>
          <a:xfrm>
            <a:off x="905256" y="1682496"/>
            <a:ext cx="384048" cy="384048"/>
          </a:xfrm>
          <a:prstGeom prst="rect">
            <a:avLst/>
          </a:prstGeom>
        </p:spPr>
      </p:pic>
      <p:sp>
        <p:nvSpPr>
          <p:cNvPr id="6" name="text-175"/>
          <p:cNvSpPr txBox="1"/>
          <p:nvPr/>
        </p:nvSpPr>
        <p:spPr>
          <a:xfrm>
            <a:off x="1554480" y="160020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Confluence</a:t>
            </a:r>
            <a:endParaRPr lang="en-US" sz="2000" dirty="0"/>
          </a:p>
        </p:txBody>
      </p:sp>
      <p:sp>
        <p:nvSpPr>
          <p:cNvPr id="7" name="text-176"/>
          <p:cNvSpPr txBox="1"/>
          <p:nvPr/>
        </p:nvSpPr>
        <p:spPr>
          <a:xfrm>
            <a:off x="1554480" y="210312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Space view permission, plus page restrictions, plus every parent page's restrictions</a:t>
            </a:r>
            <a:endParaRPr lang="en-US" sz="1300" dirty="0"/>
          </a:p>
        </p:txBody>
      </p:sp>
      <p:pic>
        <p:nvPicPr>
          <p:cNvPr id="8" name="check-177" descr="preencoded.png">    </p:cNvPr>
          <p:cNvPicPr>
            <a:picLocks noChangeAspect="1"/>
          </p:cNvPicPr>
          <p:nvPr/>
        </p:nvPicPr>
        <p:blipFill>
          <a:blip r:embed="rId2"/>
          <a:stretch>
            <a:fillRect/>
          </a:stretch>
        </p:blipFill>
        <p:spPr>
          <a:xfrm>
            <a:off x="1554480" y="2651760"/>
            <a:ext cx="228600" cy="228600"/>
          </a:xfrm>
          <a:prstGeom prst="rect">
            <a:avLst/>
          </a:prstGeom>
        </p:spPr>
      </p:pic>
      <p:sp>
        <p:nvSpPr>
          <p:cNvPr id="9" name="text-178"/>
          <p:cNvSpPr txBox="1"/>
          <p:nvPr/>
        </p:nvSpPr>
        <p:spPr>
          <a:xfrm>
            <a:off x="1874520" y="260604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A parent page whose restrictions were not captured denies access</a:t>
            </a:r>
            <a:endParaRPr lang="en-US" sz="1200" dirty="0"/>
          </a:p>
        </p:txBody>
      </p:sp>
      <p:sp>
        <p:nvSpPr>
          <p:cNvPr id="10" name="src-card-179"/>
          <p:cNvSpPr/>
          <p:nvPr/>
        </p:nvSpPr>
        <p:spPr>
          <a:xfrm>
            <a:off x="6172200" y="1325880"/>
            <a:ext cx="5440680" cy="1783080"/>
          </a:xfrm>
          <a:prstGeom prst="roundRect">
            <a:avLst>
              <a:gd name="adj" fmla="val 2564"/>
            </a:avLst>
          </a:prstGeom>
          <a:solidFill>
            <a:schemeClr val="bg1"/>
          </a:solidFill>
          <a:ln w="12700">
            <a:solidFill>
              <a:srgbClr val="D7D7D7"/>
            </a:solidFill>
            <a:prstDash val="solid"/>
          </a:ln>
        </p:spPr>
      </p:sp>
      <p:sp>
        <p:nvSpPr>
          <p:cNvPr id="11" name="icon-bg-180"/>
          <p:cNvSpPr/>
          <p:nvPr/>
        </p:nvSpPr>
        <p:spPr>
          <a:xfrm>
            <a:off x="6400800" y="1554480"/>
            <a:ext cx="640080" cy="640080"/>
          </a:xfrm>
          <a:prstGeom prst="ellipse">
            <a:avLst/>
          </a:prstGeom>
          <a:solidFill>
            <a:schemeClr val="bg2"/>
          </a:solidFill>
          <a:ln/>
        </p:spPr>
      </p:sp>
      <p:pic>
        <p:nvPicPr>
          <p:cNvPr id="12" name="icon-181" descr="preencoded.png">    </p:cNvPr>
          <p:cNvPicPr>
            <a:picLocks noChangeAspect="1"/>
          </p:cNvPicPr>
          <p:nvPr/>
        </p:nvPicPr>
        <p:blipFill>
          <a:blip r:embed="rId3"/>
          <a:stretch>
            <a:fillRect/>
          </a:stretch>
        </p:blipFill>
        <p:spPr>
          <a:xfrm>
            <a:off x="6528816" y="1682496"/>
            <a:ext cx="384048" cy="384048"/>
          </a:xfrm>
          <a:prstGeom prst="rect">
            <a:avLst/>
          </a:prstGeom>
        </p:spPr>
      </p:pic>
      <p:sp>
        <p:nvSpPr>
          <p:cNvPr id="13" name="text-182"/>
          <p:cNvSpPr txBox="1"/>
          <p:nvPr/>
        </p:nvSpPr>
        <p:spPr>
          <a:xfrm>
            <a:off x="7178040" y="160020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Jira</a:t>
            </a:r>
            <a:endParaRPr lang="en-US" sz="2000" dirty="0"/>
          </a:p>
        </p:txBody>
      </p:sp>
      <p:sp>
        <p:nvSpPr>
          <p:cNvPr id="14" name="text-183"/>
          <p:cNvSpPr txBox="1"/>
          <p:nvPr/>
        </p:nvSpPr>
        <p:spPr>
          <a:xfrm>
            <a:off x="7178040" y="210312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Browse Projects role, plus the issue's security level</a:t>
            </a:r>
            <a:endParaRPr lang="en-US" sz="1300" dirty="0"/>
          </a:p>
        </p:txBody>
      </p:sp>
      <p:pic>
        <p:nvPicPr>
          <p:cNvPr id="15" name="check-184" descr="preencoded.png">    </p:cNvPr>
          <p:cNvPicPr>
            <a:picLocks noChangeAspect="1"/>
          </p:cNvPicPr>
          <p:nvPr/>
        </p:nvPicPr>
        <p:blipFill>
          <a:blip r:embed="rId4"/>
          <a:stretch>
            <a:fillRect/>
          </a:stretch>
        </p:blipFill>
        <p:spPr>
          <a:xfrm>
            <a:off x="7178040" y="2651760"/>
            <a:ext cx="228600" cy="228600"/>
          </a:xfrm>
          <a:prstGeom prst="rect">
            <a:avLst/>
          </a:prstGeom>
        </p:spPr>
      </p:pic>
      <p:sp>
        <p:nvSpPr>
          <p:cNvPr id="16" name="text-185"/>
          <p:cNvSpPr txBox="1"/>
          <p:nvPr/>
        </p:nvSpPr>
        <p:spPr>
          <a:xfrm>
            <a:off x="7498080" y="260604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Project access alone never reveals a restricted issue</a:t>
            </a:r>
            <a:endParaRPr lang="en-US" sz="1200" dirty="0"/>
          </a:p>
        </p:txBody>
      </p:sp>
      <p:sp>
        <p:nvSpPr>
          <p:cNvPr id="17" name="src-card-186"/>
          <p:cNvSpPr/>
          <p:nvPr/>
        </p:nvSpPr>
        <p:spPr>
          <a:xfrm>
            <a:off x="548640" y="3291840"/>
            <a:ext cx="5440680" cy="1783080"/>
          </a:xfrm>
          <a:prstGeom prst="roundRect">
            <a:avLst>
              <a:gd name="adj" fmla="val 2564"/>
            </a:avLst>
          </a:prstGeom>
          <a:solidFill>
            <a:schemeClr val="bg1"/>
          </a:solidFill>
          <a:ln w="12700">
            <a:solidFill>
              <a:srgbClr val="D7D7D7"/>
            </a:solidFill>
            <a:prstDash val="solid"/>
          </a:ln>
        </p:spPr>
      </p:sp>
      <p:sp>
        <p:nvSpPr>
          <p:cNvPr id="18" name="icon-bg-187"/>
          <p:cNvSpPr/>
          <p:nvPr/>
        </p:nvSpPr>
        <p:spPr>
          <a:xfrm>
            <a:off x="777240" y="3520440"/>
            <a:ext cx="640080" cy="640080"/>
          </a:xfrm>
          <a:prstGeom prst="ellipse">
            <a:avLst/>
          </a:prstGeom>
          <a:solidFill>
            <a:schemeClr val="bg2"/>
          </a:solidFill>
          <a:ln/>
        </p:spPr>
      </p:sp>
      <p:pic>
        <p:nvPicPr>
          <p:cNvPr id="19" name="icon-188" descr="preencoded.png">    </p:cNvPr>
          <p:cNvPicPr>
            <a:picLocks noChangeAspect="1"/>
          </p:cNvPicPr>
          <p:nvPr/>
        </p:nvPicPr>
        <p:blipFill>
          <a:blip r:embed="rId5"/>
          <a:stretch>
            <a:fillRect/>
          </a:stretch>
        </p:blipFill>
        <p:spPr>
          <a:xfrm>
            <a:off x="905256" y="3648456"/>
            <a:ext cx="384048" cy="384048"/>
          </a:xfrm>
          <a:prstGeom prst="rect">
            <a:avLst/>
          </a:prstGeom>
        </p:spPr>
      </p:pic>
      <p:sp>
        <p:nvSpPr>
          <p:cNvPr id="20" name="text-189"/>
          <p:cNvSpPr txBox="1"/>
          <p:nvPr/>
        </p:nvSpPr>
        <p:spPr>
          <a:xfrm>
            <a:off x="1554480" y="356616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Slack</a:t>
            </a:r>
            <a:endParaRPr lang="en-US" sz="2000" dirty="0"/>
          </a:p>
        </p:txBody>
      </p:sp>
      <p:sp>
        <p:nvSpPr>
          <p:cNvPr id="21" name="text-190"/>
          <p:cNvSpPr txBox="1"/>
          <p:nvPr/>
        </p:nvSpPr>
        <p:spPr>
          <a:xfrm>
            <a:off x="1554480" y="406908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Channel membership. Production: live search as the user, nothing stored</a:t>
            </a:r>
            <a:endParaRPr lang="en-US" sz="1300" dirty="0"/>
          </a:p>
        </p:txBody>
      </p:sp>
      <p:pic>
        <p:nvPicPr>
          <p:cNvPr id="22" name="check-191" descr="preencoded.png">    </p:cNvPr>
          <p:cNvPicPr>
            <a:picLocks noChangeAspect="1"/>
          </p:cNvPicPr>
          <p:nvPr/>
        </p:nvPicPr>
        <p:blipFill>
          <a:blip r:embed="rId6"/>
          <a:stretch>
            <a:fillRect/>
          </a:stretch>
        </p:blipFill>
        <p:spPr>
          <a:xfrm>
            <a:off x="1554480" y="4617720"/>
            <a:ext cx="228600" cy="228600"/>
          </a:xfrm>
          <a:prstGeom prst="rect">
            <a:avLst/>
          </a:prstGeom>
        </p:spPr>
      </p:pic>
      <p:sp>
        <p:nvSpPr>
          <p:cNvPr id="23" name="text-192"/>
          <p:cNvSpPr txBox="1"/>
          <p:nvPr/>
        </p:nvSpPr>
        <p:spPr>
          <a:xfrm>
            <a:off x="1874520" y="457200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Guests, bots and other workspaces never inherit public access</a:t>
            </a:r>
            <a:endParaRPr lang="en-US" sz="1200" dirty="0"/>
          </a:p>
        </p:txBody>
      </p:sp>
      <p:sp>
        <p:nvSpPr>
          <p:cNvPr id="24" name="src-card-193"/>
          <p:cNvSpPr/>
          <p:nvPr/>
        </p:nvSpPr>
        <p:spPr>
          <a:xfrm>
            <a:off x="6172200" y="3291840"/>
            <a:ext cx="5440680" cy="1783080"/>
          </a:xfrm>
          <a:prstGeom prst="roundRect">
            <a:avLst>
              <a:gd name="adj" fmla="val 2564"/>
            </a:avLst>
          </a:prstGeom>
          <a:solidFill>
            <a:schemeClr val="bg1"/>
          </a:solidFill>
          <a:ln w="12700">
            <a:solidFill>
              <a:srgbClr val="D7D7D7"/>
            </a:solidFill>
            <a:prstDash val="solid"/>
          </a:ln>
        </p:spPr>
      </p:sp>
      <p:sp>
        <p:nvSpPr>
          <p:cNvPr id="25" name="icon-bg-194"/>
          <p:cNvSpPr/>
          <p:nvPr/>
        </p:nvSpPr>
        <p:spPr>
          <a:xfrm>
            <a:off x="6400800" y="3520440"/>
            <a:ext cx="640080" cy="640080"/>
          </a:xfrm>
          <a:prstGeom prst="ellipse">
            <a:avLst/>
          </a:prstGeom>
          <a:solidFill>
            <a:schemeClr val="bg2"/>
          </a:solidFill>
          <a:ln/>
        </p:spPr>
      </p:sp>
      <p:pic>
        <p:nvPicPr>
          <p:cNvPr id="26" name="icon-195" descr="preencoded.png">    </p:cNvPr>
          <p:cNvPicPr>
            <a:picLocks noChangeAspect="1"/>
          </p:cNvPicPr>
          <p:nvPr/>
        </p:nvPicPr>
        <p:blipFill>
          <a:blip r:embed="rId7"/>
          <a:stretch>
            <a:fillRect/>
          </a:stretch>
        </p:blipFill>
        <p:spPr>
          <a:xfrm>
            <a:off x="6528816" y="3648456"/>
            <a:ext cx="384048" cy="384048"/>
          </a:xfrm>
          <a:prstGeom prst="rect">
            <a:avLst/>
          </a:prstGeom>
        </p:spPr>
      </p:pic>
      <p:sp>
        <p:nvSpPr>
          <p:cNvPr id="27" name="text-196"/>
          <p:cNvSpPr txBox="1"/>
          <p:nvPr/>
        </p:nvSpPr>
        <p:spPr>
          <a:xfrm>
            <a:off x="7178040" y="356616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Google Drive</a:t>
            </a:r>
            <a:endParaRPr lang="en-US" sz="2000" dirty="0"/>
          </a:p>
        </p:txBody>
      </p:sp>
      <p:sp>
        <p:nvSpPr>
          <p:cNvPr id="28" name="text-197"/>
          <p:cNvSpPr txBox="1"/>
          <p:nvPr/>
        </p:nvSpPr>
        <p:spPr>
          <a:xfrm>
            <a:off x="7178040" y="406908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Effective file permissions: users, groups and domains</a:t>
            </a:r>
            <a:endParaRPr lang="en-US" sz="1300" dirty="0"/>
          </a:p>
        </p:txBody>
      </p:sp>
      <p:pic>
        <p:nvPicPr>
          <p:cNvPr id="29" name="check-198" descr="preencoded.png">    </p:cNvPr>
          <p:cNvPicPr>
            <a:picLocks noChangeAspect="1"/>
          </p:cNvPicPr>
          <p:nvPr/>
        </p:nvPicPr>
        <p:blipFill>
          <a:blip r:embed="rId8"/>
          <a:stretch>
            <a:fillRect/>
          </a:stretch>
        </p:blipFill>
        <p:spPr>
          <a:xfrm>
            <a:off x="7178040" y="4617720"/>
            <a:ext cx="228600" cy="228600"/>
          </a:xfrm>
          <a:prstGeom prst="rect">
            <a:avLst/>
          </a:prstGeom>
        </p:spPr>
      </p:pic>
      <p:sp>
        <p:nvSpPr>
          <p:cNvPr id="30" name="text-199"/>
          <p:cNvSpPr txBox="1"/>
          <p:nvPr/>
        </p:nvSpPr>
        <p:spPr>
          <a:xfrm>
            <a:off x="7498080" y="457200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Expired, deleted and link-only shares do not make a file searchable</a:t>
            </a:r>
            <a:endParaRPr lang="en-US" sz="1200" dirty="0"/>
          </a:p>
        </p:txBody>
      </p:sp>
      <p:sp>
        <p:nvSpPr>
          <p:cNvPr id="31" name="equation-200"/>
          <p:cNvSpPr/>
          <p:nvPr/>
        </p:nvSpPr>
        <p:spPr>
          <a:xfrm>
            <a:off x="548640" y="5349240"/>
            <a:ext cx="11064240" cy="868680"/>
          </a:xfrm>
          <a:prstGeom prst="roundRect">
            <a:avLst>
              <a:gd name="adj" fmla="val 5263"/>
            </a:avLst>
          </a:prstGeom>
          <a:solidFill>
            <a:schemeClr val="tx2"/>
          </a:solidFill>
          <a:ln/>
        </p:spPr>
      </p:sp>
      <p:sp>
        <p:nvSpPr>
          <p:cNvPr id="32" name="text-201"/>
          <p:cNvSpPr txBox="1"/>
          <p:nvPr/>
        </p:nvSpPr>
        <p:spPr>
          <a:xfrm>
            <a:off x="822960" y="5413248"/>
            <a:ext cx="10607040" cy="749808"/>
          </a:xfrm>
          <a:prstGeom prst="rect">
            <a:avLst/>
          </a:prstGeom>
          <a:noFill/>
          <a:ln/>
        </p:spPr>
        <p:txBody>
          <a:bodyPr wrap="square" lIns="0" tIns="0" rIns="0" bIns="0" rtlCol="0" anchor="ctr"/>
          <a:lstStyle/>
          <a:p>
            <a:pPr algn="l" indent="0" marL="0">
              <a:buNone/>
            </a:pPr>
            <a:r>
              <a:rPr lang="en-US" sz="2000" b="1" dirty="0">
                <a:solidFill>
                  <a:schemeClr val="bg1"/>
                </a:solidFill>
              </a:rPr>
              <a:t>Native source access  ∩  local policy  =  allowed evidence</a:t>
            </a:r>
            <a:endParaRPr lang="en-US" sz="1400" dirty="0"/>
          </a:p>
          <a:p>
            <a:pPr algn="l" indent="0" marL="0">
              <a:buNone/>
            </a:pPr>
            <a:r>
              <a:rPr lang="en-US" sz="1300" dirty="0">
                <a:solidFill>
                  <a:srgbClr val="A6A6A6"/>
                </a:solidFill>
              </a:rPr>
              <a:t>A local grant can narrow access, never widen it. Confidential documents also need the owner, an admin or an active grant.</a:t>
            </a:r>
            <a:endParaRPr lang="en-US" sz="14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The access-control demo</a:t>
            </a:r>
            <a:pPr algn="l" indent="0" marL="0">
              <a:buNone/>
            </a:pPr>
            <a:r>
              <a:rPr lang="en-US" sz="2600" b="1" dirty="0">
                <a:solidFill>
                  <a:srgbClr val="8C8C8C"/>
                </a:solidFill>
              </a:rPr>
              <a:t> in three scenes</a:t>
            </a:r>
            <a:endParaRPr lang="en-US" sz="2600" dirty="0"/>
          </a:p>
        </p:txBody>
      </p:sp>
      <p:sp>
        <p:nvSpPr>
          <p:cNvPr id="3" name="scene-202"/>
          <p:cNvSpPr/>
          <p:nvPr/>
        </p:nvSpPr>
        <p:spPr>
          <a:xfrm>
            <a:off x="548640" y="1325880"/>
            <a:ext cx="3520440" cy="4846320"/>
          </a:xfrm>
          <a:prstGeom prst="roundRect">
            <a:avLst>
              <a:gd name="adj" fmla="val 1299"/>
            </a:avLst>
          </a:prstGeom>
          <a:solidFill>
            <a:schemeClr val="bg2"/>
          </a:solidFill>
          <a:ln/>
        </p:spPr>
      </p:sp>
      <p:sp>
        <p:nvSpPr>
          <p:cNvPr id="4" name="num-203"/>
          <p:cNvSpPr txBox="1"/>
          <p:nvPr/>
        </p:nvSpPr>
        <p:spPr>
          <a:xfrm>
            <a:off x="777240" y="1508760"/>
            <a:ext cx="411480" cy="41148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01</a:t>
            </a:r>
            <a:endParaRPr lang="en-US" sz="1400" dirty="0"/>
          </a:p>
        </p:txBody>
      </p:sp>
      <p:sp>
        <p:nvSpPr>
          <p:cNvPr id="5" name="text-204"/>
          <p:cNvSpPr txBox="1"/>
          <p:nvPr/>
        </p:nvSpPr>
        <p:spPr>
          <a:xfrm>
            <a:off x="1325880" y="1481328"/>
            <a:ext cx="2651760" cy="457200"/>
          </a:xfrm>
          <a:prstGeom prst="rect">
            <a:avLst/>
          </a:prstGeom>
          <a:noFill/>
          <a:ln/>
        </p:spPr>
        <p:txBody>
          <a:bodyPr wrap="square" lIns="0" tIns="0" rIns="0" bIns="0" rtlCol="0" anchor="ctr"/>
          <a:lstStyle/>
          <a:p>
            <a:pPr algn="l" indent="0" marL="0">
              <a:buNone/>
            </a:pPr>
            <a:r>
              <a:rPr lang="en-US" sz="1800" b="1" dirty="0">
                <a:solidFill>
                  <a:schemeClr val="tx2"/>
                </a:solidFill>
              </a:rPr>
              <a:t>Authorised employee</a:t>
            </a:r>
            <a:endParaRPr lang="en-US" sz="1800" dirty="0"/>
          </a:p>
        </p:txBody>
      </p:sp>
      <p:sp>
        <p:nvSpPr>
          <p:cNvPr id="6" name="icon-bg-205"/>
          <p:cNvSpPr/>
          <p:nvPr/>
        </p:nvSpPr>
        <p:spPr>
          <a:xfrm>
            <a:off x="777240" y="2103120"/>
            <a:ext cx="502920" cy="502920"/>
          </a:xfrm>
          <a:prstGeom prst="ellipse">
            <a:avLst/>
          </a:prstGeom>
          <a:solidFill>
            <a:schemeClr val="accent1"/>
          </a:solidFill>
          <a:ln/>
        </p:spPr>
      </p:sp>
      <p:pic>
        <p:nvPicPr>
          <p:cNvPr id="7" name="icon-206" descr="preencoded.png">    </p:cNvPr>
          <p:cNvPicPr>
            <a:picLocks noChangeAspect="1"/>
          </p:cNvPicPr>
          <p:nvPr/>
        </p:nvPicPr>
        <p:blipFill>
          <a:blip r:embed="rId1"/>
          <a:stretch>
            <a:fillRect/>
          </a:stretch>
        </p:blipFill>
        <p:spPr>
          <a:xfrm>
            <a:off x="887882" y="2213762"/>
            <a:ext cx="281635" cy="281635"/>
          </a:xfrm>
          <a:prstGeom prst="rect">
            <a:avLst/>
          </a:prstGeom>
        </p:spPr>
      </p:pic>
      <p:sp>
        <p:nvSpPr>
          <p:cNvPr id="8" name="text-207"/>
          <p:cNvSpPr txBox="1"/>
          <p:nvPr/>
        </p:nvSpPr>
        <p:spPr>
          <a:xfrm>
            <a:off x="1417320" y="2103120"/>
            <a:ext cx="2560320" cy="502920"/>
          </a:xfrm>
          <a:prstGeom prst="rect">
            <a:avLst/>
          </a:prstGeom>
          <a:noFill/>
          <a:ln/>
        </p:spPr>
        <p:txBody>
          <a:bodyPr wrap="square" lIns="0" tIns="0" rIns="0" bIns="0" rtlCol="0" anchor="ctr"/>
          <a:lstStyle/>
          <a:p>
            <a:pPr algn="l" indent="0" marL="0">
              <a:buNone/>
            </a:pPr>
            <a:r>
              <a:rPr lang="en-US" sz="1200" dirty="0">
                <a:solidFill>
                  <a:schemeClr val="accent6"/>
                </a:solidFill>
              </a:rPr>
              <a:t>John Tan · Finance Ops, Leadership</a:t>
            </a:r>
            <a:endParaRPr lang="en-US" sz="1200" dirty="0"/>
          </a:p>
        </p:txBody>
      </p:sp>
      <p:sp>
        <p:nvSpPr>
          <p:cNvPr id="9" name="text-208"/>
          <p:cNvSpPr txBox="1"/>
          <p:nvPr/>
        </p:nvSpPr>
        <p:spPr>
          <a:xfrm>
            <a:off x="777240" y="2788920"/>
            <a:ext cx="3063240" cy="685800"/>
          </a:xfrm>
          <a:prstGeom prst="rect">
            <a:avLst/>
          </a:prstGeom>
          <a:noFill/>
          <a:ln/>
        </p:spPr>
        <p:txBody>
          <a:bodyPr wrap="square" lIns="0" tIns="0" rIns="0" bIns="0" rtlCol="0" anchor="t"/>
          <a:lstStyle/>
          <a:p>
            <a:pPr algn="l" indent="0" marL="0">
              <a:buNone/>
            </a:pPr>
            <a:r>
              <a:rPr lang="en-US" sz="1400" i="1" dirty="0">
                <a:solidFill>
                  <a:schemeClr val="tx1"/>
                </a:solidFill>
              </a:rPr>
              <a:t>“What were the Q3 board deck revenue figures?”</a:t>
            </a:r>
            <a:endParaRPr lang="en-US" sz="1400" dirty="0"/>
          </a:p>
        </p:txBody>
      </p:sp>
      <p:sp>
        <p:nvSpPr>
          <p:cNvPr id="10" name="answer-mock-209"/>
          <p:cNvSpPr/>
          <p:nvPr/>
        </p:nvSpPr>
        <p:spPr>
          <a:xfrm>
            <a:off x="777240" y="3566160"/>
            <a:ext cx="3063240" cy="1234440"/>
          </a:xfrm>
          <a:prstGeom prst="roundRect">
            <a:avLst>
              <a:gd name="adj" fmla="val 3704"/>
            </a:avLst>
          </a:prstGeom>
          <a:solidFill>
            <a:schemeClr val="bg1"/>
          </a:solidFill>
          <a:ln w="12700">
            <a:solidFill>
              <a:srgbClr val="D7D7D7"/>
            </a:solidFill>
            <a:prstDash val="solid"/>
          </a:ln>
        </p:spPr>
      </p:sp>
      <p:sp>
        <p:nvSpPr>
          <p:cNvPr id="11" name="text-210"/>
          <p:cNvSpPr txBox="1"/>
          <p:nvPr/>
        </p:nvSpPr>
        <p:spPr>
          <a:xfrm>
            <a:off x="914400" y="3639312"/>
            <a:ext cx="2788920" cy="1097280"/>
          </a:xfrm>
          <a:prstGeom prst="rect">
            <a:avLst/>
          </a:prstGeom>
          <a:noFill/>
          <a:ln/>
        </p:spPr>
        <p:txBody>
          <a:bodyPr wrap="square" lIns="0" tIns="0" rIns="0" bIns="0" rtlCol="0" anchor="ctr"/>
          <a:lstStyle/>
          <a:p>
            <a:pPr algn="l" indent="0" marL="0">
              <a:buNone/>
            </a:pPr>
            <a:r>
              <a:rPr lang="en-US" sz="1300" b="1" dirty="0">
                <a:solidFill>
                  <a:schemeClr val="tx1"/>
                </a:solidFill>
              </a:rPr>
              <a:t>Q3 2026 revenue: SGD 48.6 million, up 18% year on year</a:t>
            </a:r>
            <a:endParaRPr lang="en-US" sz="1300" dirty="0"/>
          </a:p>
          <a:p>
            <a:pPr algn="l" indent="0" marL="0">
              <a:buNone/>
            </a:pPr>
            <a:r>
              <a:rPr lang="en-US" sz="1100" dirty="0">
                <a:solidFill>
                  <a:schemeClr val="accent4"/>
                </a:solidFill>
              </a:rPr>
              <a:t>[E4] Q3 2026 Board Deck · Google Drive · 8/8 claims supported</a:t>
            </a:r>
            <a:endParaRPr lang="en-US" sz="1300" dirty="0"/>
          </a:p>
        </p:txBody>
      </p:sp>
      <p:sp>
        <p:nvSpPr>
          <p:cNvPr id="12" name="verdict-211"/>
          <p:cNvSpPr/>
          <p:nvPr/>
        </p:nvSpPr>
        <p:spPr>
          <a:xfrm>
            <a:off x="777240" y="4983480"/>
            <a:ext cx="3063240" cy="960120"/>
          </a:xfrm>
          <a:prstGeom prst="roundRect">
            <a:avLst>
              <a:gd name="adj" fmla="val 4762"/>
            </a:avLst>
          </a:prstGeom>
          <a:solidFill>
            <a:srgbClr val="EAF3EA"/>
          </a:solidFill>
          <a:ln w="12700">
            <a:solidFill>
              <a:schemeClr val="accent1"/>
            </a:solidFill>
            <a:prstDash val="solid"/>
          </a:ln>
        </p:spPr>
      </p:sp>
      <p:sp>
        <p:nvSpPr>
          <p:cNvPr id="13" name="text-212"/>
          <p:cNvSpPr txBox="1"/>
          <p:nvPr/>
        </p:nvSpPr>
        <p:spPr>
          <a:xfrm>
            <a:off x="914400" y="5029200"/>
            <a:ext cx="2788920" cy="868680"/>
          </a:xfrm>
          <a:prstGeom prst="rect">
            <a:avLst/>
          </a:prstGeom>
          <a:noFill/>
          <a:ln/>
        </p:spPr>
        <p:txBody>
          <a:bodyPr wrap="square" lIns="0" tIns="0" rIns="0" bIns="0" rtlCol="0" anchor="ctr"/>
          <a:lstStyle/>
          <a:p>
            <a:pPr algn="l" indent="0" marL="0">
              <a:buNone/>
            </a:pPr>
            <a:r>
              <a:rPr lang="en-US" sz="1400" b="1" dirty="0">
                <a:solidFill>
                  <a:schemeClr val="accent1"/>
                </a:solidFill>
              </a:rPr>
              <a:t>Answered, with citations</a:t>
            </a:r>
            <a:endParaRPr lang="en-US" sz="1400" dirty="0"/>
          </a:p>
        </p:txBody>
      </p:sp>
      <p:sp>
        <p:nvSpPr>
          <p:cNvPr id="14" name="arrow-213"/>
          <p:cNvSpPr/>
          <p:nvPr/>
        </p:nvSpPr>
        <p:spPr>
          <a:xfrm>
            <a:off x="4096512" y="4160520"/>
            <a:ext cx="182880" cy="91"/>
          </a:xfrm>
          <a:prstGeom prst="line">
            <a:avLst/>
          </a:prstGeom>
          <a:noFill/>
          <a:ln w="19050">
            <a:solidFill>
              <a:schemeClr val="accent6"/>
            </a:solidFill>
            <a:prstDash val="solid"/>
            <a:tailEnd type="triangle"/>
          </a:ln>
        </p:spPr>
      </p:sp>
      <p:sp>
        <p:nvSpPr>
          <p:cNvPr id="15" name="scene-214"/>
          <p:cNvSpPr/>
          <p:nvPr/>
        </p:nvSpPr>
        <p:spPr>
          <a:xfrm>
            <a:off x="4297680" y="1325880"/>
            <a:ext cx="3520440" cy="4846320"/>
          </a:xfrm>
          <a:prstGeom prst="roundRect">
            <a:avLst>
              <a:gd name="adj" fmla="val 1299"/>
            </a:avLst>
          </a:prstGeom>
          <a:solidFill>
            <a:schemeClr val="bg2"/>
          </a:solidFill>
          <a:ln/>
        </p:spPr>
      </p:sp>
      <p:sp>
        <p:nvSpPr>
          <p:cNvPr id="16" name="num-215"/>
          <p:cNvSpPr txBox="1"/>
          <p:nvPr/>
        </p:nvSpPr>
        <p:spPr>
          <a:xfrm>
            <a:off x="4526280" y="1508760"/>
            <a:ext cx="411480" cy="41148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02</a:t>
            </a:r>
            <a:endParaRPr lang="en-US" sz="1400" dirty="0"/>
          </a:p>
        </p:txBody>
      </p:sp>
      <p:sp>
        <p:nvSpPr>
          <p:cNvPr id="17" name="text-216"/>
          <p:cNvSpPr txBox="1"/>
          <p:nvPr/>
        </p:nvSpPr>
        <p:spPr>
          <a:xfrm>
            <a:off x="5074920" y="1481328"/>
            <a:ext cx="2651760" cy="457200"/>
          </a:xfrm>
          <a:prstGeom prst="rect">
            <a:avLst/>
          </a:prstGeom>
          <a:noFill/>
          <a:ln/>
        </p:spPr>
        <p:txBody>
          <a:bodyPr wrap="square" lIns="0" tIns="0" rIns="0" bIns="0" rtlCol="0" anchor="ctr"/>
          <a:lstStyle/>
          <a:p>
            <a:pPr algn="l" indent="0" marL="0">
              <a:buNone/>
            </a:pPr>
            <a:r>
              <a:rPr lang="en-US" sz="1800" b="1" dirty="0">
                <a:solidFill>
                  <a:schemeClr val="tx2"/>
                </a:solidFill>
              </a:rPr>
              <a:t>Unauthorised contractor</a:t>
            </a:r>
            <a:endParaRPr lang="en-US" sz="1800" dirty="0"/>
          </a:p>
        </p:txBody>
      </p:sp>
      <p:sp>
        <p:nvSpPr>
          <p:cNvPr id="18" name="icon-bg-217"/>
          <p:cNvSpPr/>
          <p:nvPr/>
        </p:nvSpPr>
        <p:spPr>
          <a:xfrm>
            <a:off x="4526280" y="2103120"/>
            <a:ext cx="502920" cy="502920"/>
          </a:xfrm>
          <a:prstGeom prst="ellipse">
            <a:avLst/>
          </a:prstGeom>
          <a:solidFill>
            <a:schemeClr val="accent2"/>
          </a:solidFill>
          <a:ln/>
        </p:spPr>
      </p:sp>
      <p:pic>
        <p:nvPicPr>
          <p:cNvPr id="19" name="icon-218" descr="preencoded.png">    </p:cNvPr>
          <p:cNvPicPr>
            <a:picLocks noChangeAspect="1"/>
          </p:cNvPicPr>
          <p:nvPr/>
        </p:nvPicPr>
        <p:blipFill>
          <a:blip r:embed="rId2"/>
          <a:stretch>
            <a:fillRect/>
          </a:stretch>
        </p:blipFill>
        <p:spPr>
          <a:xfrm>
            <a:off x="4636922" y="2213762"/>
            <a:ext cx="281635" cy="281635"/>
          </a:xfrm>
          <a:prstGeom prst="rect">
            <a:avLst/>
          </a:prstGeom>
        </p:spPr>
      </p:pic>
      <p:sp>
        <p:nvSpPr>
          <p:cNvPr id="20" name="text-219"/>
          <p:cNvSpPr txBox="1"/>
          <p:nvPr/>
        </p:nvSpPr>
        <p:spPr>
          <a:xfrm>
            <a:off x="5166360" y="2103120"/>
            <a:ext cx="2560320" cy="502920"/>
          </a:xfrm>
          <a:prstGeom prst="rect">
            <a:avLst/>
          </a:prstGeom>
          <a:noFill/>
          <a:ln/>
        </p:spPr>
        <p:txBody>
          <a:bodyPr wrap="square" lIns="0" tIns="0" rIns="0" bIns="0" rtlCol="0" anchor="ctr"/>
          <a:lstStyle/>
          <a:p>
            <a:pPr algn="l" indent="0" marL="0">
              <a:buNone/>
            </a:pPr>
            <a:r>
              <a:rPr lang="en-US" sz="1200" dirty="0">
                <a:solidFill>
                  <a:schemeClr val="accent6"/>
                </a:solidFill>
              </a:rPr>
              <a:t>Mei Chen · external contractor</a:t>
            </a:r>
            <a:endParaRPr lang="en-US" sz="1200" dirty="0"/>
          </a:p>
        </p:txBody>
      </p:sp>
      <p:sp>
        <p:nvSpPr>
          <p:cNvPr id="21" name="text-220"/>
          <p:cNvSpPr txBox="1"/>
          <p:nvPr/>
        </p:nvSpPr>
        <p:spPr>
          <a:xfrm>
            <a:off x="4526280" y="2788920"/>
            <a:ext cx="3063240" cy="685800"/>
          </a:xfrm>
          <a:prstGeom prst="rect">
            <a:avLst/>
          </a:prstGeom>
          <a:noFill/>
          <a:ln/>
        </p:spPr>
        <p:txBody>
          <a:bodyPr wrap="square" lIns="0" tIns="0" rIns="0" bIns="0" rtlCol="0" anchor="t"/>
          <a:lstStyle/>
          <a:p>
            <a:pPr algn="l" indent="0" marL="0">
              <a:buNone/>
            </a:pPr>
            <a:r>
              <a:rPr lang="en-US" sz="1400" i="1" dirty="0">
                <a:solidFill>
                  <a:schemeClr val="tx1"/>
                </a:solidFill>
              </a:rPr>
              <a:t>“What were the Q3 board deck revenue figures?”</a:t>
            </a:r>
            <a:endParaRPr lang="en-US" sz="1400" dirty="0"/>
          </a:p>
        </p:txBody>
      </p:sp>
      <p:sp>
        <p:nvSpPr>
          <p:cNvPr id="22" name="answer-mock-221"/>
          <p:cNvSpPr/>
          <p:nvPr/>
        </p:nvSpPr>
        <p:spPr>
          <a:xfrm>
            <a:off x="4526280" y="3566160"/>
            <a:ext cx="3063240" cy="1234440"/>
          </a:xfrm>
          <a:prstGeom prst="roundRect">
            <a:avLst>
              <a:gd name="adj" fmla="val 3704"/>
            </a:avLst>
          </a:prstGeom>
          <a:solidFill>
            <a:schemeClr val="bg1"/>
          </a:solidFill>
          <a:ln w="12700">
            <a:solidFill>
              <a:srgbClr val="D7D7D7"/>
            </a:solidFill>
            <a:prstDash val="solid"/>
          </a:ln>
        </p:spPr>
      </p:sp>
      <p:sp>
        <p:nvSpPr>
          <p:cNvPr id="23" name="text-222"/>
          <p:cNvSpPr txBox="1"/>
          <p:nvPr/>
        </p:nvSpPr>
        <p:spPr>
          <a:xfrm>
            <a:off x="4663440" y="3639312"/>
            <a:ext cx="2788920" cy="1097280"/>
          </a:xfrm>
          <a:prstGeom prst="rect">
            <a:avLst/>
          </a:prstGeom>
          <a:noFill/>
          <a:ln/>
        </p:spPr>
        <p:txBody>
          <a:bodyPr wrap="square" lIns="0" tIns="0" rIns="0" bIns="0" rtlCol="0" anchor="ctr"/>
          <a:lstStyle/>
          <a:p>
            <a:pPr algn="l" indent="0" marL="0">
              <a:buNone/>
            </a:pPr>
            <a:r>
              <a:rPr lang="en-US" sz="1300" b="1" dirty="0">
                <a:solidFill>
                  <a:schemeClr val="tx1"/>
                </a:solidFill>
              </a:rPr>
              <a:t>“There is not enough evidence to answer this question.”</a:t>
            </a:r>
            <a:endParaRPr lang="en-US" sz="1300" dirty="0"/>
          </a:p>
          <a:p>
            <a:pPr algn="l" indent="0" marL="0">
              <a:buNone/>
            </a:pPr>
            <a:r>
              <a:rPr lang="en-US" sz="1100" dirty="0">
                <a:solidFill>
                  <a:schemeClr val="accent6"/>
                </a:solidFill>
              </a:rPr>
              <a:t>11 of 11 candidates denied before the model; opening the deck gives the same 404 as a missing file</a:t>
            </a:r>
            <a:endParaRPr lang="en-US" sz="1300" dirty="0"/>
          </a:p>
        </p:txBody>
      </p:sp>
      <p:sp>
        <p:nvSpPr>
          <p:cNvPr id="24" name="verdict-223"/>
          <p:cNvSpPr/>
          <p:nvPr/>
        </p:nvSpPr>
        <p:spPr>
          <a:xfrm>
            <a:off x="4526280" y="4983480"/>
            <a:ext cx="3063240" cy="960120"/>
          </a:xfrm>
          <a:prstGeom prst="roundRect">
            <a:avLst>
              <a:gd name="adj" fmla="val 4762"/>
            </a:avLst>
          </a:prstGeom>
          <a:solidFill>
            <a:srgbClr val="FBECEB"/>
          </a:solidFill>
          <a:ln w="12700">
            <a:solidFill>
              <a:schemeClr val="accent2"/>
            </a:solidFill>
            <a:prstDash val="solid"/>
          </a:ln>
        </p:spPr>
      </p:sp>
      <p:sp>
        <p:nvSpPr>
          <p:cNvPr id="25" name="text-224"/>
          <p:cNvSpPr txBox="1"/>
          <p:nvPr/>
        </p:nvSpPr>
        <p:spPr>
          <a:xfrm>
            <a:off x="4663440" y="5029200"/>
            <a:ext cx="2788920" cy="868680"/>
          </a:xfrm>
          <a:prstGeom prst="rect">
            <a:avLst/>
          </a:prstGeom>
          <a:noFill/>
          <a:ln/>
        </p:spPr>
        <p:txBody>
          <a:bodyPr wrap="square" lIns="0" tIns="0" rIns="0" bIns="0" rtlCol="0" anchor="ctr"/>
          <a:lstStyle/>
          <a:p>
            <a:pPr algn="l" indent="0" marL="0">
              <a:buNone/>
            </a:pPr>
            <a:r>
              <a:rPr lang="en-US" sz="1400" b="1" dirty="0">
                <a:solidFill>
                  <a:schemeClr val="accent2"/>
                </a:solidFill>
              </a:rPr>
              <a:t>Nothing leaked, nothing confirmed</a:t>
            </a:r>
            <a:endParaRPr lang="en-US" sz="1400" dirty="0"/>
          </a:p>
        </p:txBody>
      </p:sp>
      <p:sp>
        <p:nvSpPr>
          <p:cNvPr id="26" name="arrow-225"/>
          <p:cNvSpPr/>
          <p:nvPr/>
        </p:nvSpPr>
        <p:spPr>
          <a:xfrm>
            <a:off x="7845552" y="4160520"/>
            <a:ext cx="182880" cy="91"/>
          </a:xfrm>
          <a:prstGeom prst="line">
            <a:avLst/>
          </a:prstGeom>
          <a:noFill/>
          <a:ln w="19050">
            <a:solidFill>
              <a:schemeClr val="accent6"/>
            </a:solidFill>
            <a:prstDash val="solid"/>
            <a:tailEnd type="triangle"/>
          </a:ln>
        </p:spPr>
      </p:sp>
      <p:sp>
        <p:nvSpPr>
          <p:cNvPr id="27" name="scene-226"/>
          <p:cNvSpPr/>
          <p:nvPr/>
        </p:nvSpPr>
        <p:spPr>
          <a:xfrm>
            <a:off x="8046720" y="1325880"/>
            <a:ext cx="3520440" cy="4846320"/>
          </a:xfrm>
          <a:prstGeom prst="roundRect">
            <a:avLst>
              <a:gd name="adj" fmla="val 1299"/>
            </a:avLst>
          </a:prstGeom>
          <a:solidFill>
            <a:schemeClr val="bg2"/>
          </a:solidFill>
          <a:ln/>
        </p:spPr>
      </p:sp>
      <p:sp>
        <p:nvSpPr>
          <p:cNvPr id="28" name="num-227"/>
          <p:cNvSpPr txBox="1"/>
          <p:nvPr/>
        </p:nvSpPr>
        <p:spPr>
          <a:xfrm>
            <a:off x="8275320" y="1508760"/>
            <a:ext cx="411480" cy="411480"/>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03</a:t>
            </a:r>
            <a:endParaRPr lang="en-US" sz="1400" dirty="0"/>
          </a:p>
        </p:txBody>
      </p:sp>
      <p:sp>
        <p:nvSpPr>
          <p:cNvPr id="29" name="text-228"/>
          <p:cNvSpPr txBox="1"/>
          <p:nvPr/>
        </p:nvSpPr>
        <p:spPr>
          <a:xfrm>
            <a:off x="8823960" y="1481328"/>
            <a:ext cx="2651760" cy="457200"/>
          </a:xfrm>
          <a:prstGeom prst="rect">
            <a:avLst/>
          </a:prstGeom>
          <a:noFill/>
          <a:ln/>
        </p:spPr>
        <p:txBody>
          <a:bodyPr wrap="square" lIns="0" tIns="0" rIns="0" bIns="0" rtlCol="0" anchor="ctr"/>
          <a:lstStyle/>
          <a:p>
            <a:pPr algn="l" indent="0" marL="0">
              <a:buNone/>
            </a:pPr>
            <a:r>
              <a:rPr lang="en-US" sz="1800" b="1" dirty="0">
                <a:solidFill>
                  <a:schemeClr val="tx2"/>
                </a:solidFill>
              </a:rPr>
              <a:t>Revoked at the source</a:t>
            </a:r>
            <a:endParaRPr lang="en-US" sz="1800" dirty="0"/>
          </a:p>
        </p:txBody>
      </p:sp>
      <p:sp>
        <p:nvSpPr>
          <p:cNvPr id="30" name="icon-bg-229"/>
          <p:cNvSpPr/>
          <p:nvPr/>
        </p:nvSpPr>
        <p:spPr>
          <a:xfrm>
            <a:off x="8275320" y="2103120"/>
            <a:ext cx="502920" cy="502920"/>
          </a:xfrm>
          <a:prstGeom prst="ellipse">
            <a:avLst/>
          </a:prstGeom>
          <a:solidFill>
            <a:schemeClr val="accent3"/>
          </a:solidFill>
          <a:ln/>
        </p:spPr>
      </p:sp>
      <p:pic>
        <p:nvPicPr>
          <p:cNvPr id="31" name="icon-230" descr="preencoded.png">    </p:cNvPr>
          <p:cNvPicPr>
            <a:picLocks noChangeAspect="1"/>
          </p:cNvPicPr>
          <p:nvPr/>
        </p:nvPicPr>
        <p:blipFill>
          <a:blip r:embed="rId3"/>
          <a:stretch>
            <a:fillRect/>
          </a:stretch>
        </p:blipFill>
        <p:spPr>
          <a:xfrm>
            <a:off x="8385962" y="2213762"/>
            <a:ext cx="281635" cy="281635"/>
          </a:xfrm>
          <a:prstGeom prst="rect">
            <a:avLst/>
          </a:prstGeom>
        </p:spPr>
      </p:pic>
      <p:sp>
        <p:nvSpPr>
          <p:cNvPr id="32" name="text-231"/>
          <p:cNvSpPr txBox="1"/>
          <p:nvPr/>
        </p:nvSpPr>
        <p:spPr>
          <a:xfrm>
            <a:off x="8915400" y="2103120"/>
            <a:ext cx="2560320" cy="502920"/>
          </a:xfrm>
          <a:prstGeom prst="rect">
            <a:avLst/>
          </a:prstGeom>
          <a:noFill/>
          <a:ln/>
        </p:spPr>
        <p:txBody>
          <a:bodyPr wrap="square" lIns="0" tIns="0" rIns="0" bIns="0" rtlCol="0" anchor="ctr"/>
          <a:lstStyle/>
          <a:p>
            <a:pPr algn="l" indent="0" marL="0">
              <a:buNone/>
            </a:pPr>
            <a:r>
              <a:rPr lang="en-US" sz="1200" dirty="0">
                <a:solidFill>
                  <a:schemeClr val="accent6"/>
                </a:solidFill>
              </a:rPr>
              <a:t>Drive owner removes Leadership from the share</a:t>
            </a:r>
            <a:endParaRPr lang="en-US" sz="1200" dirty="0"/>
          </a:p>
        </p:txBody>
      </p:sp>
      <p:sp>
        <p:nvSpPr>
          <p:cNvPr id="33" name="text-232"/>
          <p:cNvSpPr txBox="1"/>
          <p:nvPr/>
        </p:nvSpPr>
        <p:spPr>
          <a:xfrm>
            <a:off x="8275320" y="2788920"/>
            <a:ext cx="3063240" cy="685800"/>
          </a:xfrm>
          <a:prstGeom prst="rect">
            <a:avLst/>
          </a:prstGeom>
          <a:noFill/>
          <a:ln/>
        </p:spPr>
        <p:txBody>
          <a:bodyPr wrap="square" lIns="0" tIns="0" rIns="0" bIns="0" rtlCol="0" anchor="t"/>
          <a:lstStyle/>
          <a:p>
            <a:pPr algn="l" indent="0" marL="0">
              <a:buNone/>
            </a:pPr>
            <a:r>
              <a:rPr lang="en-US" sz="1400" i="1" dirty="0">
                <a:solidFill>
                  <a:schemeClr val="tx1"/>
                </a:solidFill>
              </a:rPr>
              <a:t>John asks again, then reopens the earlier answer</a:t>
            </a:r>
            <a:endParaRPr lang="en-US" sz="1400" dirty="0"/>
          </a:p>
        </p:txBody>
      </p:sp>
      <p:sp>
        <p:nvSpPr>
          <p:cNvPr id="34" name="answer-mock-233"/>
          <p:cNvSpPr/>
          <p:nvPr/>
        </p:nvSpPr>
        <p:spPr>
          <a:xfrm>
            <a:off x="8275320" y="3566160"/>
            <a:ext cx="3063240" cy="1234440"/>
          </a:xfrm>
          <a:prstGeom prst="roundRect">
            <a:avLst>
              <a:gd name="adj" fmla="val 3704"/>
            </a:avLst>
          </a:prstGeom>
          <a:solidFill>
            <a:schemeClr val="bg1"/>
          </a:solidFill>
          <a:ln w="12700">
            <a:solidFill>
              <a:srgbClr val="D7D7D7"/>
            </a:solidFill>
            <a:prstDash val="solid"/>
          </a:ln>
        </p:spPr>
      </p:sp>
      <p:sp>
        <p:nvSpPr>
          <p:cNvPr id="35" name="text-234"/>
          <p:cNvSpPr txBox="1"/>
          <p:nvPr/>
        </p:nvSpPr>
        <p:spPr>
          <a:xfrm>
            <a:off x="8412480" y="3639312"/>
            <a:ext cx="2788920" cy="1097280"/>
          </a:xfrm>
          <a:prstGeom prst="rect">
            <a:avLst/>
          </a:prstGeom>
          <a:noFill/>
          <a:ln/>
        </p:spPr>
        <p:txBody>
          <a:bodyPr wrap="square" lIns="0" tIns="0" rIns="0" bIns="0" rtlCol="0" anchor="ctr"/>
          <a:lstStyle/>
          <a:p>
            <a:pPr algn="l" indent="0" marL="0">
              <a:buNone/>
            </a:pPr>
            <a:r>
              <a:rPr lang="en-US" sz="1300" b="1" dirty="0">
                <a:solidFill>
                  <a:schemeClr val="tx1"/>
                </a:solidFill>
              </a:rPr>
              <a:t>Next sync (each minute): the deck is gone</a:t>
            </a:r>
            <a:endParaRPr lang="en-US" sz="1300" dirty="0"/>
          </a:p>
          <a:p>
            <a:pPr algn="l" indent="0" marL="0">
              <a:buNone/>
            </a:pPr>
            <a:r>
              <a:rPr lang="en-US" sz="1100" dirty="0">
                <a:solidFill>
                  <a:schemeClr val="accent6"/>
                </a:solidFill>
              </a:rPr>
              <a:t>Saved answer withheld; John's line leaves the access map</a:t>
            </a:r>
            <a:endParaRPr lang="en-US" sz="1300" dirty="0"/>
          </a:p>
        </p:txBody>
      </p:sp>
      <p:sp>
        <p:nvSpPr>
          <p:cNvPr id="36" name="verdict-235"/>
          <p:cNvSpPr/>
          <p:nvPr/>
        </p:nvSpPr>
        <p:spPr>
          <a:xfrm>
            <a:off x="8275320" y="4983480"/>
            <a:ext cx="3063240" cy="960120"/>
          </a:xfrm>
          <a:prstGeom prst="roundRect">
            <a:avLst>
              <a:gd name="adj" fmla="val 4762"/>
            </a:avLst>
          </a:prstGeom>
          <a:solidFill>
            <a:srgbClr val="FCF3E3"/>
          </a:solidFill>
          <a:ln w="12700">
            <a:solidFill>
              <a:schemeClr val="accent3"/>
            </a:solidFill>
            <a:prstDash val="solid"/>
          </a:ln>
        </p:spPr>
      </p:sp>
      <p:sp>
        <p:nvSpPr>
          <p:cNvPr id="37" name="text-236"/>
          <p:cNvSpPr txBox="1"/>
          <p:nvPr/>
        </p:nvSpPr>
        <p:spPr>
          <a:xfrm>
            <a:off x="8412480" y="5029200"/>
            <a:ext cx="2788920" cy="868680"/>
          </a:xfrm>
          <a:prstGeom prst="rect">
            <a:avLst/>
          </a:prstGeom>
          <a:noFill/>
          <a:ln/>
        </p:spPr>
        <p:txBody>
          <a:bodyPr wrap="square" lIns="0" tIns="0" rIns="0" bIns="0" rtlCol="0" anchor="ctr"/>
          <a:lstStyle/>
          <a:p>
            <a:pPr algn="l" indent="0" marL="0">
              <a:buNone/>
            </a:pPr>
            <a:r>
              <a:rPr lang="en-US" sz="1400" b="1" dirty="0">
                <a:solidFill>
                  <a:schemeClr val="accent3"/>
                </a:solidFill>
              </a:rPr>
              <a:t>Enforced within 5 minutes, even if a sync is missed</a:t>
            </a:r>
            <a:endParaRPr lang="en-US" sz="1400" dirty="0"/>
          </a:p>
        </p:txBody>
      </p:sp>
      <p:sp>
        <p:nvSpPr>
          <p:cNvPr id="38" name="text-237"/>
          <p:cNvSpPr txBox="1"/>
          <p:nvPr/>
        </p:nvSpPr>
        <p:spPr>
          <a:xfrm>
            <a:off x="548640" y="6199632"/>
            <a:ext cx="11064240" cy="201168"/>
          </a:xfrm>
          <a:prstGeom prst="rect">
            <a:avLst/>
          </a:prstGeom>
          <a:noFill/>
          <a:ln/>
        </p:spPr>
        <p:txBody>
          <a:bodyPr wrap="square" lIns="0" tIns="0" rIns="0" bIns="0" rtlCol="0" anchor="t"/>
          <a:lstStyle/>
          <a:p>
            <a:pPr algn="l" indent="0" marL="0">
              <a:buNone/>
            </a:pPr>
            <a:r>
              <a:rPr lang="en-US" sz="1000" i="1" dirty="0">
                <a:solidFill>
                  <a:schemeClr val="accent6"/>
                </a:solidFill>
              </a:rPr>
              <a:t>Synthetic company and figures. Each scene is an automated test: test_ask_pipeline.py, test_permission_freshness.py, test_query_history_access.py and test_access_map.py.</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All five mandatory scenarios run end to end,</a:t>
            </a:r>
            <a:pPr algn="l" indent="0" marL="0">
              <a:buNone/>
            </a:pPr>
            <a:r>
              <a:rPr lang="en-US" sz="2600" b="1" dirty="0">
                <a:solidFill>
                  <a:srgbClr val="8C8C8C"/>
                </a:solidFill>
              </a:rPr>
              <a:t> and each is a test</a:t>
            </a:r>
            <a:endParaRPr lang="en-US" sz="2600" dirty="0"/>
          </a:p>
        </p:txBody>
      </p:sp>
      <p:graphicFrame>
        <p:nvGraphicFramePr>
          <p:cNvPr id="9" name="scenario-table-238"/>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502920"/>
                <a:gridCol w="1828800"/>
                <a:gridCol w="5623560"/>
                <a:gridCol w="3108960"/>
              </a:tblGrid>
              <a:tr h="411480">
                <a:tc>
                  <a:txBody>
                    <a:bodyPr/>
                    <a:lstStyle/>
                    <a:p>
                      <a:pPr indent="0" marL="0">
                        <a:buNone/>
                      </a:pP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Scenario</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a judge sees</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Proof</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r>
              <a:tr h="777240">
                <a:tc>
                  <a:txBody>
                    <a:bodyPr/>
                    <a:lstStyle/>
                    <a:p>
                      <a:pPr algn="ctr" indent="0" marL="0">
                        <a:buNone/>
                      </a:pPr>
                      <a:r>
                        <a:rPr lang="en-US" sz="1600" b="1" dirty="0">
                          <a:solidFill>
                            <a:schemeClr val="tx2"/>
                          </a:solidFill>
                        </a:rPr>
                        <a:t>1</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Unified query</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John asks about the Rail-B cutover and gets one answer citing an email, Jira PAY-150, two Slack channels and the Drive vendor list (8/8 claims supported)</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test_unified_cited_query</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2</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Data freshness</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The failover runbook is v8 at the source but v7 in the index: omitted as stale. The fresh KYC runbook is cited</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test_bounded_freshness_stale_omitted</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3</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Negative permission</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Mei, a contractor, gets no restricted content; a denied document returns the same 404 as a missing one</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test_negative_permission_no_existence_leak</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4</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Live revocation</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Leadership is removed from the Drive share (or the in-app grant revoked): John's next answer drops the board deck and the saved answer is withheld</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test_permission_freshness, test_live_revocation_changes_next_answer, test_query_history_access</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5</a:t>
                      </a:r>
                      <a:endParaRPr lang="en-US" sz="16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Audit inquiry</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Sam, an auditor, reconstructs the question, retrieved IDs and each allow/deny; the answer needs a recorded reveal with a reason. The hash chain verifies</a:t>
                      </a:r>
                      <a:endParaRPr lang="en-US" sz="13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test_audit_reconstruction, test_audit_need_to_know</a:t>
                      </a:r>
                      <a:endParaRPr lang="en-US" sz="1100" dirty="0"/>
                    </a:p>
                  </a:txBody>
                  <a:tcPr marL="91440" marR="91440"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bl>
          </a:graphicData>
        </a:graphic>
      </p:graphicFrame>
      <p:sp>
        <p:nvSpPr>
          <p:cNvPr id="4" name="text-239"/>
          <p:cNvSpPr txBox="1"/>
          <p:nvPr/>
        </p:nvSpPr>
        <p:spPr>
          <a:xfrm>
            <a:off x="548640" y="5852160"/>
            <a:ext cx="11064240" cy="274320"/>
          </a:xfrm>
          <a:prstGeom prst="rect">
            <a:avLst/>
          </a:prstGeom>
          <a:noFill/>
          <a:ln/>
        </p:spPr>
        <p:txBody>
          <a:bodyPr wrap="square" lIns="0" tIns="0" rIns="0" bIns="0" rtlCol="0" anchor="t"/>
          <a:lstStyle/>
          <a:p>
            <a:pPr algn="l" indent="0" marL="0">
              <a:buNone/>
            </a:pPr>
            <a:r>
              <a:rPr lang="en-US" sz="1200" i="1" dirty="0">
                <a:solidFill>
                  <a:schemeClr val="accent6"/>
                </a:solidFill>
              </a:rPr>
              <a:t>Bonus: a prompt-injection string planted in #general is quarantined by the sanitiser before composition.</a:t>
            </a:r>
            <a:endParaRPr lang="en-US" sz="12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Every answer ships</a:t>
            </a:r>
            <a:pPr algn="l" indent="0" marL="0">
              <a:buNone/>
            </a:pPr>
            <a:r>
              <a:rPr lang="en-US" sz="2600" b="1" dirty="0">
                <a:solidFill>
                  <a:srgbClr val="8C8C8C"/>
                </a:solidFill>
              </a:rPr>
              <a:t> with its own receipts</a:t>
            </a:r>
            <a:endParaRPr lang="en-US" sz="2600" dirty="0"/>
          </a:p>
        </p:txBody>
      </p:sp>
      <p:sp>
        <p:nvSpPr>
          <p:cNvPr id="3" name="answer-card-240"/>
          <p:cNvSpPr/>
          <p:nvPr/>
        </p:nvSpPr>
        <p:spPr>
          <a:xfrm>
            <a:off x="548640" y="1371600"/>
            <a:ext cx="5394960" cy="4754880"/>
          </a:xfrm>
          <a:prstGeom prst="roundRect">
            <a:avLst>
              <a:gd name="adj" fmla="val 962"/>
            </a:avLst>
          </a:prstGeom>
          <a:solidFill>
            <a:schemeClr val="bg1"/>
          </a:solidFill>
          <a:ln w="12700">
            <a:solidFill>
              <a:srgbClr val="D7D7D7"/>
            </a:solidFill>
            <a:prstDash val="solid"/>
          </a:ln>
        </p:spPr>
      </p:sp>
      <p:sp>
        <p:nvSpPr>
          <p:cNvPr id="4" name="text-241"/>
          <p:cNvSpPr txBox="1"/>
          <p:nvPr/>
        </p:nvSpPr>
        <p:spPr>
          <a:xfrm>
            <a:off x="822960" y="1536192"/>
            <a:ext cx="4846320" cy="320040"/>
          </a:xfrm>
          <a:prstGeom prst="rect">
            <a:avLst/>
          </a:prstGeom>
          <a:noFill/>
          <a:ln/>
        </p:spPr>
        <p:txBody>
          <a:bodyPr wrap="square" lIns="0" tIns="0" rIns="0" bIns="0" rtlCol="0" anchor="t"/>
          <a:lstStyle/>
          <a:p>
            <a:pPr algn="l" indent="0" marL="0">
              <a:buNone/>
            </a:pPr>
            <a:r>
              <a:rPr lang="en-US" sz="1200" i="1" dirty="0">
                <a:solidFill>
                  <a:schemeClr val="accent6"/>
                </a:solidFill>
              </a:rPr>
              <a:t>“What were the Q3 board deck revenue figures?”  ·  John Tan</a:t>
            </a:r>
            <a:endParaRPr lang="en-US" sz="1200" dirty="0"/>
          </a:p>
        </p:txBody>
      </p:sp>
      <p:sp>
        <p:nvSpPr>
          <p:cNvPr id="5" name="text-242"/>
          <p:cNvSpPr txBox="1"/>
          <p:nvPr/>
        </p:nvSpPr>
        <p:spPr>
          <a:xfrm>
            <a:off x="822960" y="1901952"/>
            <a:ext cx="4846320" cy="960120"/>
          </a:xfrm>
          <a:prstGeom prst="rect">
            <a:avLst/>
          </a:prstGeom>
          <a:noFill/>
          <a:ln/>
        </p:spPr>
        <p:txBody>
          <a:bodyPr wrap="square" lIns="0" tIns="0" rIns="0" bIns="0" rtlCol="0" anchor="t"/>
          <a:lstStyle/>
          <a:p>
            <a:pPr algn="l" indent="0" marL="0">
              <a:buNone/>
            </a:pPr>
            <a:r>
              <a:rPr lang="en-US" sz="1400" dirty="0">
                <a:solidFill>
                  <a:schemeClr val="tx1"/>
                </a:solidFill>
              </a:rPr>
              <a:t>Q3 2026 revenue: SGD 48.6 million, up 18% year on year (Q3 2025: SGD 41.2 million). </a:t>
            </a:r>
            <a:pPr algn="l" indent="0" marL="0">
              <a:buNone/>
            </a:pPr>
            <a:r>
              <a:rPr lang="en-US" sz="1400" b="1" dirty="0">
                <a:solidFill>
                  <a:schemeClr val="accent1"/>
                </a:solidFill>
              </a:rPr>
              <a:t>[E4]</a:t>
            </a:r>
            <a:pPr algn="l" indent="0" marL="0">
              <a:buNone/>
            </a:pPr>
            <a:r>
              <a:rPr lang="en-US" sz="1400" dirty="0">
                <a:solidFill>
                  <a:schemeClr val="tx1"/>
                </a:solidFill>
              </a:rPr>
              <a:t> Q4 2026 revenue guidance: SGD 50 to 52 million. </a:t>
            </a:r>
            <a:pPr algn="l" indent="0" marL="0">
              <a:buNone/>
            </a:pPr>
            <a:r>
              <a:rPr lang="en-US" sz="1400" b="1" dirty="0">
                <a:solidFill>
                  <a:schemeClr val="accent1"/>
                </a:solidFill>
              </a:rPr>
              <a:t>[E1]</a:t>
            </a:r>
            <a:endParaRPr lang="en-US" sz="1400" dirty="0"/>
          </a:p>
        </p:txBody>
      </p:sp>
      <p:sp>
        <p:nvSpPr>
          <p:cNvPr id="6" name="coverage-tile-243"/>
          <p:cNvSpPr/>
          <p:nvPr/>
        </p:nvSpPr>
        <p:spPr>
          <a:xfrm>
            <a:off x="822960" y="2971800"/>
            <a:ext cx="1463040" cy="1143000"/>
          </a:xfrm>
          <a:prstGeom prst="roundRect">
            <a:avLst>
              <a:gd name="adj" fmla="val 4000"/>
            </a:avLst>
          </a:prstGeom>
          <a:solidFill>
            <a:srgbClr val="549F58"/>
          </a:solidFill>
          <a:ln/>
        </p:spPr>
      </p:sp>
      <p:sp>
        <p:nvSpPr>
          <p:cNvPr id="7" name="text-244"/>
          <p:cNvSpPr txBox="1"/>
          <p:nvPr/>
        </p:nvSpPr>
        <p:spPr>
          <a:xfrm>
            <a:off x="932688" y="3035808"/>
            <a:ext cx="1280160" cy="548640"/>
          </a:xfrm>
          <a:prstGeom prst="rect">
            <a:avLst/>
          </a:prstGeom>
          <a:noFill/>
          <a:ln/>
        </p:spPr>
        <p:txBody>
          <a:bodyPr wrap="square" lIns="0" tIns="0" rIns="0" bIns="0" rtlCol="0" anchor="t"/>
          <a:lstStyle/>
          <a:p>
            <a:pPr algn="l" indent="0" marL="0">
              <a:buNone/>
            </a:pPr>
            <a:r>
              <a:rPr lang="en-US" sz="3000" b="1" dirty="0">
                <a:solidFill>
                  <a:schemeClr val="bg1"/>
                </a:solidFill>
              </a:rPr>
              <a:t>100%</a:t>
            </a:r>
            <a:endParaRPr lang="en-US" sz="3000" dirty="0"/>
          </a:p>
        </p:txBody>
      </p:sp>
      <p:sp>
        <p:nvSpPr>
          <p:cNvPr id="8" name="text-245"/>
          <p:cNvSpPr txBox="1"/>
          <p:nvPr/>
        </p:nvSpPr>
        <p:spPr>
          <a:xfrm>
            <a:off x="932688" y="3749040"/>
            <a:ext cx="1280160" cy="274320"/>
          </a:xfrm>
          <a:prstGeom prst="rect">
            <a:avLst/>
          </a:prstGeom>
          <a:noFill/>
          <a:ln/>
        </p:spPr>
        <p:txBody>
          <a:bodyPr wrap="square" lIns="0" tIns="0" rIns="0" bIns="0" rtlCol="0" anchor="t"/>
          <a:lstStyle/>
          <a:p>
            <a:pPr algn="l" indent="0" marL="0">
              <a:buNone/>
            </a:pPr>
            <a:r>
              <a:rPr lang="en-US" sz="1000" dirty="0">
                <a:solidFill>
                  <a:schemeClr val="bg1"/>
                </a:solidFill>
              </a:rPr>
              <a:t>Claim coverage</a:t>
            </a:r>
            <a:endParaRPr lang="en-US" sz="1000" dirty="0"/>
          </a:p>
        </p:txBody>
      </p:sp>
      <p:sp>
        <p:nvSpPr>
          <p:cNvPr id="9" name="stat-tile-246"/>
          <p:cNvSpPr/>
          <p:nvPr/>
        </p:nvSpPr>
        <p:spPr>
          <a:xfrm>
            <a:off x="2377440" y="2971800"/>
            <a:ext cx="1024128" cy="1143000"/>
          </a:xfrm>
          <a:prstGeom prst="roundRect">
            <a:avLst>
              <a:gd name="adj" fmla="val 4464"/>
            </a:avLst>
          </a:prstGeom>
          <a:solidFill>
            <a:schemeClr val="bg2"/>
          </a:solidFill>
          <a:ln/>
        </p:spPr>
      </p:sp>
      <p:sp>
        <p:nvSpPr>
          <p:cNvPr id="10" name="text-247"/>
          <p:cNvSpPr txBox="1"/>
          <p:nvPr/>
        </p:nvSpPr>
        <p:spPr>
          <a:xfrm>
            <a:off x="2487168" y="3035808"/>
            <a:ext cx="822960" cy="548640"/>
          </a:xfrm>
          <a:prstGeom prst="rect">
            <a:avLst/>
          </a:prstGeom>
          <a:noFill/>
          <a:ln/>
        </p:spPr>
        <p:txBody>
          <a:bodyPr wrap="square" lIns="0" tIns="0" rIns="0" bIns="0" rtlCol="0" anchor="t"/>
          <a:lstStyle/>
          <a:p>
            <a:pPr algn="l" indent="0" marL="0">
              <a:buNone/>
            </a:pPr>
            <a:r>
              <a:rPr lang="en-US" sz="2600" b="1" dirty="0">
                <a:solidFill>
                  <a:schemeClr val="tx2"/>
                </a:solidFill>
              </a:rPr>
              <a:t>8</a:t>
            </a:r>
            <a:endParaRPr lang="en-US" sz="2600" dirty="0"/>
          </a:p>
        </p:txBody>
      </p:sp>
      <p:sp>
        <p:nvSpPr>
          <p:cNvPr id="11" name="text-248"/>
          <p:cNvSpPr txBox="1"/>
          <p:nvPr/>
        </p:nvSpPr>
        <p:spPr>
          <a:xfrm>
            <a:off x="2487168" y="3749040"/>
            <a:ext cx="868680" cy="274320"/>
          </a:xfrm>
          <a:prstGeom prst="rect">
            <a:avLst/>
          </a:prstGeom>
          <a:noFill/>
          <a:ln/>
        </p:spPr>
        <p:txBody>
          <a:bodyPr wrap="square" lIns="0" tIns="0" rIns="0" bIns="0" rtlCol="0" anchor="t"/>
          <a:lstStyle/>
          <a:p>
            <a:pPr algn="l" indent="0" marL="0">
              <a:buNone/>
            </a:pPr>
            <a:r>
              <a:rPr lang="en-US" sz="1000" dirty="0">
                <a:solidFill>
                  <a:schemeClr val="accent6"/>
                </a:solidFill>
              </a:rPr>
              <a:t>claims</a:t>
            </a:r>
            <a:endParaRPr lang="en-US" sz="1000" dirty="0"/>
          </a:p>
        </p:txBody>
      </p:sp>
      <p:sp>
        <p:nvSpPr>
          <p:cNvPr id="12" name="stat-tile-249"/>
          <p:cNvSpPr/>
          <p:nvPr/>
        </p:nvSpPr>
        <p:spPr>
          <a:xfrm>
            <a:off x="3493008" y="2971800"/>
            <a:ext cx="1024128" cy="1143000"/>
          </a:xfrm>
          <a:prstGeom prst="roundRect">
            <a:avLst>
              <a:gd name="adj" fmla="val 4464"/>
            </a:avLst>
          </a:prstGeom>
          <a:solidFill>
            <a:schemeClr val="bg2"/>
          </a:solidFill>
          <a:ln/>
        </p:spPr>
      </p:sp>
      <p:sp>
        <p:nvSpPr>
          <p:cNvPr id="13" name="text-250"/>
          <p:cNvSpPr txBox="1"/>
          <p:nvPr/>
        </p:nvSpPr>
        <p:spPr>
          <a:xfrm>
            <a:off x="3602736" y="3035808"/>
            <a:ext cx="822960" cy="548640"/>
          </a:xfrm>
          <a:prstGeom prst="rect">
            <a:avLst/>
          </a:prstGeom>
          <a:noFill/>
          <a:ln/>
        </p:spPr>
        <p:txBody>
          <a:bodyPr wrap="square" lIns="0" tIns="0" rIns="0" bIns="0" rtlCol="0" anchor="t"/>
          <a:lstStyle/>
          <a:p>
            <a:pPr algn="l" indent="0" marL="0">
              <a:buNone/>
            </a:pPr>
            <a:r>
              <a:rPr lang="en-US" sz="2600" b="1" dirty="0">
                <a:solidFill>
                  <a:schemeClr val="tx2"/>
                </a:solidFill>
              </a:rPr>
              <a:t>8</a:t>
            </a:r>
            <a:endParaRPr lang="en-US" sz="2600" dirty="0"/>
          </a:p>
        </p:txBody>
      </p:sp>
      <p:sp>
        <p:nvSpPr>
          <p:cNvPr id="14" name="text-251"/>
          <p:cNvSpPr txBox="1"/>
          <p:nvPr/>
        </p:nvSpPr>
        <p:spPr>
          <a:xfrm>
            <a:off x="3602736" y="3749040"/>
            <a:ext cx="868680" cy="274320"/>
          </a:xfrm>
          <a:prstGeom prst="rect">
            <a:avLst/>
          </a:prstGeom>
          <a:noFill/>
          <a:ln/>
        </p:spPr>
        <p:txBody>
          <a:bodyPr wrap="square" lIns="0" tIns="0" rIns="0" bIns="0" rtlCol="0" anchor="t"/>
          <a:lstStyle/>
          <a:p>
            <a:pPr algn="l" indent="0" marL="0">
              <a:buNone/>
            </a:pPr>
            <a:r>
              <a:rPr lang="en-US" sz="1000" dirty="0">
                <a:solidFill>
                  <a:schemeClr val="accent6"/>
                </a:solidFill>
              </a:rPr>
              <a:t>supported</a:t>
            </a:r>
            <a:endParaRPr lang="en-US" sz="1000" dirty="0"/>
          </a:p>
        </p:txBody>
      </p:sp>
      <p:sp>
        <p:nvSpPr>
          <p:cNvPr id="15" name="stat-tile-252"/>
          <p:cNvSpPr/>
          <p:nvPr/>
        </p:nvSpPr>
        <p:spPr>
          <a:xfrm>
            <a:off x="4608576" y="2971800"/>
            <a:ext cx="1024128" cy="1143000"/>
          </a:xfrm>
          <a:prstGeom prst="roundRect">
            <a:avLst>
              <a:gd name="adj" fmla="val 4464"/>
            </a:avLst>
          </a:prstGeom>
          <a:solidFill>
            <a:schemeClr val="bg2"/>
          </a:solidFill>
          <a:ln/>
        </p:spPr>
      </p:sp>
      <p:sp>
        <p:nvSpPr>
          <p:cNvPr id="16" name="text-253"/>
          <p:cNvSpPr txBox="1"/>
          <p:nvPr/>
        </p:nvSpPr>
        <p:spPr>
          <a:xfrm>
            <a:off x="4718304" y="3035808"/>
            <a:ext cx="822960" cy="548640"/>
          </a:xfrm>
          <a:prstGeom prst="rect">
            <a:avLst/>
          </a:prstGeom>
          <a:noFill/>
          <a:ln/>
        </p:spPr>
        <p:txBody>
          <a:bodyPr wrap="square" lIns="0" tIns="0" rIns="0" bIns="0" rtlCol="0" anchor="t"/>
          <a:lstStyle/>
          <a:p>
            <a:pPr algn="l" indent="0" marL="0">
              <a:buNone/>
            </a:pPr>
            <a:r>
              <a:rPr lang="en-US" sz="2600" b="1" dirty="0">
                <a:solidFill>
                  <a:schemeClr val="accent2"/>
                </a:solidFill>
              </a:rPr>
              <a:t>2</a:t>
            </a:r>
            <a:endParaRPr lang="en-US" sz="2600" dirty="0"/>
          </a:p>
        </p:txBody>
      </p:sp>
      <p:sp>
        <p:nvSpPr>
          <p:cNvPr id="17" name="text-254"/>
          <p:cNvSpPr txBox="1"/>
          <p:nvPr/>
        </p:nvSpPr>
        <p:spPr>
          <a:xfrm>
            <a:off x="4718304" y="3749040"/>
            <a:ext cx="868680" cy="274320"/>
          </a:xfrm>
          <a:prstGeom prst="rect">
            <a:avLst/>
          </a:prstGeom>
          <a:noFill/>
          <a:ln/>
        </p:spPr>
        <p:txBody>
          <a:bodyPr wrap="square" lIns="0" tIns="0" rIns="0" bIns="0" rtlCol="0" anchor="t"/>
          <a:lstStyle/>
          <a:p>
            <a:pPr algn="l" indent="0" marL="0">
              <a:buNone/>
            </a:pPr>
            <a:r>
              <a:rPr lang="en-US" sz="1000" dirty="0">
                <a:solidFill>
                  <a:schemeClr val="accent6"/>
                </a:solidFill>
              </a:rPr>
              <a:t>injection flags</a:t>
            </a:r>
            <a:endParaRPr lang="en-US" sz="1000" dirty="0"/>
          </a:p>
        </p:txBody>
      </p:sp>
      <p:sp>
        <p:nvSpPr>
          <p:cNvPr id="18" name="receipt-line-255"/>
          <p:cNvSpPr/>
          <p:nvPr/>
        </p:nvSpPr>
        <p:spPr>
          <a:xfrm>
            <a:off x="822960" y="4279392"/>
            <a:ext cx="4846320" cy="310896"/>
          </a:xfrm>
          <a:prstGeom prst="roundRect">
            <a:avLst>
              <a:gd name="adj" fmla="val 50000"/>
            </a:avLst>
          </a:prstGeom>
          <a:solidFill>
            <a:schemeClr val="bg1"/>
          </a:solidFill>
          <a:ln w="12700">
            <a:solidFill>
              <a:srgbClr val="D7D7D7"/>
            </a:solidFill>
            <a:prstDash val="solid"/>
          </a:ln>
        </p:spPr>
      </p:sp>
      <p:sp>
        <p:nvSpPr>
          <p:cNvPr id="19" name="text-256"/>
          <p:cNvSpPr txBox="1"/>
          <p:nvPr/>
        </p:nvSpPr>
        <p:spPr>
          <a:xfrm>
            <a:off x="987552" y="4279392"/>
            <a:ext cx="4572000" cy="310896"/>
          </a:xfrm>
          <a:prstGeom prst="rect">
            <a:avLst/>
          </a:prstGeom>
          <a:noFill/>
          <a:ln/>
        </p:spPr>
        <p:txBody>
          <a:bodyPr wrap="square" lIns="0" tIns="0" rIns="0" bIns="0" rtlCol="0" anchor="ctr"/>
          <a:lstStyle/>
          <a:p>
            <a:pPr algn="l" indent="0" marL="0">
              <a:buNone/>
            </a:pPr>
            <a:r>
              <a:rPr lang="en-US" sz="1100" b="1" dirty="0">
                <a:solidFill>
                  <a:schemeClr val="tx2"/>
                </a:solidFill>
              </a:rPr>
              <a:t>[E4]  Q3 2026 Board Deck · Google Drive · supported</a:t>
            </a:r>
            <a:endParaRPr lang="en-US" sz="1100" dirty="0"/>
          </a:p>
        </p:txBody>
      </p:sp>
      <p:sp>
        <p:nvSpPr>
          <p:cNvPr id="20" name="receipt-line-257"/>
          <p:cNvSpPr/>
          <p:nvPr/>
        </p:nvSpPr>
        <p:spPr>
          <a:xfrm>
            <a:off x="822960" y="4663440"/>
            <a:ext cx="4846320" cy="310896"/>
          </a:xfrm>
          <a:prstGeom prst="roundRect">
            <a:avLst>
              <a:gd name="adj" fmla="val 50000"/>
            </a:avLst>
          </a:prstGeom>
          <a:solidFill>
            <a:schemeClr val="bg1"/>
          </a:solidFill>
          <a:ln w="12700">
            <a:solidFill>
              <a:srgbClr val="D7D7D7"/>
            </a:solidFill>
            <a:prstDash val="solid"/>
          </a:ln>
        </p:spPr>
      </p:sp>
      <p:sp>
        <p:nvSpPr>
          <p:cNvPr id="21" name="text-258"/>
          <p:cNvSpPr txBox="1"/>
          <p:nvPr/>
        </p:nvSpPr>
        <p:spPr>
          <a:xfrm>
            <a:off x="987552" y="4663440"/>
            <a:ext cx="4572000" cy="310896"/>
          </a:xfrm>
          <a:prstGeom prst="rect">
            <a:avLst/>
          </a:prstGeom>
          <a:noFill/>
          <a:ln/>
        </p:spPr>
        <p:txBody>
          <a:bodyPr wrap="square" lIns="0" tIns="0" rIns="0" bIns="0" rtlCol="0" anchor="ctr"/>
          <a:lstStyle/>
          <a:p>
            <a:pPr algn="l" indent="0" marL="0">
              <a:buNone/>
            </a:pPr>
            <a:r>
              <a:rPr lang="en-US" sz="1100" b="1" dirty="0">
                <a:solidFill>
                  <a:schemeClr val="accent3"/>
                </a:solidFill>
              </a:rPr>
              <a:t>Freshness: mixed · stale failover runbook omitted</a:t>
            </a:r>
            <a:endParaRPr lang="en-US" sz="1100" dirty="0"/>
          </a:p>
        </p:txBody>
      </p:sp>
      <p:sp>
        <p:nvSpPr>
          <p:cNvPr id="22" name="receipt-line-259"/>
          <p:cNvSpPr/>
          <p:nvPr/>
        </p:nvSpPr>
        <p:spPr>
          <a:xfrm>
            <a:off x="822960" y="5047488"/>
            <a:ext cx="4846320" cy="310896"/>
          </a:xfrm>
          <a:prstGeom prst="roundRect">
            <a:avLst>
              <a:gd name="adj" fmla="val 50000"/>
            </a:avLst>
          </a:prstGeom>
          <a:solidFill>
            <a:schemeClr val="bg1"/>
          </a:solidFill>
          <a:ln w="12700">
            <a:solidFill>
              <a:srgbClr val="D7D7D7"/>
            </a:solidFill>
            <a:prstDash val="solid"/>
          </a:ln>
        </p:spPr>
      </p:sp>
      <p:sp>
        <p:nvSpPr>
          <p:cNvPr id="23" name="text-260"/>
          <p:cNvSpPr txBox="1"/>
          <p:nvPr/>
        </p:nvSpPr>
        <p:spPr>
          <a:xfrm>
            <a:off x="987552" y="5047488"/>
            <a:ext cx="4572000" cy="310896"/>
          </a:xfrm>
          <a:prstGeom prst="rect">
            <a:avLst/>
          </a:prstGeom>
          <a:noFill/>
          <a:ln/>
        </p:spPr>
        <p:txBody>
          <a:bodyPr wrap="square" lIns="0" tIns="0" rIns="0" bIns="0" rtlCol="0" anchor="ctr"/>
          <a:lstStyle/>
          <a:p>
            <a:pPr algn="l" indent="0" marL="0">
              <a:buNone/>
            </a:pPr>
            <a:r>
              <a:rPr lang="en-US" sz="1100" b="1" dirty="0">
                <a:solidFill>
                  <a:schemeClr val="accent1"/>
                </a:solidFill>
              </a:rPr>
              <a:t>Access: 11 documents allowed · policy ac-v2</a:t>
            </a:r>
            <a:endParaRPr lang="en-US" sz="1100" dirty="0"/>
          </a:p>
        </p:txBody>
      </p:sp>
      <p:sp>
        <p:nvSpPr>
          <p:cNvPr id="24" name="receipt-line-261"/>
          <p:cNvSpPr/>
          <p:nvPr/>
        </p:nvSpPr>
        <p:spPr>
          <a:xfrm>
            <a:off x="822960" y="5431536"/>
            <a:ext cx="4846320" cy="310896"/>
          </a:xfrm>
          <a:prstGeom prst="roundRect">
            <a:avLst>
              <a:gd name="adj" fmla="val 50000"/>
            </a:avLst>
          </a:prstGeom>
          <a:solidFill>
            <a:schemeClr val="bg1"/>
          </a:solidFill>
          <a:ln w="12700">
            <a:solidFill>
              <a:srgbClr val="D7D7D7"/>
            </a:solidFill>
            <a:prstDash val="solid"/>
          </a:ln>
        </p:spPr>
      </p:sp>
      <p:sp>
        <p:nvSpPr>
          <p:cNvPr id="25" name="text-262"/>
          <p:cNvSpPr txBox="1"/>
          <p:nvPr/>
        </p:nvSpPr>
        <p:spPr>
          <a:xfrm>
            <a:off x="987552" y="5431536"/>
            <a:ext cx="4572000" cy="310896"/>
          </a:xfrm>
          <a:prstGeom prst="rect">
            <a:avLst/>
          </a:prstGeom>
          <a:noFill/>
          <a:ln/>
        </p:spPr>
        <p:txBody>
          <a:bodyPr wrap="square" lIns="0" tIns="0" rIns="0" bIns="0" rtlCol="0" anchor="ctr"/>
          <a:lstStyle/>
          <a:p>
            <a:pPr algn="l" indent="0" marL="0">
              <a:buNone/>
            </a:pPr>
            <a:r>
              <a:rPr lang="en-US" sz="1100" b="1" dirty="0">
                <a:solidFill>
                  <a:schemeClr val="tx2"/>
                </a:solidFill>
              </a:rPr>
              <a:t>Audit #f40c83b6 · hash chain verified</a:t>
            </a:r>
            <a:endParaRPr lang="en-US" sz="1100" dirty="0"/>
          </a:p>
        </p:txBody>
      </p:sp>
      <p:sp>
        <p:nvSpPr>
          <p:cNvPr id="26" name="text-263"/>
          <p:cNvSpPr txBox="1"/>
          <p:nvPr/>
        </p:nvSpPr>
        <p:spPr>
          <a:xfrm>
            <a:off x="822960" y="5833872"/>
            <a:ext cx="4846320" cy="237744"/>
          </a:xfrm>
          <a:prstGeom prst="rect">
            <a:avLst/>
          </a:prstGeom>
          <a:noFill/>
          <a:ln/>
        </p:spPr>
        <p:txBody>
          <a:bodyPr wrap="square" lIns="0" tIns="0" rIns="0" bIns="0" rtlCol="0" anchor="t"/>
          <a:lstStyle/>
          <a:p>
            <a:pPr algn="l" indent="0" marL="0">
              <a:buNone/>
            </a:pPr>
            <a:r>
              <a:rPr lang="en-US" sz="950" i="1" dirty="0">
                <a:solidFill>
                  <a:schemeClr val="accent6"/>
                </a:solidFill>
              </a:rPr>
              <a:t>Real output on main (demo corpus, mock model), 16 Oct 2026.</a:t>
            </a:r>
            <a:endParaRPr lang="en-US" sz="950" dirty="0"/>
          </a:p>
        </p:txBody>
      </p:sp>
      <p:sp>
        <p:nvSpPr>
          <p:cNvPr id="27" name="num-264"/>
          <p:cNvSpPr txBox="1"/>
          <p:nvPr/>
        </p:nvSpPr>
        <p:spPr>
          <a:xfrm>
            <a:off x="6355080" y="1444752"/>
            <a:ext cx="384048" cy="384048"/>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01</a:t>
            </a:r>
            <a:endParaRPr lang="en-US" sz="1400" dirty="0"/>
          </a:p>
        </p:txBody>
      </p:sp>
      <p:sp>
        <p:nvSpPr>
          <p:cNvPr id="28" name="text-265"/>
          <p:cNvSpPr txBox="1"/>
          <p:nvPr/>
        </p:nvSpPr>
        <p:spPr>
          <a:xfrm>
            <a:off x="6903720" y="1371600"/>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Claim-level citations</a:t>
            </a:r>
            <a:endParaRPr lang="en-US" sz="1600" dirty="0"/>
          </a:p>
        </p:txBody>
      </p:sp>
      <p:sp>
        <p:nvSpPr>
          <p:cNvPr id="29" name="text-266"/>
          <p:cNvSpPr txBox="1"/>
          <p:nvPr/>
        </p:nvSpPr>
        <p:spPr>
          <a:xfrm>
            <a:off x="6903720" y="1700784"/>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Each claim links to the quoted span and the source document, issue, message or file.</a:t>
            </a:r>
            <a:endParaRPr lang="en-US" sz="1250" dirty="0"/>
          </a:p>
        </p:txBody>
      </p:sp>
      <p:sp>
        <p:nvSpPr>
          <p:cNvPr id="30" name="num-267"/>
          <p:cNvSpPr txBox="1"/>
          <p:nvPr/>
        </p:nvSpPr>
        <p:spPr>
          <a:xfrm>
            <a:off x="6355080" y="2395728"/>
            <a:ext cx="384048" cy="384048"/>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02</a:t>
            </a:r>
            <a:endParaRPr lang="en-US" sz="1400" dirty="0"/>
          </a:p>
        </p:txBody>
      </p:sp>
      <p:sp>
        <p:nvSpPr>
          <p:cNvPr id="31" name="text-268"/>
          <p:cNvSpPr txBox="1"/>
          <p:nvPr/>
        </p:nvSpPr>
        <p:spPr>
          <a:xfrm>
            <a:off x="6903720" y="2322576"/>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Freshness receipt</a:t>
            </a:r>
            <a:endParaRPr lang="en-US" sz="1600" dirty="0"/>
          </a:p>
        </p:txBody>
      </p:sp>
      <p:sp>
        <p:nvSpPr>
          <p:cNvPr id="32" name="text-269"/>
          <p:cNvSpPr txBox="1"/>
          <p:nvPr/>
        </p:nvSpPr>
        <p:spPr>
          <a:xfrm>
            <a:off x="6903720" y="2651760"/>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Per-document status. Critical evidence is live-verified; stale items are omitted and flagged.</a:t>
            </a:r>
            <a:endParaRPr lang="en-US" sz="1250" dirty="0"/>
          </a:p>
        </p:txBody>
      </p:sp>
      <p:sp>
        <p:nvSpPr>
          <p:cNvPr id="33" name="num-270"/>
          <p:cNvSpPr txBox="1"/>
          <p:nvPr/>
        </p:nvSpPr>
        <p:spPr>
          <a:xfrm>
            <a:off x="6355080" y="3346704"/>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03</a:t>
            </a:r>
            <a:endParaRPr lang="en-US" sz="1400" dirty="0"/>
          </a:p>
        </p:txBody>
      </p:sp>
      <p:sp>
        <p:nvSpPr>
          <p:cNvPr id="34" name="text-271"/>
          <p:cNvSpPr txBox="1"/>
          <p:nvPr/>
        </p:nvSpPr>
        <p:spPr>
          <a:xfrm>
            <a:off x="6903720" y="3273552"/>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Grounding report</a:t>
            </a:r>
            <a:endParaRPr lang="en-US" sz="1600" dirty="0"/>
          </a:p>
        </p:txBody>
      </p:sp>
      <p:sp>
        <p:nvSpPr>
          <p:cNvPr id="35" name="text-272"/>
          <p:cNvSpPr txBox="1"/>
          <p:nvPr/>
        </p:nvSpPr>
        <p:spPr>
          <a:xfrm>
            <a:off x="6903720" y="3602736"/>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Support score per claim, overall verdict, quarantined injection evidence. Below the bar, it abstains.</a:t>
            </a:r>
            <a:endParaRPr lang="en-US" sz="1250" dirty="0"/>
          </a:p>
        </p:txBody>
      </p:sp>
      <p:sp>
        <p:nvSpPr>
          <p:cNvPr id="36" name="num-273"/>
          <p:cNvSpPr txBox="1"/>
          <p:nvPr/>
        </p:nvSpPr>
        <p:spPr>
          <a:xfrm>
            <a:off x="6355080" y="4297680"/>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04</a:t>
            </a:r>
            <a:endParaRPr lang="en-US" sz="1400" dirty="0"/>
          </a:p>
        </p:txBody>
      </p:sp>
      <p:sp>
        <p:nvSpPr>
          <p:cNvPr id="37" name="text-274"/>
          <p:cNvSpPr txBox="1"/>
          <p:nvPr/>
        </p:nvSpPr>
        <p:spPr>
          <a:xfrm>
            <a:off x="6903720" y="4224528"/>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Access summary</a:t>
            </a:r>
            <a:endParaRPr lang="en-US" sz="1600" dirty="0"/>
          </a:p>
        </p:txBody>
      </p:sp>
      <p:sp>
        <p:nvSpPr>
          <p:cNvPr id="38" name="text-275"/>
          <p:cNvSpPr txBox="1"/>
          <p:nvPr/>
        </p:nvSpPr>
        <p:spPr>
          <a:xfrm>
            <a:off x="6903720" y="4553712"/>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Only the allowed count. Never denied counts, titles or reasons.</a:t>
            </a:r>
            <a:endParaRPr lang="en-US" sz="1250" dirty="0"/>
          </a:p>
        </p:txBody>
      </p:sp>
      <p:sp>
        <p:nvSpPr>
          <p:cNvPr id="39" name="num-276"/>
          <p:cNvSpPr txBox="1"/>
          <p:nvPr/>
        </p:nvSpPr>
        <p:spPr>
          <a:xfrm>
            <a:off x="6355080" y="5248656"/>
            <a:ext cx="384048" cy="384048"/>
          </a:xfrm>
          <a:prstGeom prst="ellipse">
            <a:avLst/>
          </a:prstGeom>
          <a:solidFill>
            <a:schemeClr val="bg1"/>
          </a:solidFill>
          <a:ln w="12700">
            <a:solidFill>
              <a:srgbClr val="D7D7D7"/>
            </a:solidFill>
          </a:ln>
        </p:spPr>
        <p:txBody>
          <a:bodyPr wrap="square" lIns="0" tIns="0" rIns="0" bIns="0" rtlCol="0" anchor="ctr"/>
          <a:lstStyle/>
          <a:p>
            <a:pPr algn="ctr" indent="0" marL="0">
              <a:buNone/>
            </a:pPr>
            <a:r>
              <a:rPr lang="en-US" sz="1400" b="1" dirty="0">
                <a:solidFill>
                  <a:schemeClr val="tx2"/>
                </a:solidFill>
              </a:rPr>
              <a:t>05</a:t>
            </a:r>
            <a:endParaRPr lang="en-US" sz="1400" dirty="0"/>
          </a:p>
        </p:txBody>
      </p:sp>
      <p:sp>
        <p:nvSpPr>
          <p:cNvPr id="40" name="text-277"/>
          <p:cNvSpPr txBox="1"/>
          <p:nvPr/>
        </p:nvSpPr>
        <p:spPr>
          <a:xfrm>
            <a:off x="6903720" y="5175504"/>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Audit ID</a:t>
            </a:r>
            <a:endParaRPr lang="en-US" sz="1600" dirty="0"/>
          </a:p>
        </p:txBody>
      </p:sp>
      <p:sp>
        <p:nvSpPr>
          <p:cNvPr id="41" name="text-278"/>
          <p:cNvSpPr txBox="1"/>
          <p:nvPr/>
        </p:nvSpPr>
        <p:spPr>
          <a:xfrm>
            <a:off x="6903720" y="5504688"/>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Opens the hash-chained record. Auditors see every decision; answer text they can't open needs a recorded reveal.</a:t>
            </a:r>
            <a:endParaRPr lang="en-US" sz="12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Glean and Copilot's foundation,</a:t>
            </a:r>
            <a:pPr algn="l" indent="0" marL="0">
              <a:buNone/>
            </a:pPr>
            <a:r>
              <a:rPr lang="en-US" sz="2600" b="1" dirty="0">
                <a:solidFill>
                  <a:srgbClr val="8C8C8C"/>
                </a:solidFill>
              </a:rPr>
              <a:t> plus what they don't document</a:t>
            </a:r>
            <a:endParaRPr lang="en-US" sz="2600" dirty="0"/>
          </a:p>
        </p:txBody>
      </p:sp>
      <p:graphicFrame>
        <p:nvGraphicFramePr>
          <p:cNvPr id="11" name="comparison-table-279"/>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651760"/>
                <a:gridCol w="1554480"/>
                <a:gridCol w="1783080"/>
                <a:gridCol w="1691640"/>
                <a:gridCol w="1691640"/>
                <a:gridCol w="1691640"/>
              </a:tblGrid>
              <a:tr h="457200">
                <a:tc>
                  <a:txBody>
                    <a:bodyPr/>
                    <a:lstStyle/>
                    <a:p>
                      <a:pPr indent="0" marL="0">
                        <a:buNone/>
                      </a:pP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Glean</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Microsoft 365 Copilot</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Gemini Enterprise</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Amazon Q Business</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Brain Sauce</a:t>
                      </a:r>
                      <a:endParaRPr lang="en-US" sz="120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accent1"/>
                    </a:solidFill>
                  </a:tcPr>
                </a:tc>
              </a:tr>
              <a:tr h="566928">
                <a:tc>
                  <a:txBody>
                    <a:bodyPr/>
                    <a:lstStyle/>
                    <a:p>
                      <a:pPr indent="0" marL="0">
                        <a:buNone/>
                      </a:pPr>
                      <a:r>
                        <a:rPr lang="en-US" sz="1150" b="1" dirty="0">
                          <a:solidFill>
                            <a:schemeClr val="tx2"/>
                          </a:solidFill>
                        </a:rPr>
                        <a:t>Filters evidence before the model</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566928">
                <a:tc>
                  <a:txBody>
                    <a:bodyPr/>
                    <a:lstStyle/>
                    <a:p>
                      <a:pPr indent="0" marL="0">
                        <a:buNone/>
                      </a:pPr>
                      <a:r>
                        <a:rPr lang="en-US" sz="1150" b="1" dirty="0">
                          <a:solidFill>
                            <a:schemeClr val="tx2"/>
                          </a:solidFill>
                        </a:rPr>
                        <a:t>Missing permissions mean no access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 (Confluence connector)</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2"/>
                          </a:solidFill>
                        </a:rPr>
                        <a:t>No: treated as public</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566928">
                <a:tc>
                  <a:txBody>
                    <a:bodyPr/>
                    <a:lstStyle/>
                    <a:p>
                      <a:pPr indent="0" marL="0">
                        <a:buNone/>
                      </a:pPr>
                      <a:r>
                        <a:rPr lang="en-US" sz="1150" b="1" dirty="0">
                          <a:solidFill>
                            <a:schemeClr val="tx2"/>
                          </a:solidFill>
                        </a:rPr>
                        <a:t>Saved answers re-checked after revocation</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658368">
                <a:tc>
                  <a:txBody>
                    <a:bodyPr/>
                    <a:lstStyle/>
                    <a:p>
                      <a:pPr indent="0" marL="0">
                        <a:buNone/>
                      </a:pPr>
                      <a:r>
                        <a:rPr lang="en-US" sz="1150" b="1" dirty="0">
                          <a:solidFill>
                            <a:schemeClr val="tx2"/>
                          </a:solidFill>
                        </a:rPr>
                        <a:t>Audit logs every allow/deny, including filtered-out documents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Events only</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Accessed items only</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Prompts and grounding, opt-in</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Conversation logs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566928">
                <a:tc>
                  <a:txBody>
                    <a:bodyPr/>
                    <a:lstStyle/>
                    <a:p>
                      <a:pPr indent="0" marL="0">
                        <a:buNone/>
                      </a:pPr>
                      <a:r>
                        <a:rPr lang="en-US" sz="1150" b="1" dirty="0">
                          <a:solidFill>
                            <a:schemeClr val="tx2"/>
                          </a:solidFill>
                        </a:rPr>
                        <a:t>Tamper-evident audit log</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Hash chain</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r h="658368">
                <a:tc>
                  <a:txBody>
                    <a:bodyPr/>
                    <a:lstStyle/>
                    <a:p>
                      <a:pPr indent="0" marL="0">
                        <a:buNone/>
                      </a:pPr>
                      <a:r>
                        <a:rPr lang="en-US" sz="1150" b="1" dirty="0">
                          <a:solidFill>
                            <a:schemeClr val="tx2"/>
                          </a:solidFill>
                        </a:rPr>
                        <a:t>Delay before a permission change applies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Drive: 1 h default</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Confluence: daily full crawl</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Identity sync: 30 min to 7 days</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Each crawl: hourly or slower</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5 min maximum, enforced</a:t>
                      </a:r>
                      <a:endParaRPr lang="en-US" sz="1150" dirty="0"/>
                    </a:p>
                  </a:txBody>
                  <a:tcPr marL="73152" marR="73152" marT="45720" marB="45720"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rgbClr val="EAF3EA"/>
                    </a:solidFill>
                  </a:tcPr>
                </a:tc>
              </a:tr>
            </a:tbl>
          </a:graphicData>
        </a:graphic>
      </p:graphicFrame>
      <p:sp>
        <p:nvSpPr>
          <p:cNvPr id="4" name="text-280"/>
          <p:cNvSpPr txBox="1"/>
          <p:nvPr/>
        </p:nvSpPr>
        <p:spPr>
          <a:xfrm>
            <a:off x="548640" y="5623560"/>
            <a:ext cx="11064240" cy="457200"/>
          </a:xfrm>
          <a:prstGeom prst="rect">
            <a:avLst/>
          </a:prstGeom>
          <a:noFill/>
          <a:ln/>
        </p:spPr>
        <p:txBody>
          <a:bodyPr wrap="square" lIns="0" tIns="0" rIns="0" bIns="0" rtlCol="0" anchor="t"/>
          <a:lstStyle/>
          <a:p>
            <a:pPr algn="l" indent="0" marL="0">
              <a:buNone/>
            </a:pPr>
            <a:r>
              <a:rPr lang="en-US" sz="1050" i="1" dirty="0">
                <a:solidFill>
                  <a:schemeClr val="accent6"/>
                </a:solidFill>
              </a:rPr>
              <a:t>From each vendor's public documentation as of 13 Oct 2026. “Not documented” means we found nothing in their docs, not that the feature is absent. Sources: docs/ACCESS_CONTROL_INDUSTRY_REVIEW.md.</a:t>
            </a:r>
            <a:endParaRPr lang="en-US" sz="10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A revocation at the source</a:t>
            </a:r>
            <a:pPr algn="l" indent="0" marL="0">
              <a:buNone/>
            </a:pPr>
            <a:r>
              <a:rPr lang="en-US" sz="2600" b="1" dirty="0">
                <a:solidFill>
                  <a:srgbClr val="8C8C8C"/>
                </a:solidFill>
              </a:rPr>
              <a:t> is enforced within 5 minutes</a:t>
            </a:r>
            <a:endParaRPr lang="en-US" sz="2600" dirty="0"/>
          </a:p>
        </p:txBody>
      </p:sp>
      <p:graphicFrame>
        <p:nvGraphicFramePr>
          <p:cNvPr id="3" name="revocation-chart-281" descr=""/>
          <p:cNvGraphicFramePr/>
          <p:nvPr/>
        </p:nvGraphicFramePr>
        <p:xfrm>
          <a:off x="548640" y="132588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 name="text-282"/>
          <p:cNvSpPr txBox="1"/>
          <p:nvPr/>
        </p:nvSpPr>
        <p:spPr>
          <a:xfrm>
            <a:off x="548640" y="5669280"/>
            <a:ext cx="7040880" cy="274320"/>
          </a:xfrm>
          <a:prstGeom prst="rect">
            <a:avLst/>
          </a:prstGeom>
          <a:noFill/>
          <a:ln/>
        </p:spPr>
        <p:txBody>
          <a:bodyPr wrap="square" lIns="0" tIns="0" rIns="0" bIns="0" rtlCol="0" anchor="t"/>
          <a:lstStyle/>
          <a:p>
            <a:pPr algn="l" indent="0" marL="0">
              <a:buNone/>
            </a:pPr>
            <a:r>
              <a:rPr lang="en-US" sz="1100" dirty="0">
                <a:solidFill>
                  <a:schemeClr val="accent6"/>
                </a:solidFill>
              </a:rPr>
              <a:t>Minutes until a permission change applies (log scale)</a:t>
            </a:r>
            <a:endParaRPr lang="en-US" sz="1100" dirty="0"/>
          </a:p>
        </p:txBody>
      </p:sp>
      <p:sp>
        <p:nvSpPr>
          <p:cNvPr id="5" name="chart-notes-283"/>
          <p:cNvSpPr/>
          <p:nvPr/>
        </p:nvSpPr>
        <p:spPr>
          <a:xfrm>
            <a:off x="7955280" y="1417320"/>
            <a:ext cx="3657600" cy="3154680"/>
          </a:xfrm>
          <a:prstGeom prst="roundRect">
            <a:avLst>
              <a:gd name="adj" fmla="val 1449"/>
            </a:avLst>
          </a:prstGeom>
          <a:solidFill>
            <a:schemeClr val="bg2"/>
          </a:solidFill>
          <a:ln/>
        </p:spPr>
      </p:sp>
      <p:sp>
        <p:nvSpPr>
          <p:cNvPr id="6" name="text-284"/>
          <p:cNvSpPr txBox="1"/>
          <p:nvPr/>
        </p:nvSpPr>
        <p:spPr>
          <a:xfrm>
            <a:off x="8183880" y="1645920"/>
            <a:ext cx="3200400" cy="3840480"/>
          </a:xfrm>
          <a:prstGeom prst="rect">
            <a:avLst/>
          </a:prstGeom>
          <a:noFill/>
          <a:ln/>
        </p:spPr>
        <p:txBody>
          <a:bodyPr wrap="square" lIns="0" tIns="0" rIns="0" bIns="0" rtlCol="0" anchor="t"/>
          <a:lstStyle/>
          <a:p>
            <a:pPr algn="l" indent="0" marL="0">
              <a:buNone/>
            </a:pPr>
            <a:r>
              <a:rPr lang="en-US" sz="1500" b="1" dirty="0">
                <a:solidFill>
                  <a:schemeClr val="tx2"/>
                </a:solidFill>
              </a:rPr>
              <a:t>Their numbers are sync intervals.</a:t>
            </a:r>
            <a:endParaRPr lang="en-US" sz="1500" dirty="0"/>
          </a:p>
          <a:p>
            <a:pPr algn="l" indent="0" marL="0">
              <a:buNone/>
            </a:pPr>
            <a:r>
              <a:rPr lang="en-US" sz="1500" dirty="0">
                <a:solidFill>
                  <a:schemeClr val="tx1"/>
                </a:solidFill>
              </a:rPr>
              <a:t>Until the next sync, the old permissions still grant access.</a:t>
            </a:r>
            <a:endParaRPr lang="en-US" sz="1500" dirty="0"/>
          </a:p>
          <a:p>
            <a:pPr algn="l" indent="0" marL="0">
              <a:buNone/>
            </a:pPr>
            <a:r>
              <a:rPr lang="en-US" sz="800" dirty="0">
                <a:solidFill>
                  <a:schemeClr val="tx1"/>
                </a:solidFill>
              </a:rPr>
              <a:t> </a:t>
            </a:r>
            <a:endParaRPr lang="en-US" sz="1500" dirty="0"/>
          </a:p>
          <a:p>
            <a:pPr algn="l" indent="0" marL="0">
              <a:buNone/>
            </a:pPr>
            <a:r>
              <a:rPr lang="en-US" sz="1500" b="1" dirty="0">
                <a:solidFill>
                  <a:schemeClr val="accent1"/>
                </a:solidFill>
              </a:rPr>
              <a:t>Ours is a hard limit.</a:t>
            </a:r>
            <a:endParaRPr lang="en-US" sz="1500" dirty="0"/>
          </a:p>
          <a:p>
            <a:pPr algn="l" indent="0" marL="0">
              <a:buNone/>
            </a:pPr>
            <a:r>
              <a:rPr lang="en-US" sz="1500" dirty="0">
                <a:solidFill>
                  <a:schemeClr val="tx1"/>
                </a:solidFill>
              </a:rPr>
              <a:t>Permissions older than 5 minutes are refused, so access fails closed even if a sync or webhook is missed.</a:t>
            </a:r>
            <a:endParaRPr lang="en-US" sz="1500" dirty="0"/>
          </a:p>
          <a:p>
            <a:pPr algn="l" indent="0" marL="0">
              <a:buNone/>
            </a:pPr>
            <a:r>
              <a:rPr lang="en-US" sz="800" dirty="0">
                <a:solidFill>
                  <a:schemeClr val="tx1"/>
                </a:solidFill>
              </a:rPr>
              <a:t> </a:t>
            </a:r>
            <a:endParaRPr lang="en-US" sz="1500" dirty="0"/>
          </a:p>
          <a:p>
            <a:pPr algn="l" indent="0" marL="0">
              <a:buNone/>
            </a:pPr>
            <a:r>
              <a:rPr lang="en-US" sz="1500" b="1" dirty="0">
                <a:solidFill>
                  <a:schemeClr val="tx2"/>
                </a:solidFill>
              </a:rPr>
              <a:t>In-app grants apply on the next query.</a:t>
            </a:r>
            <a:endParaRPr lang="en-US" sz="1500" dirty="0"/>
          </a:p>
        </p:txBody>
      </p:sp>
      <p:sp>
        <p:nvSpPr>
          <p:cNvPr id="7" name="text-285"/>
          <p:cNvSpPr txBox="1"/>
          <p:nvPr/>
        </p:nvSpPr>
        <p:spPr>
          <a:xfrm>
            <a:off x="548640" y="5943600"/>
            <a:ext cx="11064240" cy="384048"/>
          </a:xfrm>
          <a:prstGeom prst="rect">
            <a:avLst/>
          </a:prstGeom>
          <a:noFill/>
          <a:ln/>
        </p:spPr>
        <p:txBody>
          <a:bodyPr wrap="square" lIns="0" tIns="0" rIns="0" bIns="0" rtlCol="0" anchor="t"/>
          <a:lstStyle/>
          <a:p>
            <a:pPr algn="l" indent="0" marL="0">
              <a:buNone/>
            </a:pPr>
            <a:r>
              <a:rPr lang="en-US" sz="950" i="1" dirty="0">
                <a:solidFill>
                  <a:schemeClr val="accent6"/>
                </a:solidFill>
              </a:rPr>
              <a:t>Vendor figures are documented defaults or minimums for one connector each (Microsoft Learn, Glean docs, Google Cloud docs, Oct 2026). Ours: DefaultAccessPolicy max age plus a per-minute permission refresh (PR #9).</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Design trade-offs</a:t>
            </a:r>
            <a:pPr algn="l" indent="0" marL="0">
              <a:buNone/>
            </a:pPr>
            <a:r>
              <a:rPr lang="en-US" sz="2600" b="1" dirty="0">
                <a:solidFill>
                  <a:srgbClr val="8C8C8C"/>
                </a:solidFill>
              </a:rPr>
              <a:t> we chose deliberately</a:t>
            </a:r>
            <a:endParaRPr lang="en-US" sz="2600" dirty="0"/>
          </a:p>
        </p:txBody>
      </p:sp>
      <p:graphicFrame>
        <p:nvGraphicFramePr>
          <p:cNvPr id="13" name="tradeoff-table-286"/>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3749040"/>
                <a:gridCol w="3657600"/>
                <a:gridCol w="3657600"/>
              </a:tblGrid>
              <a:tr h="411480">
                <a:tc>
                  <a:txBody>
                    <a:bodyPr/>
                    <a:lstStyle/>
                    <a:p>
                      <a:pPr indent="0" marL="0">
                        <a:buNone/>
                      </a:pPr>
                      <a:r>
                        <a:rPr lang="en-US" sz="1300" b="1" dirty="0">
                          <a:solidFill>
                            <a:schemeClr val="bg1"/>
                          </a:solidFill>
                        </a:rPr>
                        <a:t>Choice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we gain</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we accept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tx2"/>
                    </a:solidFill>
                  </a:tcPr>
                </a:tc>
              </a:tr>
              <a:tr h="640080">
                <a:tc>
                  <a:txBody>
                    <a:bodyPr/>
                    <a:lstStyle/>
                    <a:p>
                      <a:pPr indent="0" marL="0">
                        <a:buNone/>
                      </a:pPr>
                      <a:r>
                        <a:rPr lang="en-US" sz="1300" b="1" dirty="0">
                          <a:solidFill>
                            <a:schemeClr val="tx2"/>
                          </a:solidFill>
                        </a:rPr>
                        <a:t>Check permissions in Python after search, over-fetching 4×</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Each platform's real rules, not a lossy SQL filter</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A heavily restricted user may get fewer candidates: the safe failure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640080">
                <a:tc>
                  <a:txBody>
                    <a:bodyPr/>
                    <a:lstStyle/>
                    <a:p>
                      <a:pPr indent="0" marL="0">
                        <a:buNone/>
                      </a:pPr>
                      <a:r>
                        <a:rPr lang="en-US" sz="1300" b="1" dirty="0">
                          <a:solidFill>
                            <a:schemeClr val="tx2"/>
                          </a:solidFill>
                        </a:rPr>
                        <a:t>Native permissions cap local grants; admins are not all-seeing</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The assistant never shows more than the source would</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Approving a request cannot unlock a document the source withholds</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Omit stale critical evidence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Old instructions are never presented as current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Answers can be thinner, or abstain</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Live-verify critical evidence on the ask path</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Bounded freshness for what matters most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Extra latency, capped by a verify timeout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Hash-chained audit in the same Postgres</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Edits and deletions are detectable; simple to run</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No external anchor yet against a full database rewrite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Permission snapshots expire (5 min for confidential)</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 revocation at the source is enforced within 5 minutes</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If syncing stops, confidential documents become unavailable</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Persona header in the demo</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Fast to film and to test</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Spoofable; one swap point for SSO before real data</a:t>
                      </a:r>
                      <a:endParaRPr lang="en-US" sz="1300" dirty="0"/>
                    </a:p>
                  </a:txBody>
                  <a:tcPr marL="109728" marR="109728" marT="54864" marB="54864" anchor="ctr">
                    <a:lnL w="9525" cap="flat" cmpd="sng" algn="ctr">
                      <a:solidFill>
                        <a:srgbClr val="D7D7D7"/>
                      </a:solidFill>
                      <a:prstDash val="solid"/>
                      <a:round/>
                      <a:headEnd type="none" w="med" len="med"/>
                      <a:tailEnd type="none" w="med" len="med"/>
                    </a:lnL>
                    <a:lnR w="9525" cap="flat" cmpd="sng" algn="ctr">
                      <a:solidFill>
                        <a:srgbClr val="D7D7D7"/>
                      </a:solidFill>
                      <a:prstDash val="solid"/>
                      <a:round/>
                      <a:headEnd type="none" w="med" len="med"/>
                      <a:tailEnd type="none" w="med" len="med"/>
                    </a:lnR>
                    <a:lnT w="9525" cap="flat" cmpd="sng" algn="ctr">
                      <a:solidFill>
                        <a:srgbClr val="D7D7D7"/>
                      </a:solidFill>
                      <a:prstDash val="solid"/>
                      <a:round/>
                      <a:headEnd type="none" w="med" len="med"/>
                      <a:tailEnd type="none" w="med" len="med"/>
                    </a:lnT>
                    <a:lnB w="9525" cap="flat" cmpd="sng" algn="ctr">
                      <a:solidFill>
                        <a:srgbClr val="D7D7D7"/>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600" b="1" dirty="0">
                <a:solidFill>
                  <a:schemeClr val="tx2"/>
                </a:solidFill>
              </a:rPr>
              <a:t>Tested offline,</a:t>
            </a:r>
            <a:pPr algn="l" indent="0" marL="0">
              <a:buNone/>
            </a:pPr>
            <a:r>
              <a:rPr lang="en-US" sz="2600" b="1" dirty="0">
                <a:solidFill>
                  <a:srgbClr val="8C8C8C"/>
                </a:solidFill>
              </a:rPr>
              <a:t> built to run on Tencent Cloud</a:t>
            </a:r>
            <a:endParaRPr lang="en-US" sz="2600" dirty="0"/>
          </a:p>
        </p:txBody>
      </p:sp>
      <p:sp>
        <p:nvSpPr>
          <p:cNvPr id="3" name="text-287"/>
          <p:cNvSpPr txBox="1"/>
          <p:nvPr/>
        </p:nvSpPr>
        <p:spPr>
          <a:xfrm>
            <a:off x="548640" y="1371600"/>
            <a:ext cx="5120640" cy="777240"/>
          </a:xfrm>
          <a:prstGeom prst="rect">
            <a:avLst/>
          </a:prstGeom>
          <a:noFill/>
          <a:ln/>
        </p:spPr>
        <p:txBody>
          <a:bodyPr wrap="square" lIns="0" tIns="0" rIns="0" bIns="0" rtlCol="0" anchor="t"/>
          <a:lstStyle/>
          <a:p>
            <a:pPr algn="l" indent="0" marL="0">
              <a:buNone/>
            </a:pPr>
            <a:r>
              <a:rPr lang="en-US" sz="4800" b="1" dirty="0">
                <a:solidFill>
                  <a:schemeClr val="accent1"/>
                </a:solidFill>
              </a:rPr>
              <a:t>683</a:t>
            </a:r>
            <a:endParaRPr lang="en-US" sz="4800" dirty="0"/>
          </a:p>
        </p:txBody>
      </p:sp>
      <p:sp>
        <p:nvSpPr>
          <p:cNvPr id="4" name="text-288"/>
          <p:cNvSpPr txBox="1"/>
          <p:nvPr/>
        </p:nvSpPr>
        <p:spPr>
          <a:xfrm>
            <a:off x="548640" y="2148840"/>
            <a:ext cx="5120640" cy="594360"/>
          </a:xfrm>
          <a:prstGeom prst="rect">
            <a:avLst/>
          </a:prstGeom>
          <a:noFill/>
          <a:ln/>
        </p:spPr>
        <p:txBody>
          <a:bodyPr wrap="square" lIns="0" tIns="0" rIns="0" bIns="0" rtlCol="0" anchor="t"/>
          <a:lstStyle/>
          <a:p>
            <a:pPr algn="l" indent="0" marL="0">
              <a:buNone/>
            </a:pPr>
            <a:r>
              <a:rPr lang="en-US" sz="1500" dirty="0">
                <a:solidFill>
                  <a:schemeClr val="tx1"/>
                </a:solidFill>
              </a:rPr>
              <a:t>automated tests pass with no network, using mock providers and in-memory stores</a:t>
            </a:r>
            <a:endParaRPr lang="en-US" sz="1500" dirty="0"/>
          </a:p>
        </p:txBody>
      </p:sp>
      <p:sp>
        <p:nvSpPr>
          <p:cNvPr id="5" name="text-289"/>
          <p:cNvSpPr txBox="1"/>
          <p:nvPr/>
        </p:nvSpPr>
        <p:spPr>
          <a:xfrm>
            <a:off x="548640" y="2926080"/>
            <a:ext cx="5120640" cy="777240"/>
          </a:xfrm>
          <a:prstGeom prst="rect">
            <a:avLst/>
          </a:prstGeom>
          <a:noFill/>
          <a:ln/>
        </p:spPr>
        <p:txBody>
          <a:bodyPr wrap="square" lIns="0" tIns="0" rIns="0" bIns="0" rtlCol="0" anchor="t"/>
          <a:lstStyle/>
          <a:p>
            <a:pPr algn="l" indent="0" marL="0">
              <a:buNone/>
            </a:pPr>
            <a:r>
              <a:rPr lang="en-US" sz="4800" b="1" dirty="0">
                <a:solidFill>
                  <a:schemeClr val="accent2"/>
                </a:solidFill>
              </a:rPr>
              <a:t>0</a:t>
            </a:r>
            <a:endParaRPr lang="en-US" sz="4800" dirty="0"/>
          </a:p>
        </p:txBody>
      </p:sp>
      <p:sp>
        <p:nvSpPr>
          <p:cNvPr id="6" name="text-290"/>
          <p:cNvSpPr txBox="1"/>
          <p:nvPr/>
        </p:nvSpPr>
        <p:spPr>
          <a:xfrm>
            <a:off x="548640" y="3703320"/>
            <a:ext cx="5120640" cy="594360"/>
          </a:xfrm>
          <a:prstGeom prst="rect">
            <a:avLst/>
          </a:prstGeom>
          <a:noFill/>
          <a:ln/>
        </p:spPr>
        <p:txBody>
          <a:bodyPr wrap="square" lIns="0" tIns="0" rIns="0" bIns="0" rtlCol="0" anchor="t"/>
          <a:lstStyle/>
          <a:p>
            <a:pPr algn="l" indent="0" marL="0">
              <a:buNone/>
            </a:pPr>
            <a:r>
              <a:rPr lang="en-US" sz="1500" dirty="0">
                <a:solidFill>
                  <a:schemeClr val="tx1"/>
                </a:solidFill>
              </a:rPr>
              <a:t>restricted documents in the contractor's model context</a:t>
            </a:r>
            <a:endParaRPr lang="en-US" sz="1500" dirty="0"/>
          </a:p>
        </p:txBody>
      </p:sp>
      <p:sp>
        <p:nvSpPr>
          <p:cNvPr id="7" name="text-291"/>
          <p:cNvSpPr txBox="1"/>
          <p:nvPr/>
        </p:nvSpPr>
        <p:spPr>
          <a:xfrm>
            <a:off x="548640" y="4480560"/>
            <a:ext cx="5120640" cy="777240"/>
          </a:xfrm>
          <a:prstGeom prst="rect">
            <a:avLst/>
          </a:prstGeom>
          <a:noFill/>
          <a:ln/>
        </p:spPr>
        <p:txBody>
          <a:bodyPr wrap="square" lIns="0" tIns="0" rIns="0" bIns="0" rtlCol="0" anchor="t"/>
          <a:lstStyle/>
          <a:p>
            <a:pPr algn="l" indent="0" marL="0">
              <a:buNone/>
            </a:pPr>
            <a:r>
              <a:rPr lang="en-US" sz="4800" b="1" dirty="0">
                <a:solidFill>
                  <a:schemeClr val="accent3"/>
                </a:solidFill>
              </a:rPr>
              <a:t>5 min</a:t>
            </a:r>
            <a:endParaRPr lang="en-US" sz="4800" dirty="0"/>
          </a:p>
        </p:txBody>
      </p:sp>
      <p:sp>
        <p:nvSpPr>
          <p:cNvPr id="8" name="text-292"/>
          <p:cNvSpPr txBox="1"/>
          <p:nvPr/>
        </p:nvSpPr>
        <p:spPr>
          <a:xfrm>
            <a:off x="548640" y="5257800"/>
            <a:ext cx="5120640" cy="594360"/>
          </a:xfrm>
          <a:prstGeom prst="rect">
            <a:avLst/>
          </a:prstGeom>
          <a:noFill/>
          <a:ln/>
        </p:spPr>
        <p:txBody>
          <a:bodyPr wrap="square" lIns="0" tIns="0" rIns="0" bIns="0" rtlCol="0" anchor="t"/>
          <a:lstStyle/>
          <a:p>
            <a:pPr algn="l" indent="0" marL="0">
              <a:buNone/>
            </a:pPr>
            <a:r>
              <a:rPr lang="en-US" sz="1500" dirty="0">
                <a:solidFill>
                  <a:schemeClr val="tx1"/>
                </a:solidFill>
              </a:rPr>
              <a:t>max time a source revocation goes unnoticed (confidential); in-app grants: next query</a:t>
            </a:r>
            <a:endParaRPr lang="en-US" sz="1500" dirty="0"/>
          </a:p>
        </p:txBody>
      </p:sp>
      <p:sp>
        <p:nvSpPr>
          <p:cNvPr id="9" name="stack-293"/>
          <p:cNvSpPr/>
          <p:nvPr/>
        </p:nvSpPr>
        <p:spPr>
          <a:xfrm>
            <a:off x="6263640" y="1371600"/>
            <a:ext cx="5349240" cy="4754880"/>
          </a:xfrm>
          <a:prstGeom prst="roundRect">
            <a:avLst>
              <a:gd name="adj" fmla="val 962"/>
            </a:avLst>
          </a:prstGeom>
          <a:solidFill>
            <a:schemeClr val="bg2"/>
          </a:solidFill>
          <a:ln/>
        </p:spPr>
      </p:sp>
      <p:sp>
        <p:nvSpPr>
          <p:cNvPr id="10" name="text-294"/>
          <p:cNvSpPr txBox="1"/>
          <p:nvPr/>
        </p:nvSpPr>
        <p:spPr>
          <a:xfrm>
            <a:off x="6537960" y="1508760"/>
            <a:ext cx="4572000" cy="411480"/>
          </a:xfrm>
          <a:prstGeom prst="rect">
            <a:avLst/>
          </a:prstGeom>
          <a:noFill/>
          <a:ln/>
        </p:spPr>
        <p:txBody>
          <a:bodyPr wrap="square" lIns="0" tIns="0" rIns="0" bIns="0" rtlCol="0" anchor="t"/>
          <a:lstStyle/>
          <a:p>
            <a:pPr algn="l" indent="0" marL="0">
              <a:buNone/>
            </a:pPr>
            <a:r>
              <a:rPr lang="en-US" sz="1800" b="1" dirty="0">
                <a:solidFill>
                  <a:schemeClr val="tx2"/>
                </a:solidFill>
              </a:rPr>
              <a:t>Stack</a:t>
            </a:r>
            <a:endParaRPr lang="en-US" sz="1800" dirty="0"/>
          </a:p>
        </p:txBody>
      </p:sp>
      <p:sp>
        <p:nvSpPr>
          <p:cNvPr id="11" name="pill-295"/>
          <p:cNvSpPr txBox="1"/>
          <p:nvPr/>
        </p:nvSpPr>
        <p:spPr>
          <a:xfrm>
            <a:off x="6537960" y="2112264"/>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Model</a:t>
            </a:r>
            <a:endParaRPr lang="en-US" sz="1100" dirty="0"/>
          </a:p>
        </p:txBody>
      </p:sp>
      <p:sp>
        <p:nvSpPr>
          <p:cNvPr id="12" name="text-296"/>
          <p:cNvSpPr txBox="1"/>
          <p:nvPr/>
        </p:nvSpPr>
        <p:spPr>
          <a:xfrm>
            <a:off x="7726680" y="2057400"/>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Tencent Cloud ADP chat; the demo uses local vectors, so no text goes to an embedding service</a:t>
            </a:r>
            <a:endParaRPr lang="en-US" sz="1350" dirty="0"/>
          </a:p>
        </p:txBody>
      </p:sp>
      <p:sp>
        <p:nvSpPr>
          <p:cNvPr id="13" name="pill-297"/>
          <p:cNvSpPr txBox="1"/>
          <p:nvPr/>
        </p:nvSpPr>
        <p:spPr>
          <a:xfrm>
            <a:off x="6537960" y="2770632"/>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API</a:t>
            </a:r>
            <a:endParaRPr lang="en-US" sz="1100" dirty="0"/>
          </a:p>
        </p:txBody>
      </p:sp>
      <p:sp>
        <p:nvSpPr>
          <p:cNvPr id="14" name="text-298"/>
          <p:cNvSpPr txBox="1"/>
          <p:nvPr/>
        </p:nvSpPr>
        <p:spPr>
          <a:xfrm>
            <a:off x="7726680" y="2715768"/>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FastAPI + Pydantic v2; MCP server for AI agents</a:t>
            </a:r>
            <a:endParaRPr lang="en-US" sz="1350" dirty="0"/>
          </a:p>
        </p:txBody>
      </p:sp>
      <p:sp>
        <p:nvSpPr>
          <p:cNvPr id="15" name="pill-299"/>
          <p:cNvSpPr txBox="1"/>
          <p:nvPr/>
        </p:nvSpPr>
        <p:spPr>
          <a:xfrm>
            <a:off x="6537960" y="3429000"/>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Data</a:t>
            </a:r>
            <a:endParaRPr lang="en-US" sz="1100" dirty="0"/>
          </a:p>
        </p:txBody>
      </p:sp>
      <p:sp>
        <p:nvSpPr>
          <p:cNvPr id="16" name="text-300"/>
          <p:cNvSpPr txBox="1"/>
          <p:nvPr/>
        </p:nvSpPr>
        <p:spPr>
          <a:xfrm>
            <a:off x="7726680" y="3374136"/>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Postgres 16 + pgvector hybrid search</a:t>
            </a:r>
            <a:endParaRPr lang="en-US" sz="1350" dirty="0"/>
          </a:p>
        </p:txBody>
      </p:sp>
      <p:sp>
        <p:nvSpPr>
          <p:cNvPr id="17" name="pill-301"/>
          <p:cNvSpPr txBox="1"/>
          <p:nvPr/>
        </p:nvSpPr>
        <p:spPr>
          <a:xfrm>
            <a:off x="6537960" y="4087368"/>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Jobs</a:t>
            </a:r>
            <a:endParaRPr lang="en-US" sz="1100" dirty="0"/>
          </a:p>
        </p:txBody>
      </p:sp>
      <p:sp>
        <p:nvSpPr>
          <p:cNvPr id="18" name="text-302"/>
          <p:cNvSpPr txBox="1"/>
          <p:nvPr/>
        </p:nvSpPr>
        <p:spPr>
          <a:xfrm>
            <a:off x="7726680" y="4032504"/>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Redis + Celery: ingest, sync, verify, watchdog</a:t>
            </a:r>
            <a:endParaRPr lang="en-US" sz="1350" dirty="0"/>
          </a:p>
        </p:txBody>
      </p:sp>
      <p:sp>
        <p:nvSpPr>
          <p:cNvPr id="19" name="pill-303"/>
          <p:cNvSpPr txBox="1"/>
          <p:nvPr/>
        </p:nvSpPr>
        <p:spPr>
          <a:xfrm>
            <a:off x="6537960" y="4745736"/>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Web</a:t>
            </a:r>
            <a:endParaRPr lang="en-US" sz="1100" dirty="0"/>
          </a:p>
        </p:txBody>
      </p:sp>
      <p:sp>
        <p:nvSpPr>
          <p:cNvPr id="20" name="text-304"/>
          <p:cNvSpPr txBox="1"/>
          <p:nvPr/>
        </p:nvSpPr>
        <p:spPr>
          <a:xfrm>
            <a:off x="7726680" y="4690872"/>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Next.js 15 + Tailwind</a:t>
            </a:r>
            <a:endParaRPr lang="en-US" sz="1350" dirty="0"/>
          </a:p>
        </p:txBody>
      </p:sp>
      <p:sp>
        <p:nvSpPr>
          <p:cNvPr id="21" name="pill-305"/>
          <p:cNvSpPr txBox="1"/>
          <p:nvPr/>
        </p:nvSpPr>
        <p:spPr>
          <a:xfrm>
            <a:off x="6537960" y="5404104"/>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Deploy</a:t>
            </a:r>
            <a:endParaRPr lang="en-US" sz="1100" dirty="0"/>
          </a:p>
        </p:txBody>
      </p:sp>
      <p:sp>
        <p:nvSpPr>
          <p:cNvPr id="22" name="text-306"/>
          <p:cNvSpPr txBox="1"/>
          <p:nvPr/>
        </p:nvSpPr>
        <p:spPr>
          <a:xfrm>
            <a:off x="7726680" y="5349240"/>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One Docker Compose stack, ready for a single Tencent Cloud server</a:t>
            </a:r>
            <a:endParaRPr lang="en-US" sz="1350" dirty="0"/>
          </a:p>
        </p:txBody>
      </p:sp>
      <p:sp>
        <p:nvSpPr>
          <p:cNvPr id="23" name="text-307"/>
          <p:cNvSpPr txBox="1"/>
          <p:nvPr/>
        </p:nvSpPr>
        <p:spPr>
          <a:xfrm>
            <a:off x="548640" y="5989320"/>
            <a:ext cx="5486400" cy="365760"/>
          </a:xfrm>
          <a:prstGeom prst="rect">
            <a:avLst/>
          </a:prstGeom>
          <a:noFill/>
          <a:ln/>
        </p:spPr>
        <p:txBody>
          <a:bodyPr wrap="square" lIns="0" tIns="0" rIns="0" bIns="0" rtlCol="0" anchor="t"/>
          <a:lstStyle/>
          <a:p>
            <a:pPr algn="l" indent="0" marL="0">
              <a:buNone/>
            </a:pPr>
            <a:r>
              <a:rPr lang="en-US" sz="1000" i="1" dirty="0">
                <a:solidFill>
                  <a:schemeClr val="accent6"/>
                </a:solidFill>
              </a:rPr>
              <a:t>Test count: main, 16 Oct 2026 (11 SQL tests run separately against Postgres).</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10881360" cy="1463040"/>
          </a:xfrm>
          <a:prstGeom prst="rect">
            <a:avLst/>
          </a:prstGeom>
          <a:noFill/>
          <a:ln/>
        </p:spPr>
        <p:txBody>
          <a:bodyPr wrap="square" lIns="0" tIns="0" rIns="0" bIns="0" rtlCol="0" anchor="t"/>
          <a:lstStyle/>
          <a:p>
            <a:pPr algn="l" indent="0" marL="0">
              <a:buNone/>
            </a:pPr>
            <a:r>
              <a:rPr lang="en-US" sz="4000" b="1" dirty="0">
                <a:solidFill>
                  <a:schemeClr val="bg1"/>
                </a:solidFill>
              </a:rPr>
              <a:t>Ask anything. See only what you are allowed to.</a:t>
            </a:r>
            <a:pPr algn="l" indent="0" marL="0">
              <a:buNone/>
            </a:pPr>
            <a:r>
              <a:rPr lang="en-US" sz="4000" b="1" dirty="0">
                <a:solidFill>
                  <a:srgbClr val="549F58"/>
                </a:solidFill>
              </a:rPr>
              <a:t> Prove every answer.</a:t>
            </a:r>
            <a:endParaRPr lang="en-US" sz="4000" dirty="0"/>
          </a:p>
        </p:txBody>
      </p:sp>
      <p:sp>
        <p:nvSpPr>
          <p:cNvPr id="3" name="icon-bg-308"/>
          <p:cNvSpPr/>
          <p:nvPr/>
        </p:nvSpPr>
        <p:spPr>
          <a:xfrm>
            <a:off x="640080" y="3429000"/>
            <a:ext cx="731520" cy="731520"/>
          </a:xfrm>
          <a:prstGeom prst="ellipse">
            <a:avLst/>
          </a:prstGeom>
          <a:solidFill>
            <a:schemeClr val="accent1"/>
          </a:solidFill>
          <a:ln/>
        </p:spPr>
      </p:sp>
      <p:pic>
        <p:nvPicPr>
          <p:cNvPr id="4" name="icon-309" descr="preencoded.png">    </p:cNvPr>
          <p:cNvPicPr>
            <a:picLocks noChangeAspect="1"/>
          </p:cNvPicPr>
          <p:nvPr/>
        </p:nvPicPr>
        <p:blipFill>
          <a:blip r:embed="rId1"/>
          <a:stretch>
            <a:fillRect/>
          </a:stretch>
        </p:blipFill>
        <p:spPr>
          <a:xfrm>
            <a:off x="801014" y="3589934"/>
            <a:ext cx="409651" cy="409651"/>
          </a:xfrm>
          <a:prstGeom prst="rect">
            <a:avLst/>
          </a:prstGeom>
        </p:spPr>
      </p:pic>
      <p:sp>
        <p:nvSpPr>
          <p:cNvPr id="5" name="text-310"/>
          <p:cNvSpPr txBox="1"/>
          <p:nvPr/>
        </p:nvSpPr>
        <p:spPr>
          <a:xfrm>
            <a:off x="150876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Permitted</a:t>
            </a:r>
            <a:endParaRPr lang="en-US" sz="2000" dirty="0"/>
          </a:p>
        </p:txBody>
      </p:sp>
      <p:sp>
        <p:nvSpPr>
          <p:cNvPr id="6" name="icon-bg-311"/>
          <p:cNvSpPr/>
          <p:nvPr/>
        </p:nvSpPr>
        <p:spPr>
          <a:xfrm>
            <a:off x="3291840" y="3429000"/>
            <a:ext cx="731520" cy="731520"/>
          </a:xfrm>
          <a:prstGeom prst="ellipse">
            <a:avLst/>
          </a:prstGeom>
          <a:solidFill>
            <a:schemeClr val="accent3"/>
          </a:solidFill>
          <a:ln/>
        </p:spPr>
      </p:sp>
      <p:pic>
        <p:nvPicPr>
          <p:cNvPr id="7" name="icon-312" descr="preencoded.png">    </p:cNvPr>
          <p:cNvPicPr>
            <a:picLocks noChangeAspect="1"/>
          </p:cNvPicPr>
          <p:nvPr/>
        </p:nvPicPr>
        <p:blipFill>
          <a:blip r:embed="rId2"/>
          <a:stretch>
            <a:fillRect/>
          </a:stretch>
        </p:blipFill>
        <p:spPr>
          <a:xfrm>
            <a:off x="3452774" y="3589934"/>
            <a:ext cx="409651" cy="409651"/>
          </a:xfrm>
          <a:prstGeom prst="rect">
            <a:avLst/>
          </a:prstGeom>
        </p:spPr>
      </p:pic>
      <p:sp>
        <p:nvSpPr>
          <p:cNvPr id="8" name="text-313"/>
          <p:cNvSpPr txBox="1"/>
          <p:nvPr/>
        </p:nvSpPr>
        <p:spPr>
          <a:xfrm>
            <a:off x="416052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Fresh</a:t>
            </a:r>
            <a:endParaRPr lang="en-US" sz="2000" dirty="0"/>
          </a:p>
        </p:txBody>
      </p:sp>
      <p:sp>
        <p:nvSpPr>
          <p:cNvPr id="9" name="icon-bg-314"/>
          <p:cNvSpPr/>
          <p:nvPr/>
        </p:nvSpPr>
        <p:spPr>
          <a:xfrm>
            <a:off x="5943600" y="3429000"/>
            <a:ext cx="731520" cy="731520"/>
          </a:xfrm>
          <a:prstGeom prst="ellipse">
            <a:avLst/>
          </a:prstGeom>
          <a:solidFill>
            <a:schemeClr val="accent4"/>
          </a:solidFill>
          <a:ln/>
        </p:spPr>
      </p:sp>
      <p:pic>
        <p:nvPicPr>
          <p:cNvPr id="10" name="icon-315" descr="preencoded.png">    </p:cNvPr>
          <p:cNvPicPr>
            <a:picLocks noChangeAspect="1"/>
          </p:cNvPicPr>
          <p:nvPr/>
        </p:nvPicPr>
        <p:blipFill>
          <a:blip r:embed="rId3"/>
          <a:stretch>
            <a:fillRect/>
          </a:stretch>
        </p:blipFill>
        <p:spPr>
          <a:xfrm>
            <a:off x="6104534" y="3589934"/>
            <a:ext cx="409651" cy="409651"/>
          </a:xfrm>
          <a:prstGeom prst="rect">
            <a:avLst/>
          </a:prstGeom>
        </p:spPr>
      </p:pic>
      <p:sp>
        <p:nvSpPr>
          <p:cNvPr id="11" name="text-316"/>
          <p:cNvSpPr txBox="1"/>
          <p:nvPr/>
        </p:nvSpPr>
        <p:spPr>
          <a:xfrm>
            <a:off x="681228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Grounded</a:t>
            </a:r>
            <a:endParaRPr lang="en-US" sz="2000" dirty="0"/>
          </a:p>
        </p:txBody>
      </p:sp>
      <p:sp>
        <p:nvSpPr>
          <p:cNvPr id="12" name="icon-bg-317"/>
          <p:cNvSpPr/>
          <p:nvPr/>
        </p:nvSpPr>
        <p:spPr>
          <a:xfrm>
            <a:off x="8595360" y="3429000"/>
            <a:ext cx="731520" cy="731520"/>
          </a:xfrm>
          <a:prstGeom prst="ellipse">
            <a:avLst/>
          </a:prstGeom>
          <a:solidFill>
            <a:schemeClr val="accent5"/>
          </a:solidFill>
          <a:ln/>
        </p:spPr>
      </p:sp>
      <p:pic>
        <p:nvPicPr>
          <p:cNvPr id="13" name="icon-318" descr="preencoded.png">    </p:cNvPr>
          <p:cNvPicPr>
            <a:picLocks noChangeAspect="1"/>
          </p:cNvPicPr>
          <p:nvPr/>
        </p:nvPicPr>
        <p:blipFill>
          <a:blip r:embed="rId4"/>
          <a:stretch>
            <a:fillRect/>
          </a:stretch>
        </p:blipFill>
        <p:spPr>
          <a:xfrm>
            <a:off x="8756294" y="3589934"/>
            <a:ext cx="409651" cy="409651"/>
          </a:xfrm>
          <a:prstGeom prst="rect">
            <a:avLst/>
          </a:prstGeom>
        </p:spPr>
      </p:pic>
      <p:sp>
        <p:nvSpPr>
          <p:cNvPr id="14" name="text-319"/>
          <p:cNvSpPr txBox="1"/>
          <p:nvPr/>
        </p:nvSpPr>
        <p:spPr>
          <a:xfrm>
            <a:off x="946404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Audited</a:t>
            </a:r>
            <a:endParaRPr lang="en-US" sz="2000" dirty="0"/>
          </a:p>
        </p:txBody>
      </p:sp>
      <p:sp>
        <p:nvSpPr>
          <p:cNvPr id="15" name="text-320"/>
          <p:cNvSpPr txBox="1"/>
          <p:nvPr/>
        </p:nvSpPr>
        <p:spPr>
          <a:xfrm>
            <a:off x="640080" y="4937760"/>
            <a:ext cx="7315200" cy="365760"/>
          </a:xfrm>
          <a:prstGeom prst="rect">
            <a:avLst/>
          </a:prstGeom>
          <a:noFill/>
          <a:ln/>
        </p:spPr>
        <p:txBody>
          <a:bodyPr wrap="square" lIns="0" tIns="0" rIns="0" bIns="0" rtlCol="0" anchor="t"/>
          <a:lstStyle/>
          <a:p>
            <a:pPr algn="l" indent="0" marL="0">
              <a:buNone/>
            </a:pPr>
            <a:r>
              <a:rPr lang="en-US" sz="1600" dirty="0">
                <a:solidFill>
                  <a:srgbClr val="A6A6A6"/>
                </a:solidFill>
              </a:rPr>
              <a:t>github.com/pavan2184/tencent-hack</a:t>
            </a:r>
            <a:endParaRPr lang="en-US" sz="1600" dirty="0"/>
          </a:p>
        </p:txBody>
      </p:sp>
      <p:sp>
        <p:nvSpPr>
          <p:cNvPr id="16" name="text-321"/>
          <p:cNvSpPr txBox="1"/>
          <p:nvPr/>
        </p:nvSpPr>
        <p:spPr>
          <a:xfrm>
            <a:off x="640080" y="5989320"/>
            <a:ext cx="10515600" cy="365760"/>
          </a:xfrm>
          <a:prstGeom prst="rect">
            <a:avLst/>
          </a:prstGeom>
          <a:noFill/>
          <a:ln/>
        </p:spPr>
        <p:txBody>
          <a:bodyPr wrap="square" lIns="0" tIns="0" rIns="0" bIns="0" rtlCol="0" anchor="t"/>
          <a:lstStyle/>
          <a:p>
            <a:pPr algn="l" indent="0" marL="0">
              <a:buNone/>
            </a:pPr>
            <a:r>
              <a:rPr lang="en-US" sz="1300" dirty="0">
                <a:solidFill>
                  <a:srgbClr val="A6A6A6"/>
                </a:solidFill>
              </a:rPr>
              <a:t>Chai · Raphael · Pavan  ·  Tencent Cloud AI CAN DO IT Hackathon Singapore 2026</a:t>
            </a:r>
            <a:endParaRPr lang="en-US" sz="1300" dirty="0"/>
          </a:p>
        </p:txBody>
      </p:sp>
    </p:spTree>
  </p:cSld>
  <p:clrMapOvr>
    <a:masterClrMapping/>
  </p:clrMapOvr>
</p:sld>
</file>

<file path=ppt/theme/theme1.xml><?xml version="1.0" encoding="utf-8"?>
<a:theme xmlns:a="http://schemas.openxmlformats.org/drawingml/2006/main" name="Brain Sauce">
  <a:themeElements>
    <a:clrScheme name="Brain Sauce">
      <a:dk1>
        <a:srgbClr val="1D1D1D"/>
      </a:dk1>
      <a:lt1>
        <a:srgbClr val="FFFFFF"/>
      </a:lt1>
      <a:dk2>
        <a:srgbClr val="1D1D1D"/>
      </a:dk2>
      <a:lt2>
        <a:srgbClr val="F5F5F5"/>
      </a:lt2>
      <a:accent1>
        <a:srgbClr val="3F8243"/>
      </a:accent1>
      <a:accent2>
        <a:srgbClr val="D9433B"/>
      </a:accent2>
      <a:accent3>
        <a:srgbClr val="C77A0A"/>
      </a:accent3>
      <a:accent4>
        <a:srgbClr val="8C8C8C"/>
      </a:accent4>
      <a:accent5>
        <a:srgbClr val="666666"/>
      </a:accent5>
      <a:accent6>
        <a:srgbClr val="737373"/>
      </a:accent6>
      <a:hlink>
        <a:srgbClr val="8C8C8C"/>
      </a:hlink>
      <a:folHlink>
        <a:srgbClr val="666666"/>
      </a:folHlink>
    </a:clrScheme>
    <a:fontScheme name="Brain Sau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Brain Sauce: architecture and trust boundaries</dc:title>
  <dc:subject>PptxGenJS Presentation</dc:subject>
  <dc:creator>Chai Pin Zheng</dc:creator>
  <cp:lastModifiedBy>Chai Pin Zheng</cp:lastModifiedBy>
  <cp:revision>1</cp:revision>
  <dcterms:created xsi:type="dcterms:W3CDTF">2026-10-16T09:20:19Z</dcterms:created>
  <dcterms:modified xsi:type="dcterms:W3CDTF">2026-10-16T09:20:19Z</dcterms:modified>
</cp:coreProperties>
</file>