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4f9aa0fe-2b25-c09c-8479-dc04c7d0e1ac}">
          <p14:sldIdLst>
            <p14:sldId id="256"/>
            <p14:sldId id="257"/>
            <p14:sldId id="258"/>
          </p14:sldIdLst>
        </p14:section>
        <p14:section name="Architecture" id="{bbb6af53-5bab-408c-b06f-2c9e5f996278}">
          <p14:sldIdLst>
            <p14:sldId id="259"/>
            <p14:sldId id="260"/>
            <p14:sldId id="261"/>
          </p14:sldIdLst>
        </p14:section>
        <p14:section name="Proof" id="{4764e9f5-cae3-f122-062f-e9a455d066fa}">
          <p14:sldIdLst>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Minutes until a permission change applies</c:v>
                </c:pt>
              </c:strCache>
            </c:strRef>
          </c:tx>
          <c:spPr>
            <a:solidFill>
              <a:srgbClr val="475569"/>
            </a:solidFill>
            <a:effectLst/>
          </c:spPr>
          <c:invertIfNegative val="0"/>
          <c:dLbls>
            <c:numFmt formatCode="#,##0&quot; min&quot;"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475569"/>
              </a:solidFill>
              <a:effectLst/>
            </c:spPr>
          </c:dPt>
          <c:dPt>
            <c:idx val="2"/>
            <c:invertIfNegative val="0"/>
            <c:bubble3D val="0"/>
            <c:spPr>
              <a:solidFill>
                <a:srgbClr val="475569"/>
              </a:solidFill>
              <a:effectLst/>
            </c:spPr>
          </c:dPt>
          <c:dPt>
            <c:idx val="3"/>
            <c:invertIfNegative val="0"/>
            <c:bubble3D val="0"/>
            <c:spPr>
              <a:solidFill>
                <a:srgbClr val="0E9F8E"/>
              </a:solidFill>
              <a:effectLst/>
            </c:spPr>
          </c:dPt>
          <c:cat>
            <c:multiLvlStrRef>
              <c:f>Sheet1!$A$2:$A$5</c:f>
              <c:multiLvlStrCache>
                <c:ptCount val="4"/>
                <c:lvl>
                  <c:pt idx="0">
                    <c:v>Microsoft 365 Copilot, Confluence connector</c:v>
                  </c:pt>
                  <c:pt idx="1">
                    <c:v>Glean, Google Drive identity refresh</c:v>
                  </c:pt>
                  <c:pt idx="2">
                    <c:v>Gemini Enterprise, fastest identity sync</c:v>
                  </c:pt>
                  <c:pt idx="3">
                    <c:v>Internal Brain, confidential documents</c:v>
                  </c:pt>
                </c:lvl>
              </c:multiLvlStrCache>
            </c:multiLvlStrRef>
          </c:cat>
          <c:val>
            <c:numRef>
              <c:f>Sheet1!$B$2:$B$5</c:f>
              <c:numCache>
                <c:formatCode>General</c:formatCode>
                <c:ptCount val="4"/>
                <c:pt idx="0">
                  <c:v>1440</c:v>
                </c:pt>
                <c:pt idx="1">
                  <c:v>60</c:v>
                </c:pt>
                <c:pt idx="2">
                  <c:v>30</c:v>
                </c:pt>
                <c:pt idx="3">
                  <c:v>5</c:v>
                </c:pt>
              </c:numCache>
            </c:numRef>
          </c:val>
        </c:ser>
        <c:dLbls>
          <c:numFmt formatCode="#,##0&quot; min&quot;"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logBase val="10"/>
          <c:orientation val="minMax"/>
          <c:max val="10000"/>
          <c:min val="1"/>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case study: Aspire's Internal Brain challenge in the FinTech track. One sentence: we answer across the four platforms, but only from evidence the asker may see, and every answer carries its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Identity is resolved by the server, never trusted from the client. Search over-fetches candidates. The access gate evaluates each document against native permissions reloaded on every query. Only then does anything reach freshness checks, prompt-injection screening and the Tencent ADP model. The red line is the key trust boundary: denied text never crosses it. Verification drops unsupported claims; one hash-chained audit event records the whole decision trail. Precision for questions: ingestion does embed every document so search works, so the embedding provider processes all content and the vector store is protected like the source data. The gate protects the language model that writes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invent a new access model: the foundation is the one Glean, Microsoft and Google document. What we add is accountability: saved answers re-checked, every allow and deny logged in a tamper-evident chain, and a hard five-minute limit on stale permissions. Sources: Glean docs (security principles, crawl refresh rates), Microsoft Learn (Confluence Cloud connector, Purview Copilot audit), Google Cloud (Gemini Enterprise connectors), AWS Amazon Q Business connector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chemeClr val="accent6"/>
                </a:solidFill>
              </a:rPr>
              <a:t>The Internal Brain  ·  Tencent Cloud AI CAN DO IT Hackathon SG 2026  ·  FinTech track, Aspire case study</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ll-1"/>
          <p:cNvSpPr txBox="1"/>
          <p:nvPr/>
        </p:nvSpPr>
        <p:spPr>
          <a:xfrm>
            <a:off x="640080" y="685800"/>
            <a:ext cx="35661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FINTECH TRACK  ·  ASPIRE CASE STUDY</a:t>
            </a:r>
            <a:endParaRPr lang="en-US" sz="1200" dirty="0"/>
          </a:p>
        </p:txBody>
      </p:sp>
      <p:sp>
        <p:nvSpPr>
          <p:cNvPr id="3" name="Text 0"/>
          <p:cNvSpPr/>
          <p:nvPr>
            <p:ph idx="100" type="title" hasCustomPrompt="1"/>
          </p:nvPr>
        </p:nvSpPr>
        <p:spPr>
          <a:xfrm>
            <a:off x="640080" y="1417320"/>
            <a:ext cx="7863840" cy="1097280"/>
          </a:xfrm>
          <a:prstGeom prst="rect">
            <a:avLst/>
          </a:prstGeom>
          <a:noFill/>
          <a:ln/>
        </p:spPr>
        <p:txBody>
          <a:bodyPr wrap="square" lIns="0" tIns="0" rIns="0" bIns="0" rtlCol="0" anchor="t"/>
          <a:lstStyle/>
          <a:p>
            <a:pPr algn="l" indent="0" marL="0">
              <a:buNone/>
            </a:pPr>
            <a:r>
              <a:rPr lang="en-US" sz="5400" b="1" dirty="0">
                <a:solidFill>
                  <a:schemeClr val="bg1"/>
                </a:solidFill>
              </a:rPr>
              <a:t>The Internal Brain</a:t>
            </a:r>
            <a:endParaRPr lang="en-US" sz="5400" dirty="0"/>
          </a:p>
        </p:txBody>
      </p:sp>
      <p:sp>
        <p:nvSpPr>
          <p:cNvPr id="4" name="text-2"/>
          <p:cNvSpPr txBox="1"/>
          <p:nvPr/>
        </p:nvSpPr>
        <p:spPr>
          <a:xfrm>
            <a:off x="640080" y="2606040"/>
            <a:ext cx="6949440" cy="1097280"/>
          </a:xfrm>
          <a:prstGeom prst="rect">
            <a:avLst/>
          </a:prstGeom>
          <a:noFill/>
          <a:ln/>
        </p:spPr>
        <p:txBody>
          <a:bodyPr wrap="square" lIns="0" tIns="0" rIns="0" bIns="0" rtlCol="0" anchor="t"/>
          <a:lstStyle/>
          <a:p>
            <a:pPr algn="l" indent="0" marL="0">
              <a:buNone/>
            </a:pPr>
            <a:r>
              <a:rPr lang="en-US" sz="2000" dirty="0">
                <a:solidFill>
                  <a:schemeClr val="bg2"/>
                </a:solidFill>
              </a:rPr>
              <a:t>Ask one question across Confluence, Jira, Slack and Google Drive. Get an answer built only from what you are allowed to see, with the proof attached.</a:t>
            </a:r>
            <a:endParaRPr lang="en-US" sz="2000" dirty="0"/>
          </a:p>
        </p:txBody>
      </p:sp>
      <p:sp>
        <p:nvSpPr>
          <p:cNvPr id="5" name="text-3"/>
          <p:cNvSpPr txBox="1"/>
          <p:nvPr/>
        </p:nvSpPr>
        <p:spPr>
          <a:xfrm>
            <a:off x="640080" y="3977640"/>
            <a:ext cx="6949440" cy="731520"/>
          </a:xfrm>
          <a:prstGeom prst="rect">
            <a:avLst/>
          </a:prstGeom>
          <a:noFill/>
          <a:ln/>
        </p:spPr>
        <p:txBody>
          <a:bodyPr wrap="square" lIns="0" tIns="0" rIns="0" bIns="0" rtlCol="0" anchor="t"/>
          <a:lstStyle/>
          <a:p>
            <a:pPr algn="l" indent="0" marL="0">
              <a:buNone/>
            </a:pPr>
            <a:r>
              <a:rPr lang="en-US" sz="1400" b="1" dirty="0">
                <a:solidFill>
                  <a:srgbClr val="C9D8EE"/>
                </a:solidFill>
              </a:rPr>
              <a:t>Challenge: </a:t>
            </a:r>
            <a:pPr algn="l" indent="0" marL="0">
              <a:buNone/>
            </a:pPr>
            <a:r>
              <a:rPr lang="en-US" sz="1400" dirty="0">
                <a:solidFill>
                  <a:srgbClr val="C9D8EE"/>
                </a:solidFill>
              </a:rPr>
              <a:t>The Internal Brain: a context-aware enterprise knowledge system with RBAC, security logging and audit trail</a:t>
            </a:r>
            <a:endParaRPr lang="en-US" sz="1400" dirty="0"/>
          </a:p>
        </p:txBody>
      </p:sp>
      <p:sp>
        <p:nvSpPr>
          <p:cNvPr id="6" name="text-4"/>
          <p:cNvSpPr txBox="1"/>
          <p:nvPr/>
        </p:nvSpPr>
        <p:spPr>
          <a:xfrm>
            <a:off x="640080" y="5989320"/>
            <a:ext cx="10515600" cy="365760"/>
          </a:xfrm>
          <a:prstGeom prst="rect">
            <a:avLst/>
          </a:prstGeom>
          <a:noFill/>
          <a:ln/>
        </p:spPr>
        <p:txBody>
          <a:bodyPr wrap="square" lIns="0" tIns="0" rIns="0" bIns="0" rtlCol="0" anchor="t"/>
          <a:lstStyle/>
          <a:p>
            <a:pPr algn="l" indent="0" marL="0">
              <a:buNone/>
            </a:pPr>
            <a:r>
              <a:rPr lang="en-US" sz="1300" dirty="0">
                <a:solidFill>
                  <a:srgbClr val="C9D8EE"/>
                </a:solidFill>
              </a:rPr>
              <a:t>Team: Chai · Raphael · Pavan     |     Tencent Cloud AI CAN DO IT Hackathon Singapore 2026</a:t>
            </a:r>
            <a:endParaRPr lang="en-US" sz="1300" dirty="0"/>
          </a:p>
        </p:txBody>
      </p:sp>
      <p:sp>
        <p:nvSpPr>
          <p:cNvPr id="7" name="icon-bg-5"/>
          <p:cNvSpPr/>
          <p:nvPr/>
        </p:nvSpPr>
        <p:spPr>
          <a:xfrm>
            <a:off x="8366760" y="914400"/>
            <a:ext cx="731520" cy="731520"/>
          </a:xfrm>
          <a:prstGeom prst="ellipse">
            <a:avLst/>
          </a:prstGeom>
          <a:solidFill>
            <a:schemeClr val="bg1"/>
          </a:solidFill>
          <a:ln/>
        </p:spPr>
      </p:sp>
      <p:pic>
        <p:nvPicPr>
          <p:cNvPr id="8" name="icon-6" descr="preencoded.png">    </p:cNvPr>
          <p:cNvPicPr>
            <a:picLocks noChangeAspect="1"/>
          </p:cNvPicPr>
          <p:nvPr/>
        </p:nvPicPr>
        <p:blipFill>
          <a:blip r:embed="rId1"/>
          <a:stretch>
            <a:fillRect/>
          </a:stretch>
        </p:blipFill>
        <p:spPr>
          <a:xfrm>
            <a:off x="8513064" y="1060704"/>
            <a:ext cx="438912" cy="438912"/>
          </a:xfrm>
          <a:prstGeom prst="rect">
            <a:avLst/>
          </a:prstGeom>
        </p:spPr>
      </p:pic>
      <p:sp>
        <p:nvSpPr>
          <p:cNvPr id="9" name="text-7"/>
          <p:cNvSpPr txBox="1"/>
          <p:nvPr/>
        </p:nvSpPr>
        <p:spPr>
          <a:xfrm>
            <a:off x="8275320" y="1682496"/>
            <a:ext cx="914400" cy="256032"/>
          </a:xfrm>
          <a:prstGeom prst="rect">
            <a:avLst/>
          </a:prstGeom>
          <a:noFill/>
          <a:ln/>
        </p:spPr>
        <p:txBody>
          <a:bodyPr wrap="square" lIns="0" tIns="0" rIns="0" bIns="0" rtlCol="0" anchor="t"/>
          <a:lstStyle/>
          <a:p>
            <a:pPr algn="ctr" indent="0" marL="0">
              <a:buNone/>
            </a:pPr>
            <a:r>
              <a:rPr lang="en-US" sz="1100" dirty="0">
                <a:solidFill>
                  <a:schemeClr val="bg2"/>
                </a:solidFill>
              </a:rPr>
              <a:t>Confluence</a:t>
            </a:r>
            <a:endParaRPr lang="en-US" sz="1100" dirty="0"/>
          </a:p>
        </p:txBody>
      </p:sp>
      <p:sp>
        <p:nvSpPr>
          <p:cNvPr id="10" name="arrow-8"/>
          <p:cNvSpPr/>
          <p:nvPr/>
        </p:nvSpPr>
        <p:spPr>
          <a:xfrm>
            <a:off x="9189720" y="1280160"/>
            <a:ext cx="868680" cy="1554480"/>
          </a:xfrm>
          <a:prstGeom prst="line">
            <a:avLst/>
          </a:prstGeom>
          <a:noFill/>
          <a:ln w="15875">
            <a:solidFill>
              <a:srgbClr val="C9D8EE"/>
            </a:solidFill>
            <a:prstDash val="solid"/>
            <a:tailEnd type="triangle"/>
          </a:ln>
        </p:spPr>
      </p:sp>
      <p:sp>
        <p:nvSpPr>
          <p:cNvPr id="11" name="icon-bg-9"/>
          <p:cNvSpPr/>
          <p:nvPr/>
        </p:nvSpPr>
        <p:spPr>
          <a:xfrm>
            <a:off x="8366760" y="1993392"/>
            <a:ext cx="731520" cy="731520"/>
          </a:xfrm>
          <a:prstGeom prst="ellipse">
            <a:avLst/>
          </a:prstGeom>
          <a:solidFill>
            <a:schemeClr val="bg1"/>
          </a:solidFill>
          <a:ln/>
        </p:spPr>
      </p:sp>
      <p:pic>
        <p:nvPicPr>
          <p:cNvPr id="12" name="icon-10" descr="preencoded.png">    </p:cNvPr>
          <p:cNvPicPr>
            <a:picLocks noChangeAspect="1"/>
          </p:cNvPicPr>
          <p:nvPr/>
        </p:nvPicPr>
        <p:blipFill>
          <a:blip r:embed="rId2"/>
          <a:stretch>
            <a:fillRect/>
          </a:stretch>
        </p:blipFill>
        <p:spPr>
          <a:xfrm>
            <a:off x="8513064" y="2139696"/>
            <a:ext cx="438912" cy="438912"/>
          </a:xfrm>
          <a:prstGeom prst="rect">
            <a:avLst/>
          </a:prstGeom>
        </p:spPr>
      </p:pic>
      <p:sp>
        <p:nvSpPr>
          <p:cNvPr id="13" name="text-11"/>
          <p:cNvSpPr txBox="1"/>
          <p:nvPr/>
        </p:nvSpPr>
        <p:spPr>
          <a:xfrm>
            <a:off x="8275320" y="2761488"/>
            <a:ext cx="914400" cy="256032"/>
          </a:xfrm>
          <a:prstGeom prst="rect">
            <a:avLst/>
          </a:prstGeom>
          <a:noFill/>
          <a:ln/>
        </p:spPr>
        <p:txBody>
          <a:bodyPr wrap="square" lIns="0" tIns="0" rIns="0" bIns="0" rtlCol="0" anchor="t"/>
          <a:lstStyle/>
          <a:p>
            <a:pPr algn="ctr" indent="0" marL="0">
              <a:buNone/>
            </a:pPr>
            <a:r>
              <a:rPr lang="en-US" sz="1100" dirty="0">
                <a:solidFill>
                  <a:schemeClr val="bg2"/>
                </a:solidFill>
              </a:rPr>
              <a:t>Jira</a:t>
            </a:r>
            <a:endParaRPr lang="en-US" sz="1100" dirty="0"/>
          </a:p>
        </p:txBody>
      </p:sp>
      <p:sp>
        <p:nvSpPr>
          <p:cNvPr id="14" name="arrow-12"/>
          <p:cNvSpPr/>
          <p:nvPr/>
        </p:nvSpPr>
        <p:spPr>
          <a:xfrm>
            <a:off x="9189720" y="2359152"/>
            <a:ext cx="868680" cy="475488"/>
          </a:xfrm>
          <a:prstGeom prst="line">
            <a:avLst/>
          </a:prstGeom>
          <a:noFill/>
          <a:ln w="15875">
            <a:solidFill>
              <a:srgbClr val="C9D8EE"/>
            </a:solidFill>
            <a:prstDash val="solid"/>
            <a:tailEnd type="triangle"/>
          </a:ln>
        </p:spPr>
      </p:sp>
      <p:sp>
        <p:nvSpPr>
          <p:cNvPr id="15" name="icon-bg-13"/>
          <p:cNvSpPr/>
          <p:nvPr/>
        </p:nvSpPr>
        <p:spPr>
          <a:xfrm>
            <a:off x="8366760" y="3072384"/>
            <a:ext cx="731520" cy="731520"/>
          </a:xfrm>
          <a:prstGeom prst="ellipse">
            <a:avLst/>
          </a:prstGeom>
          <a:solidFill>
            <a:schemeClr val="bg1"/>
          </a:solidFill>
          <a:ln/>
        </p:spPr>
      </p:sp>
      <p:pic>
        <p:nvPicPr>
          <p:cNvPr id="16" name="icon-14" descr="preencoded.png">    </p:cNvPr>
          <p:cNvPicPr>
            <a:picLocks noChangeAspect="1"/>
          </p:cNvPicPr>
          <p:nvPr/>
        </p:nvPicPr>
        <p:blipFill>
          <a:blip r:embed="rId3"/>
          <a:stretch>
            <a:fillRect/>
          </a:stretch>
        </p:blipFill>
        <p:spPr>
          <a:xfrm>
            <a:off x="8513064" y="3218688"/>
            <a:ext cx="438912" cy="438912"/>
          </a:xfrm>
          <a:prstGeom prst="rect">
            <a:avLst/>
          </a:prstGeom>
        </p:spPr>
      </p:pic>
      <p:sp>
        <p:nvSpPr>
          <p:cNvPr id="17" name="text-15"/>
          <p:cNvSpPr txBox="1"/>
          <p:nvPr/>
        </p:nvSpPr>
        <p:spPr>
          <a:xfrm>
            <a:off x="8275320" y="3840480"/>
            <a:ext cx="914400" cy="256032"/>
          </a:xfrm>
          <a:prstGeom prst="rect">
            <a:avLst/>
          </a:prstGeom>
          <a:noFill/>
          <a:ln/>
        </p:spPr>
        <p:txBody>
          <a:bodyPr wrap="square" lIns="0" tIns="0" rIns="0" bIns="0" rtlCol="0" anchor="t"/>
          <a:lstStyle/>
          <a:p>
            <a:pPr algn="ctr" indent="0" marL="0">
              <a:buNone/>
            </a:pPr>
            <a:r>
              <a:rPr lang="en-US" sz="1100" dirty="0">
                <a:solidFill>
                  <a:schemeClr val="bg2"/>
                </a:solidFill>
              </a:rPr>
              <a:t>Slack</a:t>
            </a:r>
            <a:endParaRPr lang="en-US" sz="1100" dirty="0"/>
          </a:p>
        </p:txBody>
      </p:sp>
      <p:sp>
        <p:nvSpPr>
          <p:cNvPr id="18" name="arrow-16"/>
          <p:cNvSpPr/>
          <p:nvPr/>
        </p:nvSpPr>
        <p:spPr>
          <a:xfrm flipV="1">
            <a:off x="9189720" y="2834640"/>
            <a:ext cx="868680" cy="603504"/>
          </a:xfrm>
          <a:prstGeom prst="line">
            <a:avLst/>
          </a:prstGeom>
          <a:noFill/>
          <a:ln w="15875">
            <a:solidFill>
              <a:srgbClr val="C9D8EE"/>
            </a:solidFill>
            <a:prstDash val="solid"/>
            <a:tailEnd type="triangle"/>
          </a:ln>
        </p:spPr>
      </p:sp>
      <p:sp>
        <p:nvSpPr>
          <p:cNvPr id="19" name="icon-bg-17"/>
          <p:cNvSpPr/>
          <p:nvPr/>
        </p:nvSpPr>
        <p:spPr>
          <a:xfrm>
            <a:off x="8366760" y="4151376"/>
            <a:ext cx="731520" cy="731520"/>
          </a:xfrm>
          <a:prstGeom prst="ellipse">
            <a:avLst/>
          </a:prstGeom>
          <a:solidFill>
            <a:schemeClr val="bg1"/>
          </a:solidFill>
          <a:ln/>
        </p:spPr>
      </p:sp>
      <p:pic>
        <p:nvPicPr>
          <p:cNvPr id="20" name="icon-18" descr="preencoded.png">    </p:cNvPr>
          <p:cNvPicPr>
            <a:picLocks noChangeAspect="1"/>
          </p:cNvPicPr>
          <p:nvPr/>
        </p:nvPicPr>
        <p:blipFill>
          <a:blip r:embed="rId4"/>
          <a:stretch>
            <a:fillRect/>
          </a:stretch>
        </p:blipFill>
        <p:spPr>
          <a:xfrm>
            <a:off x="8513064" y="4297680"/>
            <a:ext cx="438912" cy="438912"/>
          </a:xfrm>
          <a:prstGeom prst="rect">
            <a:avLst/>
          </a:prstGeom>
        </p:spPr>
      </p:pic>
      <p:sp>
        <p:nvSpPr>
          <p:cNvPr id="21" name="text-19"/>
          <p:cNvSpPr txBox="1"/>
          <p:nvPr/>
        </p:nvSpPr>
        <p:spPr>
          <a:xfrm>
            <a:off x="8275320" y="4919472"/>
            <a:ext cx="914400" cy="256032"/>
          </a:xfrm>
          <a:prstGeom prst="rect">
            <a:avLst/>
          </a:prstGeom>
          <a:noFill/>
          <a:ln/>
        </p:spPr>
        <p:txBody>
          <a:bodyPr wrap="square" lIns="0" tIns="0" rIns="0" bIns="0" rtlCol="0" anchor="t"/>
          <a:lstStyle/>
          <a:p>
            <a:pPr algn="ctr" indent="0" marL="0">
              <a:buNone/>
            </a:pPr>
            <a:r>
              <a:rPr lang="en-US" sz="1100" dirty="0">
                <a:solidFill>
                  <a:schemeClr val="bg2"/>
                </a:solidFill>
              </a:rPr>
              <a:t>Google Drive</a:t>
            </a:r>
            <a:endParaRPr lang="en-US" sz="1100" dirty="0"/>
          </a:p>
        </p:txBody>
      </p:sp>
      <p:sp>
        <p:nvSpPr>
          <p:cNvPr id="22" name="arrow-20"/>
          <p:cNvSpPr/>
          <p:nvPr/>
        </p:nvSpPr>
        <p:spPr>
          <a:xfrm flipV="1">
            <a:off x="9189720" y="2834640"/>
            <a:ext cx="868680" cy="1682496"/>
          </a:xfrm>
          <a:prstGeom prst="line">
            <a:avLst/>
          </a:prstGeom>
          <a:noFill/>
          <a:ln w="15875">
            <a:solidFill>
              <a:srgbClr val="C9D8EE"/>
            </a:solidFill>
            <a:prstDash val="solid"/>
            <a:tailEnd type="triangle"/>
          </a:ln>
        </p:spPr>
      </p:sp>
      <p:sp>
        <p:nvSpPr>
          <p:cNvPr id="23" name="icon-bg-21"/>
          <p:cNvSpPr/>
          <p:nvPr/>
        </p:nvSpPr>
        <p:spPr>
          <a:xfrm>
            <a:off x="10104120" y="2377440"/>
            <a:ext cx="1005840" cy="1005840"/>
          </a:xfrm>
          <a:prstGeom prst="ellipse">
            <a:avLst/>
          </a:prstGeom>
          <a:solidFill>
            <a:schemeClr val="accent1"/>
          </a:solidFill>
          <a:ln/>
        </p:spPr>
      </p:sp>
      <p:pic>
        <p:nvPicPr>
          <p:cNvPr id="24" name="icon-22" descr="preencoded.png">    </p:cNvPr>
          <p:cNvPicPr>
            <a:picLocks noChangeAspect="1"/>
          </p:cNvPicPr>
          <p:nvPr/>
        </p:nvPicPr>
        <p:blipFill>
          <a:blip r:embed="rId5"/>
          <a:stretch>
            <a:fillRect/>
          </a:stretch>
        </p:blipFill>
        <p:spPr>
          <a:xfrm>
            <a:off x="10345522" y="2618842"/>
            <a:ext cx="523037" cy="523037"/>
          </a:xfrm>
          <a:prstGeom prst="rect">
            <a:avLst/>
          </a:prstGeom>
        </p:spPr>
      </p:pic>
      <p:sp>
        <p:nvSpPr>
          <p:cNvPr id="25" name="text-23"/>
          <p:cNvSpPr txBox="1"/>
          <p:nvPr/>
        </p:nvSpPr>
        <p:spPr>
          <a:xfrm>
            <a:off x="9784080" y="3474720"/>
            <a:ext cx="1645920" cy="274320"/>
          </a:xfrm>
          <a:prstGeom prst="rect">
            <a:avLst/>
          </a:prstGeom>
          <a:noFill/>
          <a:ln/>
        </p:spPr>
        <p:txBody>
          <a:bodyPr wrap="square" lIns="0" tIns="0" rIns="0" bIns="0" rtlCol="0" anchor="t"/>
          <a:lstStyle/>
          <a:p>
            <a:pPr algn="ctr" indent="0" marL="0">
              <a:buNone/>
            </a:pPr>
            <a:r>
              <a:rPr lang="en-US" sz="1200" b="1" dirty="0">
                <a:solidFill>
                  <a:schemeClr val="bg1"/>
                </a:solidFill>
              </a:rPr>
              <a:t>Governed answer</a:t>
            </a:r>
            <a:endParaRPr lang="en-US" sz="1200" dirty="0"/>
          </a:p>
        </p:txBody>
      </p:sp>
      <p:sp>
        <p:nvSpPr>
          <p:cNvPr id="26" name="text-24"/>
          <p:cNvSpPr txBox="1"/>
          <p:nvPr/>
        </p:nvSpPr>
        <p:spPr>
          <a:xfrm>
            <a:off x="9509760" y="3749040"/>
            <a:ext cx="2194560" cy="274320"/>
          </a:xfrm>
          <a:prstGeom prst="rect">
            <a:avLst/>
          </a:prstGeom>
          <a:noFill/>
          <a:ln/>
        </p:spPr>
        <p:txBody>
          <a:bodyPr wrap="square" lIns="0" tIns="0" rIns="0" bIns="0" rtlCol="0" anchor="t"/>
          <a:lstStyle/>
          <a:p>
            <a:pPr algn="ctr" indent="0" marL="0">
              <a:buNone/>
            </a:pPr>
            <a:r>
              <a:rPr lang="en-US" sz="1000" dirty="0">
                <a:solidFill>
                  <a:srgbClr val="C9D8EE"/>
                </a:solidFill>
              </a:rPr>
              <a:t>permitted · fresh · grounded · audited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A chatbot on top of search fails a fintech in three ways</a:t>
            </a:r>
            <a:endParaRPr lang="en-US" sz="2800" dirty="0"/>
          </a:p>
        </p:txBody>
      </p:sp>
      <p:sp>
        <p:nvSpPr>
          <p:cNvPr id="3" name="problem-card-25"/>
          <p:cNvSpPr/>
          <p:nvPr/>
        </p:nvSpPr>
        <p:spPr>
          <a:xfrm>
            <a:off x="548640" y="1417320"/>
            <a:ext cx="3520440" cy="3246120"/>
          </a:xfrm>
          <a:prstGeom prst="roundRect">
            <a:avLst>
              <a:gd name="adj" fmla="val 2254"/>
            </a:avLst>
          </a:prstGeom>
          <a:solidFill>
            <a:schemeClr val="bg2"/>
          </a:solidFill>
          <a:ln/>
        </p:spPr>
      </p:sp>
      <p:sp>
        <p:nvSpPr>
          <p:cNvPr id="4" name="icon-bg-26"/>
          <p:cNvSpPr/>
          <p:nvPr/>
        </p:nvSpPr>
        <p:spPr>
          <a:xfrm>
            <a:off x="868680" y="1691640"/>
            <a:ext cx="731520" cy="731520"/>
          </a:xfrm>
          <a:prstGeom prst="ellipse">
            <a:avLst/>
          </a:prstGeom>
          <a:solidFill>
            <a:schemeClr val="accent2"/>
          </a:solidFill>
          <a:ln/>
        </p:spPr>
      </p:sp>
      <p:pic>
        <p:nvPicPr>
          <p:cNvPr id="5" name="icon-27" descr="preencoded.png">    </p:cNvPr>
          <p:cNvPicPr>
            <a:picLocks noChangeAspect="1"/>
          </p:cNvPicPr>
          <p:nvPr/>
        </p:nvPicPr>
        <p:blipFill>
          <a:blip r:embed="rId1"/>
          <a:stretch>
            <a:fillRect/>
          </a:stretch>
        </p:blipFill>
        <p:spPr>
          <a:xfrm>
            <a:off x="1029614" y="1852574"/>
            <a:ext cx="409651" cy="409651"/>
          </a:xfrm>
          <a:prstGeom prst="rect">
            <a:avLst/>
          </a:prstGeom>
        </p:spPr>
      </p:pic>
      <p:sp>
        <p:nvSpPr>
          <p:cNvPr id="6" name="text-28"/>
          <p:cNvSpPr txBox="1"/>
          <p:nvPr/>
        </p:nvSpPr>
        <p:spPr>
          <a:xfrm>
            <a:off x="868680" y="2606040"/>
            <a:ext cx="2926080" cy="457200"/>
          </a:xfrm>
          <a:prstGeom prst="rect">
            <a:avLst/>
          </a:prstGeom>
          <a:noFill/>
          <a:ln/>
        </p:spPr>
        <p:txBody>
          <a:bodyPr wrap="square" lIns="0" tIns="0" rIns="0" bIns="0" rtlCol="0" anchor="t"/>
          <a:lstStyle/>
          <a:p>
            <a:pPr algn="l" indent="0" marL="0">
              <a:buNone/>
            </a:pPr>
            <a:r>
              <a:rPr lang="en-US" sz="2200" b="1" dirty="0">
                <a:solidFill>
                  <a:schemeClr val="tx2"/>
                </a:solidFill>
              </a:rPr>
              <a:t>It leaks</a:t>
            </a:r>
            <a:endParaRPr lang="en-US" sz="2200" dirty="0"/>
          </a:p>
        </p:txBody>
      </p:sp>
      <p:sp>
        <p:nvSpPr>
          <p:cNvPr id="7" name="text-29"/>
          <p:cNvSpPr txBox="1"/>
          <p:nvPr/>
        </p:nvSpPr>
        <p:spPr>
          <a:xfrm>
            <a:off x="868680" y="3108960"/>
            <a:ext cx="2926080" cy="1463040"/>
          </a:xfrm>
          <a:prstGeom prst="rect">
            <a:avLst/>
          </a:prstGeom>
          <a:noFill/>
          <a:ln/>
        </p:spPr>
        <p:txBody>
          <a:bodyPr wrap="square" lIns="0" tIns="0" rIns="0" bIns="0" rtlCol="0" anchor="t"/>
          <a:lstStyle/>
          <a:p>
            <a:pPr algn="l" indent="0" marL="0">
              <a:buNone/>
            </a:pPr>
            <a:r>
              <a:rPr lang="en-US" sz="1500" dirty="0">
                <a:solidFill>
                  <a:schemeClr val="tx1"/>
                </a:solidFill>
              </a:rPr>
              <a:t>A contractor asks about Q3 revenue and the bot quotes the confidential board deck, because search never checked who was asking.</a:t>
            </a:r>
            <a:endParaRPr lang="en-US" sz="1500" dirty="0"/>
          </a:p>
        </p:txBody>
      </p:sp>
      <p:sp>
        <p:nvSpPr>
          <p:cNvPr id="8" name="problem-card-30"/>
          <p:cNvSpPr/>
          <p:nvPr/>
        </p:nvSpPr>
        <p:spPr>
          <a:xfrm>
            <a:off x="4297680" y="1417320"/>
            <a:ext cx="3520440" cy="3246120"/>
          </a:xfrm>
          <a:prstGeom prst="roundRect">
            <a:avLst>
              <a:gd name="adj" fmla="val 2254"/>
            </a:avLst>
          </a:prstGeom>
          <a:solidFill>
            <a:schemeClr val="bg2"/>
          </a:solidFill>
          <a:ln/>
        </p:spPr>
      </p:sp>
      <p:sp>
        <p:nvSpPr>
          <p:cNvPr id="9" name="icon-bg-31"/>
          <p:cNvSpPr/>
          <p:nvPr/>
        </p:nvSpPr>
        <p:spPr>
          <a:xfrm>
            <a:off x="4617720" y="1691640"/>
            <a:ext cx="731520" cy="731520"/>
          </a:xfrm>
          <a:prstGeom prst="ellipse">
            <a:avLst/>
          </a:prstGeom>
          <a:solidFill>
            <a:schemeClr val="accent3"/>
          </a:solidFill>
          <a:ln/>
        </p:spPr>
      </p:sp>
      <p:pic>
        <p:nvPicPr>
          <p:cNvPr id="10" name="icon-32" descr="preencoded.png">    </p:cNvPr>
          <p:cNvPicPr>
            <a:picLocks noChangeAspect="1"/>
          </p:cNvPicPr>
          <p:nvPr/>
        </p:nvPicPr>
        <p:blipFill>
          <a:blip r:embed="rId2"/>
          <a:stretch>
            <a:fillRect/>
          </a:stretch>
        </p:blipFill>
        <p:spPr>
          <a:xfrm>
            <a:off x="4778654" y="1852574"/>
            <a:ext cx="409651" cy="409651"/>
          </a:xfrm>
          <a:prstGeom prst="rect">
            <a:avLst/>
          </a:prstGeom>
        </p:spPr>
      </p:pic>
      <p:sp>
        <p:nvSpPr>
          <p:cNvPr id="11" name="text-33"/>
          <p:cNvSpPr txBox="1"/>
          <p:nvPr/>
        </p:nvSpPr>
        <p:spPr>
          <a:xfrm>
            <a:off x="4617720" y="2606040"/>
            <a:ext cx="2926080" cy="457200"/>
          </a:xfrm>
          <a:prstGeom prst="rect">
            <a:avLst/>
          </a:prstGeom>
          <a:noFill/>
          <a:ln/>
        </p:spPr>
        <p:txBody>
          <a:bodyPr wrap="square" lIns="0" tIns="0" rIns="0" bIns="0" rtlCol="0" anchor="t"/>
          <a:lstStyle/>
          <a:p>
            <a:pPr algn="l" indent="0" marL="0">
              <a:buNone/>
            </a:pPr>
            <a:r>
              <a:rPr lang="en-US" sz="2200" b="1" dirty="0">
                <a:solidFill>
                  <a:schemeClr val="tx2"/>
                </a:solidFill>
              </a:rPr>
              <a:t>It goes stale</a:t>
            </a:r>
            <a:endParaRPr lang="en-US" sz="2200" dirty="0"/>
          </a:p>
        </p:txBody>
      </p:sp>
      <p:sp>
        <p:nvSpPr>
          <p:cNvPr id="12" name="text-34"/>
          <p:cNvSpPr txBox="1"/>
          <p:nvPr/>
        </p:nvSpPr>
        <p:spPr>
          <a:xfrm>
            <a:off x="4617720" y="3108960"/>
            <a:ext cx="2926080" cy="1463040"/>
          </a:xfrm>
          <a:prstGeom prst="rect">
            <a:avLst/>
          </a:prstGeom>
          <a:noFill/>
          <a:ln/>
        </p:spPr>
        <p:txBody>
          <a:bodyPr wrap="square" lIns="0" tIns="0" rIns="0" bIns="0" rtlCol="0" anchor="t"/>
          <a:lstStyle/>
          <a:p>
            <a:pPr algn="l" indent="0" marL="0">
              <a:buNone/>
            </a:pPr>
            <a:r>
              <a:rPr lang="en-US" sz="1500" dirty="0">
                <a:solidFill>
                  <a:schemeClr val="tx1"/>
                </a:solidFill>
              </a:rPr>
              <a:t>The payment-rail failover runbook changed at the source. The index still serves the old version as if it were current.</a:t>
            </a:r>
            <a:endParaRPr lang="en-US" sz="1500" dirty="0"/>
          </a:p>
        </p:txBody>
      </p:sp>
      <p:sp>
        <p:nvSpPr>
          <p:cNvPr id="13" name="problem-card-35"/>
          <p:cNvSpPr/>
          <p:nvPr/>
        </p:nvSpPr>
        <p:spPr>
          <a:xfrm>
            <a:off x="8046720" y="1417320"/>
            <a:ext cx="3520440" cy="3246120"/>
          </a:xfrm>
          <a:prstGeom prst="roundRect">
            <a:avLst>
              <a:gd name="adj" fmla="val 2254"/>
            </a:avLst>
          </a:prstGeom>
          <a:solidFill>
            <a:schemeClr val="bg2"/>
          </a:solidFill>
          <a:ln/>
        </p:spPr>
      </p:sp>
      <p:sp>
        <p:nvSpPr>
          <p:cNvPr id="14" name="icon-bg-36"/>
          <p:cNvSpPr/>
          <p:nvPr/>
        </p:nvSpPr>
        <p:spPr>
          <a:xfrm>
            <a:off x="8366760" y="1691640"/>
            <a:ext cx="731520" cy="731520"/>
          </a:xfrm>
          <a:prstGeom prst="ellipse">
            <a:avLst/>
          </a:prstGeom>
          <a:solidFill>
            <a:schemeClr val="accent5"/>
          </a:solidFill>
          <a:ln/>
        </p:spPr>
      </p:sp>
      <p:pic>
        <p:nvPicPr>
          <p:cNvPr id="15" name="icon-37" descr="preencoded.png">    </p:cNvPr>
          <p:cNvPicPr>
            <a:picLocks noChangeAspect="1"/>
          </p:cNvPicPr>
          <p:nvPr/>
        </p:nvPicPr>
        <p:blipFill>
          <a:blip r:embed="rId3"/>
          <a:stretch>
            <a:fillRect/>
          </a:stretch>
        </p:blipFill>
        <p:spPr>
          <a:xfrm>
            <a:off x="8527694" y="1852574"/>
            <a:ext cx="409651" cy="409651"/>
          </a:xfrm>
          <a:prstGeom prst="rect">
            <a:avLst/>
          </a:prstGeom>
        </p:spPr>
      </p:pic>
      <p:sp>
        <p:nvSpPr>
          <p:cNvPr id="16" name="text-38"/>
          <p:cNvSpPr txBox="1"/>
          <p:nvPr/>
        </p:nvSpPr>
        <p:spPr>
          <a:xfrm>
            <a:off x="8366760" y="2606040"/>
            <a:ext cx="2926080" cy="457200"/>
          </a:xfrm>
          <a:prstGeom prst="rect">
            <a:avLst/>
          </a:prstGeom>
          <a:noFill/>
          <a:ln/>
        </p:spPr>
        <p:txBody>
          <a:bodyPr wrap="square" lIns="0" tIns="0" rIns="0" bIns="0" rtlCol="0" anchor="t"/>
          <a:lstStyle/>
          <a:p>
            <a:pPr algn="l" indent="0" marL="0">
              <a:buNone/>
            </a:pPr>
            <a:r>
              <a:rPr lang="en-US" sz="2200" b="1" dirty="0">
                <a:solidFill>
                  <a:schemeClr val="tx2"/>
                </a:solidFill>
              </a:rPr>
              <a:t>It cannot be audited</a:t>
            </a:r>
            <a:endParaRPr lang="en-US" sz="2200" dirty="0"/>
          </a:p>
        </p:txBody>
      </p:sp>
      <p:sp>
        <p:nvSpPr>
          <p:cNvPr id="17" name="text-39"/>
          <p:cNvSpPr txBox="1"/>
          <p:nvPr/>
        </p:nvSpPr>
        <p:spPr>
          <a:xfrm>
            <a:off x="8366760" y="3108960"/>
            <a:ext cx="2926080" cy="1463040"/>
          </a:xfrm>
          <a:prstGeom prst="rect">
            <a:avLst/>
          </a:prstGeom>
          <a:noFill/>
          <a:ln/>
        </p:spPr>
        <p:txBody>
          <a:bodyPr wrap="square" lIns="0" tIns="0" rIns="0" bIns="0" rtlCol="0" anchor="t"/>
          <a:lstStyle/>
          <a:p>
            <a:pPr algn="l" indent="0" marL="0">
              <a:buNone/>
            </a:pPr>
            <a:r>
              <a:rPr lang="en-US" sz="1500" dirty="0">
                <a:solidFill>
                  <a:schemeClr val="tx1"/>
                </a:solidFill>
              </a:rPr>
              <a:t>Compliance cannot reconstruct who asked, what was retrieved, what was denied and what the model answered.</a:t>
            </a:r>
            <a:endParaRPr lang="en-US" sz="1500" dirty="0"/>
          </a:p>
        </p:txBody>
      </p:sp>
      <p:sp>
        <p:nvSpPr>
          <p:cNvPr id="18" name="context-band-40"/>
          <p:cNvSpPr/>
          <p:nvPr/>
        </p:nvSpPr>
        <p:spPr>
          <a:xfrm>
            <a:off x="548640" y="4983480"/>
            <a:ext cx="11064240" cy="1097280"/>
          </a:xfrm>
          <a:prstGeom prst="roundRect">
            <a:avLst>
              <a:gd name="adj" fmla="val 6667"/>
            </a:avLst>
          </a:prstGeom>
          <a:solidFill>
            <a:schemeClr val="tx2"/>
          </a:solidFill>
          <a:ln/>
        </p:spPr>
      </p:sp>
      <p:sp>
        <p:nvSpPr>
          <p:cNvPr id="19" name="text-41"/>
          <p:cNvSpPr txBox="1"/>
          <p:nvPr/>
        </p:nvSpPr>
        <p:spPr>
          <a:xfrm>
            <a:off x="868680" y="5074920"/>
            <a:ext cx="2103120" cy="548640"/>
          </a:xfrm>
          <a:prstGeom prst="rect">
            <a:avLst/>
          </a:prstGeom>
          <a:noFill/>
          <a:ln/>
        </p:spPr>
        <p:txBody>
          <a:bodyPr wrap="square" lIns="0" tIns="0" rIns="0" bIns="0" rtlCol="0" anchor="t"/>
          <a:lstStyle/>
          <a:p>
            <a:pPr algn="l" indent="0" marL="0">
              <a:buNone/>
            </a:pPr>
            <a:r>
              <a:rPr lang="en-US" sz="3000" b="1" dirty="0">
                <a:solidFill>
                  <a:schemeClr val="bg1"/>
                </a:solidFill>
              </a:rPr>
              <a:t>600+</a:t>
            </a:r>
            <a:endParaRPr lang="en-US" sz="3000" dirty="0"/>
          </a:p>
        </p:txBody>
      </p:sp>
      <p:sp>
        <p:nvSpPr>
          <p:cNvPr id="20" name="text-42"/>
          <p:cNvSpPr txBox="1"/>
          <p:nvPr/>
        </p:nvSpPr>
        <p:spPr>
          <a:xfrm>
            <a:off x="868680" y="5596128"/>
            <a:ext cx="2194560" cy="365760"/>
          </a:xfrm>
          <a:prstGeom prst="rect">
            <a:avLst/>
          </a:prstGeom>
          <a:noFill/>
          <a:ln/>
        </p:spPr>
        <p:txBody>
          <a:bodyPr wrap="square" lIns="0" tIns="0" rIns="0" bIns="0" rtlCol="0" anchor="t"/>
          <a:lstStyle/>
          <a:p>
            <a:pPr algn="l" indent="0" marL="0">
              <a:buNone/>
            </a:pPr>
            <a:r>
              <a:rPr lang="en-US" sz="1300" dirty="0">
                <a:solidFill>
                  <a:srgbClr val="C9D8EE"/>
                </a:solidFill>
              </a:rPr>
              <a:t>employees</a:t>
            </a:r>
            <a:endParaRPr lang="en-US" sz="1300" dirty="0"/>
          </a:p>
        </p:txBody>
      </p:sp>
      <p:sp>
        <p:nvSpPr>
          <p:cNvPr id="21" name="text-43"/>
          <p:cNvSpPr txBox="1"/>
          <p:nvPr/>
        </p:nvSpPr>
        <p:spPr>
          <a:xfrm>
            <a:off x="3200400" y="5074920"/>
            <a:ext cx="2103120" cy="548640"/>
          </a:xfrm>
          <a:prstGeom prst="rect">
            <a:avLst/>
          </a:prstGeom>
          <a:noFill/>
          <a:ln/>
        </p:spPr>
        <p:txBody>
          <a:bodyPr wrap="square" lIns="0" tIns="0" rIns="0" bIns="0" rtlCol="0" anchor="t"/>
          <a:lstStyle/>
          <a:p>
            <a:pPr algn="l" indent="0" marL="0">
              <a:buNone/>
            </a:pPr>
            <a:r>
              <a:rPr lang="en-US" sz="3000" b="1" dirty="0">
                <a:solidFill>
                  <a:schemeClr val="bg1"/>
                </a:solidFill>
              </a:rPr>
              <a:t>9</a:t>
            </a:r>
            <a:endParaRPr lang="en-US" sz="3000" dirty="0"/>
          </a:p>
        </p:txBody>
      </p:sp>
      <p:sp>
        <p:nvSpPr>
          <p:cNvPr id="22" name="text-44"/>
          <p:cNvSpPr txBox="1"/>
          <p:nvPr/>
        </p:nvSpPr>
        <p:spPr>
          <a:xfrm>
            <a:off x="3200400" y="5596128"/>
            <a:ext cx="2194560" cy="365760"/>
          </a:xfrm>
          <a:prstGeom prst="rect">
            <a:avLst/>
          </a:prstGeom>
          <a:noFill/>
          <a:ln/>
        </p:spPr>
        <p:txBody>
          <a:bodyPr wrap="square" lIns="0" tIns="0" rIns="0" bIns="0" rtlCol="0" anchor="t"/>
          <a:lstStyle/>
          <a:p>
            <a:pPr algn="l" indent="0" marL="0">
              <a:buNone/>
            </a:pPr>
            <a:r>
              <a:rPr lang="en-US" sz="1300" dirty="0">
                <a:solidFill>
                  <a:srgbClr val="C9D8EE"/>
                </a:solidFill>
              </a:rPr>
              <a:t>countries</a:t>
            </a:r>
            <a:endParaRPr lang="en-US" sz="1300" dirty="0"/>
          </a:p>
        </p:txBody>
      </p:sp>
      <p:sp>
        <p:nvSpPr>
          <p:cNvPr id="23" name="text-45"/>
          <p:cNvSpPr txBox="1"/>
          <p:nvPr/>
        </p:nvSpPr>
        <p:spPr>
          <a:xfrm>
            <a:off x="5532120" y="5074920"/>
            <a:ext cx="2103120" cy="548640"/>
          </a:xfrm>
          <a:prstGeom prst="rect">
            <a:avLst/>
          </a:prstGeom>
          <a:noFill/>
          <a:ln/>
        </p:spPr>
        <p:txBody>
          <a:bodyPr wrap="square" lIns="0" tIns="0" rIns="0" bIns="0" rtlCol="0" anchor="t"/>
          <a:lstStyle/>
          <a:p>
            <a:pPr algn="l" indent="0" marL="0">
              <a:buNone/>
            </a:pPr>
            <a:r>
              <a:rPr lang="en-US" sz="3000" b="1" dirty="0">
                <a:solidFill>
                  <a:schemeClr val="bg1"/>
                </a:solidFill>
              </a:rPr>
              <a:t>30+</a:t>
            </a:r>
            <a:endParaRPr lang="en-US" sz="3000" dirty="0"/>
          </a:p>
        </p:txBody>
      </p:sp>
      <p:sp>
        <p:nvSpPr>
          <p:cNvPr id="24" name="text-46"/>
          <p:cNvSpPr txBox="1"/>
          <p:nvPr/>
        </p:nvSpPr>
        <p:spPr>
          <a:xfrm>
            <a:off x="5532120" y="5596128"/>
            <a:ext cx="2194560" cy="365760"/>
          </a:xfrm>
          <a:prstGeom prst="rect">
            <a:avLst/>
          </a:prstGeom>
          <a:noFill/>
          <a:ln/>
        </p:spPr>
        <p:txBody>
          <a:bodyPr wrap="square" lIns="0" tIns="0" rIns="0" bIns="0" rtlCol="0" anchor="t"/>
          <a:lstStyle/>
          <a:p>
            <a:pPr algn="l" indent="0" marL="0">
              <a:buNone/>
            </a:pPr>
            <a:r>
              <a:rPr lang="en-US" sz="1300" dirty="0">
                <a:solidFill>
                  <a:srgbClr val="C9D8EE"/>
                </a:solidFill>
              </a:rPr>
              <a:t>client markets</a:t>
            </a:r>
            <a:endParaRPr lang="en-US" sz="1300" dirty="0"/>
          </a:p>
        </p:txBody>
      </p:sp>
      <p:sp>
        <p:nvSpPr>
          <p:cNvPr id="25" name="text-47"/>
          <p:cNvSpPr txBox="1"/>
          <p:nvPr/>
        </p:nvSpPr>
        <p:spPr>
          <a:xfrm>
            <a:off x="7863840" y="5074920"/>
            <a:ext cx="2103120" cy="548640"/>
          </a:xfrm>
          <a:prstGeom prst="rect">
            <a:avLst/>
          </a:prstGeom>
          <a:noFill/>
          <a:ln/>
        </p:spPr>
        <p:txBody>
          <a:bodyPr wrap="square" lIns="0" tIns="0" rIns="0" bIns="0" rtlCol="0" anchor="t"/>
          <a:lstStyle/>
          <a:p>
            <a:pPr algn="l" indent="0" marL="0">
              <a:buNone/>
            </a:pPr>
            <a:r>
              <a:rPr lang="en-US" sz="3000" b="1" dirty="0">
                <a:solidFill>
                  <a:schemeClr val="bg1"/>
                </a:solidFill>
              </a:rPr>
              <a:t>4</a:t>
            </a:r>
            <a:endParaRPr lang="en-US" sz="3000" dirty="0"/>
          </a:p>
        </p:txBody>
      </p:sp>
      <p:sp>
        <p:nvSpPr>
          <p:cNvPr id="26" name="text-48"/>
          <p:cNvSpPr txBox="1"/>
          <p:nvPr/>
        </p:nvSpPr>
        <p:spPr>
          <a:xfrm>
            <a:off x="7863840" y="5596128"/>
            <a:ext cx="2194560" cy="365760"/>
          </a:xfrm>
          <a:prstGeom prst="rect">
            <a:avLst/>
          </a:prstGeom>
          <a:noFill/>
          <a:ln/>
        </p:spPr>
        <p:txBody>
          <a:bodyPr wrap="square" lIns="0" tIns="0" rIns="0" bIns="0" rtlCol="0" anchor="t"/>
          <a:lstStyle/>
          <a:p>
            <a:pPr algn="l" indent="0" marL="0">
              <a:buNone/>
            </a:pPr>
            <a:r>
              <a:rPr lang="en-US" sz="1300" dirty="0">
                <a:solidFill>
                  <a:srgbClr val="C9D8EE"/>
                </a:solidFill>
              </a:rPr>
              <a:t>platforms, 4 permission models</a:t>
            </a:r>
            <a:endParaRPr lang="en-US" sz="1300" dirty="0"/>
          </a:p>
        </p:txBody>
      </p:sp>
      <p:sp>
        <p:nvSpPr>
          <p:cNvPr id="27" name="text-49"/>
          <p:cNvSpPr txBox="1"/>
          <p:nvPr/>
        </p:nvSpPr>
        <p:spPr>
          <a:xfrm>
            <a:off x="9966960" y="5138928"/>
            <a:ext cx="1554480" cy="822960"/>
          </a:xfrm>
          <a:prstGeom prst="rect">
            <a:avLst/>
          </a:prstGeom>
          <a:noFill/>
          <a:ln/>
        </p:spPr>
        <p:txBody>
          <a:bodyPr wrap="square" lIns="0" tIns="0" rIns="0" bIns="0" rtlCol="0" anchor="t"/>
          <a:lstStyle/>
          <a:p>
            <a:pPr algn="l" indent="0" marL="0">
              <a:buNone/>
            </a:pPr>
            <a:r>
              <a:rPr lang="en-US" sz="1100" i="1" dirty="0">
                <a:solidFill>
                  <a:srgbClr val="C9D8EE"/>
                </a:solidFill>
              </a:rPr>
              <a:t>Aspire, per the challenge brief</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Our answer: one governed pipeline, four guarantees on every response</a:t>
            </a:r>
            <a:endParaRPr lang="en-US" sz="2800" dirty="0"/>
          </a:p>
        </p:txBody>
      </p:sp>
      <p:sp>
        <p:nvSpPr>
          <p:cNvPr id="3" name="pillar-50"/>
          <p:cNvSpPr/>
          <p:nvPr/>
        </p:nvSpPr>
        <p:spPr>
          <a:xfrm>
            <a:off x="548640" y="1417320"/>
            <a:ext cx="2606040" cy="3429000"/>
          </a:xfrm>
          <a:prstGeom prst="roundRect">
            <a:avLst>
              <a:gd name="adj" fmla="val 2807"/>
            </a:avLst>
          </a:prstGeom>
          <a:solidFill>
            <a:srgbClr val="E3F5F2"/>
          </a:solidFill>
          <a:ln/>
        </p:spPr>
      </p:sp>
      <p:sp>
        <p:nvSpPr>
          <p:cNvPr id="4" name="icon-bg-51"/>
          <p:cNvSpPr/>
          <p:nvPr/>
        </p:nvSpPr>
        <p:spPr>
          <a:xfrm>
            <a:off x="822960" y="1691640"/>
            <a:ext cx="777240" cy="777240"/>
          </a:xfrm>
          <a:prstGeom prst="ellipse">
            <a:avLst/>
          </a:prstGeom>
          <a:solidFill>
            <a:schemeClr val="accent1"/>
          </a:solidFill>
          <a:ln/>
        </p:spPr>
      </p:sp>
      <p:pic>
        <p:nvPicPr>
          <p:cNvPr id="5" name="icon-52" descr="preencoded.png">    </p:cNvPr>
          <p:cNvPicPr>
            <a:picLocks noChangeAspect="1"/>
          </p:cNvPicPr>
          <p:nvPr/>
        </p:nvPicPr>
        <p:blipFill>
          <a:blip r:embed="rId1"/>
          <a:stretch>
            <a:fillRect/>
          </a:stretch>
        </p:blipFill>
        <p:spPr>
          <a:xfrm>
            <a:off x="993953" y="1862633"/>
            <a:ext cx="435254" cy="435254"/>
          </a:xfrm>
          <a:prstGeom prst="rect">
            <a:avLst/>
          </a:prstGeom>
        </p:spPr>
      </p:pic>
      <p:sp>
        <p:nvSpPr>
          <p:cNvPr id="6" name="text-53"/>
          <p:cNvSpPr txBox="1"/>
          <p:nvPr/>
        </p:nvSpPr>
        <p:spPr>
          <a:xfrm>
            <a:off x="822960" y="2697480"/>
            <a:ext cx="2103120" cy="502920"/>
          </a:xfrm>
          <a:prstGeom prst="rect">
            <a:avLst/>
          </a:prstGeom>
          <a:noFill/>
          <a:ln/>
        </p:spPr>
        <p:txBody>
          <a:bodyPr wrap="square" lIns="0" tIns="0" rIns="0" bIns="0" rtlCol="0" anchor="t"/>
          <a:lstStyle/>
          <a:p>
            <a:pPr algn="l" indent="0" marL="0">
              <a:buNone/>
            </a:pPr>
            <a:r>
              <a:rPr lang="en-US" sz="2400" b="1" dirty="0">
                <a:solidFill>
                  <a:schemeClr val="tx2"/>
                </a:solidFill>
              </a:rPr>
              <a:t>Permitted</a:t>
            </a:r>
            <a:endParaRPr lang="en-US" sz="2400" dirty="0"/>
          </a:p>
        </p:txBody>
      </p:sp>
      <p:sp>
        <p:nvSpPr>
          <p:cNvPr id="7" name="text-54"/>
          <p:cNvSpPr txBox="1"/>
          <p:nvPr/>
        </p:nvSpPr>
        <p:spPr>
          <a:xfrm>
            <a:off x="822960" y="3246120"/>
            <a:ext cx="2103120" cy="2011680"/>
          </a:xfrm>
          <a:prstGeom prst="rect">
            <a:avLst/>
          </a:prstGeom>
          <a:noFill/>
          <a:ln/>
        </p:spPr>
        <p:txBody>
          <a:bodyPr wrap="square" lIns="0" tIns="0" rIns="0" bIns="0" rtlCol="0" anchor="t"/>
          <a:lstStyle/>
          <a:p>
            <a:pPr algn="l" indent="0" marL="0">
              <a:buNone/>
            </a:pPr>
            <a:r>
              <a:rPr lang="en-US" sz="1500" dirty="0">
                <a:solidFill>
                  <a:schemeClr val="tx1"/>
                </a:solidFill>
              </a:rPr>
              <a:t>Native Confluence, Jira, Slack and Drive permissions are checked per document, before any model call.</a:t>
            </a:r>
            <a:endParaRPr lang="en-US" sz="1500" dirty="0"/>
          </a:p>
        </p:txBody>
      </p:sp>
      <p:sp>
        <p:nvSpPr>
          <p:cNvPr id="8" name="pillar-55"/>
          <p:cNvSpPr/>
          <p:nvPr/>
        </p:nvSpPr>
        <p:spPr>
          <a:xfrm>
            <a:off x="3364992" y="1417320"/>
            <a:ext cx="2606040" cy="3429000"/>
          </a:xfrm>
          <a:prstGeom prst="roundRect">
            <a:avLst>
              <a:gd name="adj" fmla="val 2807"/>
            </a:avLst>
          </a:prstGeom>
          <a:solidFill>
            <a:srgbClr val="FDF4E4"/>
          </a:solidFill>
          <a:ln/>
        </p:spPr>
      </p:sp>
      <p:sp>
        <p:nvSpPr>
          <p:cNvPr id="9" name="icon-bg-56"/>
          <p:cNvSpPr/>
          <p:nvPr/>
        </p:nvSpPr>
        <p:spPr>
          <a:xfrm>
            <a:off x="3639312" y="1691640"/>
            <a:ext cx="777240" cy="777240"/>
          </a:xfrm>
          <a:prstGeom prst="ellipse">
            <a:avLst/>
          </a:prstGeom>
          <a:solidFill>
            <a:schemeClr val="accent3"/>
          </a:solidFill>
          <a:ln/>
        </p:spPr>
      </p:sp>
      <p:pic>
        <p:nvPicPr>
          <p:cNvPr id="10" name="icon-57" descr="preencoded.png">    </p:cNvPr>
          <p:cNvPicPr>
            <a:picLocks noChangeAspect="1"/>
          </p:cNvPicPr>
          <p:nvPr/>
        </p:nvPicPr>
        <p:blipFill>
          <a:blip r:embed="rId2"/>
          <a:stretch>
            <a:fillRect/>
          </a:stretch>
        </p:blipFill>
        <p:spPr>
          <a:xfrm>
            <a:off x="3810305" y="1862633"/>
            <a:ext cx="435254" cy="435254"/>
          </a:xfrm>
          <a:prstGeom prst="rect">
            <a:avLst/>
          </a:prstGeom>
        </p:spPr>
      </p:pic>
      <p:sp>
        <p:nvSpPr>
          <p:cNvPr id="11" name="text-58"/>
          <p:cNvSpPr txBox="1"/>
          <p:nvPr/>
        </p:nvSpPr>
        <p:spPr>
          <a:xfrm>
            <a:off x="3639312" y="2697480"/>
            <a:ext cx="2103120" cy="502920"/>
          </a:xfrm>
          <a:prstGeom prst="rect">
            <a:avLst/>
          </a:prstGeom>
          <a:noFill/>
          <a:ln/>
        </p:spPr>
        <p:txBody>
          <a:bodyPr wrap="square" lIns="0" tIns="0" rIns="0" bIns="0" rtlCol="0" anchor="t"/>
          <a:lstStyle/>
          <a:p>
            <a:pPr algn="l" indent="0" marL="0">
              <a:buNone/>
            </a:pPr>
            <a:r>
              <a:rPr lang="en-US" sz="2400" b="1" dirty="0">
                <a:solidFill>
                  <a:schemeClr val="tx2"/>
                </a:solidFill>
              </a:rPr>
              <a:t>Fresh</a:t>
            </a:r>
            <a:endParaRPr lang="en-US" sz="2400" dirty="0"/>
          </a:p>
        </p:txBody>
      </p:sp>
      <p:sp>
        <p:nvSpPr>
          <p:cNvPr id="12" name="text-59"/>
          <p:cNvSpPr txBox="1"/>
          <p:nvPr/>
        </p:nvSpPr>
        <p:spPr>
          <a:xfrm>
            <a:off x="3639312" y="3246120"/>
            <a:ext cx="2103120" cy="2011680"/>
          </a:xfrm>
          <a:prstGeom prst="rect">
            <a:avLst/>
          </a:prstGeom>
          <a:noFill/>
          <a:ln/>
        </p:spPr>
        <p:txBody>
          <a:bodyPr wrap="square" lIns="0" tIns="0" rIns="0" bIns="0" rtlCol="0" anchor="t"/>
          <a:lstStyle/>
          <a:p>
            <a:pPr algn="l" indent="0" marL="0">
              <a:buNone/>
            </a:pPr>
            <a:r>
              <a:rPr lang="en-US" sz="1500" dirty="0">
                <a:solidFill>
                  <a:schemeClr val="tx1"/>
                </a:solidFill>
              </a:rPr>
              <a:t>Critical evidence is live-verified at the source. Stale versions are omitted, never shown as current.</a:t>
            </a:r>
            <a:endParaRPr lang="en-US" sz="1500" dirty="0"/>
          </a:p>
        </p:txBody>
      </p:sp>
      <p:sp>
        <p:nvSpPr>
          <p:cNvPr id="13" name="pillar-60"/>
          <p:cNvSpPr/>
          <p:nvPr/>
        </p:nvSpPr>
        <p:spPr>
          <a:xfrm>
            <a:off x="6181344" y="1417320"/>
            <a:ext cx="2606040" cy="3429000"/>
          </a:xfrm>
          <a:prstGeom prst="roundRect">
            <a:avLst>
              <a:gd name="adj" fmla="val 2807"/>
            </a:avLst>
          </a:prstGeom>
          <a:solidFill>
            <a:srgbClr val="E8F0FC"/>
          </a:solidFill>
          <a:ln/>
        </p:spPr>
      </p:sp>
      <p:sp>
        <p:nvSpPr>
          <p:cNvPr id="14" name="icon-bg-61"/>
          <p:cNvSpPr/>
          <p:nvPr/>
        </p:nvSpPr>
        <p:spPr>
          <a:xfrm>
            <a:off x="6455664" y="1691640"/>
            <a:ext cx="777240" cy="777240"/>
          </a:xfrm>
          <a:prstGeom prst="ellipse">
            <a:avLst/>
          </a:prstGeom>
          <a:solidFill>
            <a:schemeClr val="accent4"/>
          </a:solidFill>
          <a:ln/>
        </p:spPr>
      </p:sp>
      <p:pic>
        <p:nvPicPr>
          <p:cNvPr id="15" name="icon-62" descr="preencoded.png">    </p:cNvPr>
          <p:cNvPicPr>
            <a:picLocks noChangeAspect="1"/>
          </p:cNvPicPr>
          <p:nvPr/>
        </p:nvPicPr>
        <p:blipFill>
          <a:blip r:embed="rId3"/>
          <a:stretch>
            <a:fillRect/>
          </a:stretch>
        </p:blipFill>
        <p:spPr>
          <a:xfrm>
            <a:off x="6626657" y="1862633"/>
            <a:ext cx="435254" cy="435254"/>
          </a:xfrm>
          <a:prstGeom prst="rect">
            <a:avLst/>
          </a:prstGeom>
        </p:spPr>
      </p:pic>
      <p:sp>
        <p:nvSpPr>
          <p:cNvPr id="16" name="text-63"/>
          <p:cNvSpPr txBox="1"/>
          <p:nvPr/>
        </p:nvSpPr>
        <p:spPr>
          <a:xfrm>
            <a:off x="6455664" y="2697480"/>
            <a:ext cx="2103120" cy="502920"/>
          </a:xfrm>
          <a:prstGeom prst="rect">
            <a:avLst/>
          </a:prstGeom>
          <a:noFill/>
          <a:ln/>
        </p:spPr>
        <p:txBody>
          <a:bodyPr wrap="square" lIns="0" tIns="0" rIns="0" bIns="0" rtlCol="0" anchor="t"/>
          <a:lstStyle/>
          <a:p>
            <a:pPr algn="l" indent="0" marL="0">
              <a:buNone/>
            </a:pPr>
            <a:r>
              <a:rPr lang="en-US" sz="2400" b="1" dirty="0">
                <a:solidFill>
                  <a:schemeClr val="tx2"/>
                </a:solidFill>
              </a:rPr>
              <a:t>Grounded</a:t>
            </a:r>
            <a:endParaRPr lang="en-US" sz="2400" dirty="0"/>
          </a:p>
        </p:txBody>
      </p:sp>
      <p:sp>
        <p:nvSpPr>
          <p:cNvPr id="17" name="text-64"/>
          <p:cNvSpPr txBox="1"/>
          <p:nvPr/>
        </p:nvSpPr>
        <p:spPr>
          <a:xfrm>
            <a:off x="6455664" y="3246120"/>
            <a:ext cx="2103120" cy="2011680"/>
          </a:xfrm>
          <a:prstGeom prst="rect">
            <a:avLst/>
          </a:prstGeom>
          <a:noFill/>
          <a:ln/>
        </p:spPr>
        <p:txBody>
          <a:bodyPr wrap="square" lIns="0" tIns="0" rIns="0" bIns="0" rtlCol="0" anchor="t"/>
          <a:lstStyle/>
          <a:p>
            <a:pPr algn="l" indent="0" marL="0">
              <a:buNone/>
            </a:pPr>
            <a:r>
              <a:rPr lang="en-US" sz="1500" dirty="0">
                <a:solidFill>
                  <a:schemeClr val="tx1"/>
                </a:solidFill>
              </a:rPr>
              <a:t>Every claim is checked against its cited evidence, numbers and dates included. Below the bar, the system abstains rather than guesses.</a:t>
            </a:r>
            <a:endParaRPr lang="en-US" sz="1500" dirty="0"/>
          </a:p>
        </p:txBody>
      </p:sp>
      <p:sp>
        <p:nvSpPr>
          <p:cNvPr id="18" name="pillar-65"/>
          <p:cNvSpPr/>
          <p:nvPr/>
        </p:nvSpPr>
        <p:spPr>
          <a:xfrm>
            <a:off x="8997696" y="1417320"/>
            <a:ext cx="2606040" cy="3429000"/>
          </a:xfrm>
          <a:prstGeom prst="roundRect">
            <a:avLst>
              <a:gd name="adj" fmla="val 2807"/>
            </a:avLst>
          </a:prstGeom>
          <a:solidFill>
            <a:srgbClr val="EFEBFB"/>
          </a:solidFill>
          <a:ln/>
        </p:spPr>
      </p:sp>
      <p:sp>
        <p:nvSpPr>
          <p:cNvPr id="19" name="icon-bg-66"/>
          <p:cNvSpPr/>
          <p:nvPr/>
        </p:nvSpPr>
        <p:spPr>
          <a:xfrm>
            <a:off x="9272016" y="1691640"/>
            <a:ext cx="777240" cy="777240"/>
          </a:xfrm>
          <a:prstGeom prst="ellipse">
            <a:avLst/>
          </a:prstGeom>
          <a:solidFill>
            <a:schemeClr val="accent5"/>
          </a:solidFill>
          <a:ln/>
        </p:spPr>
      </p:sp>
      <p:pic>
        <p:nvPicPr>
          <p:cNvPr id="20" name="icon-67" descr="preencoded.png">    </p:cNvPr>
          <p:cNvPicPr>
            <a:picLocks noChangeAspect="1"/>
          </p:cNvPicPr>
          <p:nvPr/>
        </p:nvPicPr>
        <p:blipFill>
          <a:blip r:embed="rId4"/>
          <a:stretch>
            <a:fillRect/>
          </a:stretch>
        </p:blipFill>
        <p:spPr>
          <a:xfrm>
            <a:off x="9443009" y="1862633"/>
            <a:ext cx="435254" cy="435254"/>
          </a:xfrm>
          <a:prstGeom prst="rect">
            <a:avLst/>
          </a:prstGeom>
        </p:spPr>
      </p:pic>
      <p:sp>
        <p:nvSpPr>
          <p:cNvPr id="21" name="text-68"/>
          <p:cNvSpPr txBox="1"/>
          <p:nvPr/>
        </p:nvSpPr>
        <p:spPr>
          <a:xfrm>
            <a:off x="9272016" y="2697480"/>
            <a:ext cx="2103120" cy="502920"/>
          </a:xfrm>
          <a:prstGeom prst="rect">
            <a:avLst/>
          </a:prstGeom>
          <a:noFill/>
          <a:ln/>
        </p:spPr>
        <p:txBody>
          <a:bodyPr wrap="square" lIns="0" tIns="0" rIns="0" bIns="0" rtlCol="0" anchor="t"/>
          <a:lstStyle/>
          <a:p>
            <a:pPr algn="l" indent="0" marL="0">
              <a:buNone/>
            </a:pPr>
            <a:r>
              <a:rPr lang="en-US" sz="2400" b="1" dirty="0">
                <a:solidFill>
                  <a:schemeClr val="tx2"/>
                </a:solidFill>
              </a:rPr>
              <a:t>Audited</a:t>
            </a:r>
            <a:endParaRPr lang="en-US" sz="2400" dirty="0"/>
          </a:p>
        </p:txBody>
      </p:sp>
      <p:sp>
        <p:nvSpPr>
          <p:cNvPr id="22" name="text-69"/>
          <p:cNvSpPr txBox="1"/>
          <p:nvPr/>
        </p:nvSpPr>
        <p:spPr>
          <a:xfrm>
            <a:off x="9272016" y="3246120"/>
            <a:ext cx="2103120" cy="2011680"/>
          </a:xfrm>
          <a:prstGeom prst="rect">
            <a:avLst/>
          </a:prstGeom>
          <a:noFill/>
          <a:ln/>
        </p:spPr>
        <p:txBody>
          <a:bodyPr wrap="square" lIns="0" tIns="0" rIns="0" bIns="0" rtlCol="0" anchor="t"/>
          <a:lstStyle/>
          <a:p>
            <a:pPr algn="l" indent="0" marL="0">
              <a:buNone/>
            </a:pPr>
            <a:r>
              <a:rPr lang="en-US" sz="1500" dirty="0">
                <a:solidFill>
                  <a:schemeClr val="tx1"/>
                </a:solidFill>
              </a:rPr>
              <a:t>A hash-chained record of the asker, retrieved IDs, every allow/deny decision and the final answer.</a:t>
            </a:r>
            <a:endParaRPr lang="en-US" sz="1500" dirty="0"/>
          </a:p>
        </p:txBody>
      </p:sp>
      <p:sp>
        <p:nvSpPr>
          <p:cNvPr id="23" name="text-70"/>
          <p:cNvSpPr txBox="1"/>
          <p:nvPr/>
        </p:nvSpPr>
        <p:spPr>
          <a:xfrm>
            <a:off x="548640" y="5074920"/>
            <a:ext cx="11064240" cy="548640"/>
          </a:xfrm>
          <a:prstGeom prst="rect">
            <a:avLst/>
          </a:prstGeom>
          <a:noFill/>
          <a:ln/>
        </p:spPr>
        <p:txBody>
          <a:bodyPr wrap="square" lIns="0" tIns="0" rIns="0" bIns="0" rtlCol="0" anchor="t"/>
          <a:lstStyle/>
          <a:p>
            <a:pPr algn="l" indent="0" marL="0">
              <a:buNone/>
            </a:pPr>
            <a:r>
              <a:rPr lang="en-US" sz="1500" b="1" dirty="0">
                <a:solidFill>
                  <a:schemeClr val="tx2"/>
                </a:solidFill>
              </a:rPr>
              <a:t>One pipeline, three front doors: </a:t>
            </a:r>
            <a:pPr algn="l" indent="0" marL="0">
              <a:buNone/>
            </a:pPr>
            <a:r>
              <a:rPr lang="en-US" sz="1500" dirty="0">
                <a:solidFill>
                  <a:schemeClr val="tx1"/>
                </a:solidFill>
              </a:rPr>
              <a:t>the web app, the REST API and MCP tools for AI agents all run the same checks, so there is no back door around them.</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Restricted evidence never reaches the language model</a:t>
            </a:r>
            <a:endParaRPr lang="en-US" sz="2800" dirty="0"/>
          </a:p>
        </p:txBody>
      </p:sp>
      <p:sp>
        <p:nvSpPr>
          <p:cNvPr id="3" name="zone-untrusted-71"/>
          <p:cNvSpPr/>
          <p:nvPr/>
        </p:nvSpPr>
        <p:spPr>
          <a:xfrm>
            <a:off x="292608" y="1463040"/>
            <a:ext cx="1609344" cy="1755648"/>
          </a:xfrm>
          <a:prstGeom prst="roundRect">
            <a:avLst>
              <a:gd name="adj" fmla="val 3409"/>
            </a:avLst>
          </a:prstGeom>
          <a:solidFill>
            <a:schemeClr val="bg1"/>
          </a:solidFill>
          <a:ln w="12700">
            <a:solidFill>
              <a:schemeClr val="accent6"/>
            </a:solidFill>
            <a:prstDash val="dash"/>
          </a:ln>
        </p:spPr>
      </p:sp>
      <p:sp>
        <p:nvSpPr>
          <p:cNvPr id="4" name="text-72"/>
          <p:cNvSpPr txBox="1"/>
          <p:nvPr/>
        </p:nvSpPr>
        <p:spPr>
          <a:xfrm>
            <a:off x="292608" y="1499616"/>
            <a:ext cx="1609344" cy="228600"/>
          </a:xfrm>
          <a:prstGeom prst="rect">
            <a:avLst/>
          </a:prstGeom>
          <a:noFill/>
          <a:ln/>
        </p:spPr>
        <p:txBody>
          <a:bodyPr wrap="square" lIns="0" tIns="0" rIns="0" bIns="0" rtlCol="0" anchor="t"/>
          <a:lstStyle/>
          <a:p>
            <a:pPr algn="ctr" indent="0" marL="0">
              <a:buNone/>
            </a:pPr>
            <a:r>
              <a:rPr lang="en-US" sz="1000" b="1" dirty="0">
                <a:solidFill>
                  <a:schemeClr val="accent6"/>
                </a:solidFill>
              </a:rPr>
              <a:t>UNTRUSTED</a:t>
            </a:r>
            <a:endParaRPr lang="en-US" sz="1000" dirty="0"/>
          </a:p>
        </p:txBody>
      </p:sp>
      <p:sp>
        <p:nvSpPr>
          <p:cNvPr id="5" name="zone-server-73"/>
          <p:cNvSpPr/>
          <p:nvPr/>
        </p:nvSpPr>
        <p:spPr>
          <a:xfrm>
            <a:off x="1965960" y="1463040"/>
            <a:ext cx="6629400" cy="1755648"/>
          </a:xfrm>
          <a:prstGeom prst="roundRect">
            <a:avLst>
              <a:gd name="adj" fmla="val 3125"/>
            </a:avLst>
          </a:prstGeom>
          <a:solidFill>
            <a:srgbClr val="EEF3F8"/>
          </a:solidFill>
          <a:ln/>
        </p:spPr>
      </p:sp>
      <p:sp>
        <p:nvSpPr>
          <p:cNvPr id="6" name="text-74"/>
          <p:cNvSpPr txBox="1"/>
          <p:nvPr/>
        </p:nvSpPr>
        <p:spPr>
          <a:xfrm>
            <a:off x="2057400" y="1499616"/>
            <a:ext cx="4572000" cy="228600"/>
          </a:xfrm>
          <a:prstGeom prst="rect">
            <a:avLst/>
          </a:prstGeom>
          <a:noFill/>
          <a:ln/>
        </p:spPr>
        <p:txBody>
          <a:bodyPr wrap="square" lIns="0" tIns="0" rIns="0" bIns="0" rtlCol="0" anchor="t"/>
          <a:lstStyle/>
          <a:p>
            <a:pPr algn="l" indent="0" marL="0">
              <a:buNone/>
            </a:pPr>
            <a:r>
              <a:rPr lang="en-US" sz="1000" b="1" dirty="0">
                <a:solidFill>
                  <a:schemeClr val="tx2"/>
                </a:solidFill>
              </a:rPr>
              <a:t>TRUSTED SERVER  ·  governed pipeline</a:t>
            </a:r>
            <a:endParaRPr lang="en-US" sz="1000" dirty="0"/>
          </a:p>
        </p:txBody>
      </p:sp>
      <p:sp>
        <p:nvSpPr>
          <p:cNvPr id="7" name="zone-model-75"/>
          <p:cNvSpPr/>
          <p:nvPr/>
        </p:nvSpPr>
        <p:spPr>
          <a:xfrm>
            <a:off x="8659368" y="1463040"/>
            <a:ext cx="1609344" cy="1755648"/>
          </a:xfrm>
          <a:prstGeom prst="roundRect">
            <a:avLst>
              <a:gd name="adj" fmla="val 3409"/>
            </a:avLst>
          </a:prstGeom>
          <a:solidFill>
            <a:srgbClr val="EFEBFB"/>
          </a:solidFill>
          <a:ln w="12700">
            <a:solidFill>
              <a:schemeClr val="accent5"/>
            </a:solidFill>
            <a:prstDash val="dash"/>
          </a:ln>
        </p:spPr>
      </p:sp>
      <p:sp>
        <p:nvSpPr>
          <p:cNvPr id="8" name="text-76"/>
          <p:cNvSpPr txBox="1"/>
          <p:nvPr/>
        </p:nvSpPr>
        <p:spPr>
          <a:xfrm>
            <a:off x="8659368" y="1499616"/>
            <a:ext cx="1609344" cy="228600"/>
          </a:xfrm>
          <a:prstGeom prst="rect">
            <a:avLst/>
          </a:prstGeom>
          <a:noFill/>
          <a:ln/>
        </p:spPr>
        <p:txBody>
          <a:bodyPr wrap="square" lIns="0" tIns="0" rIns="0" bIns="0" rtlCol="0" anchor="t"/>
          <a:lstStyle/>
          <a:p>
            <a:pPr algn="ctr" indent="0" marL="0">
              <a:buNone/>
            </a:pPr>
            <a:r>
              <a:rPr lang="en-US" sz="1000" b="1" dirty="0">
                <a:solidFill>
                  <a:schemeClr val="accent5"/>
                </a:solidFill>
              </a:rPr>
              <a:t>MODEL ZONE</a:t>
            </a:r>
            <a:endParaRPr lang="en-US" sz="1000" dirty="0"/>
          </a:p>
        </p:txBody>
      </p:sp>
      <p:sp>
        <p:nvSpPr>
          <p:cNvPr id="9" name="zone-server-2-77"/>
          <p:cNvSpPr/>
          <p:nvPr/>
        </p:nvSpPr>
        <p:spPr>
          <a:xfrm>
            <a:off x="10332720" y="1463040"/>
            <a:ext cx="1609344" cy="1755648"/>
          </a:xfrm>
          <a:prstGeom prst="roundRect">
            <a:avLst>
              <a:gd name="adj" fmla="val 3409"/>
            </a:avLst>
          </a:prstGeom>
          <a:solidFill>
            <a:srgbClr val="EEF3F8"/>
          </a:solidFill>
          <a:ln/>
        </p:spPr>
      </p:sp>
      <p:sp>
        <p:nvSpPr>
          <p:cNvPr id="10" name="text-78"/>
          <p:cNvSpPr txBox="1"/>
          <p:nvPr/>
        </p:nvSpPr>
        <p:spPr>
          <a:xfrm>
            <a:off x="10332720" y="1499616"/>
            <a:ext cx="1609344" cy="228600"/>
          </a:xfrm>
          <a:prstGeom prst="rect">
            <a:avLst/>
          </a:prstGeom>
          <a:noFill/>
          <a:ln/>
        </p:spPr>
        <p:txBody>
          <a:bodyPr wrap="square" lIns="0" tIns="0" rIns="0" bIns="0" rtlCol="0" anchor="t"/>
          <a:lstStyle/>
          <a:p>
            <a:pPr algn="ctr" indent="0" marL="0">
              <a:buNone/>
            </a:pPr>
            <a:r>
              <a:rPr lang="en-US" sz="1000" b="1" dirty="0">
                <a:solidFill>
                  <a:schemeClr val="tx2"/>
                </a:solidFill>
              </a:rPr>
              <a:t>TRUSTED SERVER</a:t>
            </a:r>
            <a:endParaRPr lang="en-US" sz="1000" dirty="0"/>
          </a:p>
        </p:txBody>
      </p:sp>
      <p:sp>
        <p:nvSpPr>
          <p:cNvPr id="11" name="step-79"/>
          <p:cNvSpPr/>
          <p:nvPr/>
        </p:nvSpPr>
        <p:spPr>
          <a:xfrm>
            <a:off x="411480" y="1874520"/>
            <a:ext cx="1371600" cy="1207008"/>
          </a:xfrm>
          <a:prstGeom prst="roundRect">
            <a:avLst>
              <a:gd name="adj" fmla="val 6061"/>
            </a:avLst>
          </a:prstGeom>
          <a:solidFill>
            <a:schemeClr val="bg1"/>
          </a:solidFill>
          <a:ln w="15875">
            <a:solidFill>
              <a:schemeClr val="accent6"/>
            </a:solidFill>
            <a:prstDash val="solid"/>
          </a:ln>
        </p:spPr>
      </p:sp>
      <p:sp>
        <p:nvSpPr>
          <p:cNvPr id="12" name="text-80"/>
          <p:cNvSpPr txBox="1"/>
          <p:nvPr/>
        </p:nvSpPr>
        <p:spPr>
          <a:xfrm>
            <a:off x="502920" y="1965960"/>
            <a:ext cx="1188720" cy="292608"/>
          </a:xfrm>
          <a:prstGeom prst="rect">
            <a:avLst/>
          </a:prstGeom>
          <a:noFill/>
          <a:ln/>
        </p:spPr>
        <p:txBody>
          <a:bodyPr wrap="square" lIns="0" tIns="0" rIns="0" bIns="0" rtlCol="0" anchor="t"/>
          <a:lstStyle/>
          <a:p>
            <a:pPr algn="l" indent="0" marL="0">
              <a:buNone/>
            </a:pPr>
            <a:r>
              <a:rPr lang="en-US" sz="1300" b="1" dirty="0">
                <a:solidFill>
                  <a:schemeClr val="tx2"/>
                </a:solidFill>
              </a:rPr>
              <a:t>Asker</a:t>
            </a:r>
            <a:endParaRPr lang="en-US" sz="1300" dirty="0"/>
          </a:p>
        </p:txBody>
      </p:sp>
      <p:sp>
        <p:nvSpPr>
          <p:cNvPr id="13" name="text-81"/>
          <p:cNvSpPr txBox="1"/>
          <p:nvPr/>
        </p:nvSpPr>
        <p:spPr>
          <a:xfrm>
            <a:off x="502920" y="2286000"/>
            <a:ext cx="1188720" cy="749808"/>
          </a:xfrm>
          <a:prstGeom prst="rect">
            <a:avLst/>
          </a:prstGeom>
          <a:noFill/>
          <a:ln/>
        </p:spPr>
        <p:txBody>
          <a:bodyPr wrap="square" lIns="0" tIns="0" rIns="0" bIns="0" rtlCol="0" anchor="t"/>
          <a:lstStyle/>
          <a:p>
            <a:pPr algn="l" indent="0" marL="0">
              <a:buNone/>
            </a:pPr>
            <a:r>
              <a:rPr lang="en-US" sz="1100" dirty="0">
                <a:solidFill>
                  <a:schemeClr val="tx1"/>
                </a:solidFill>
              </a:rPr>
              <a:t>Employee, contractor, auditor or agent</a:t>
            </a:r>
            <a:endParaRPr lang="en-US" sz="1100" dirty="0"/>
          </a:p>
        </p:txBody>
      </p:sp>
      <p:sp>
        <p:nvSpPr>
          <p:cNvPr id="14" name="arrow-82"/>
          <p:cNvSpPr/>
          <p:nvPr/>
        </p:nvSpPr>
        <p:spPr>
          <a:xfrm>
            <a:off x="1783080" y="2478024"/>
            <a:ext cx="301752" cy="91"/>
          </a:xfrm>
          <a:prstGeom prst="line">
            <a:avLst/>
          </a:prstGeom>
          <a:noFill/>
          <a:ln w="22225">
            <a:solidFill>
              <a:schemeClr val="accent6"/>
            </a:solidFill>
            <a:prstDash val="solid"/>
            <a:tailEnd type="triangle"/>
          </a:ln>
        </p:spPr>
      </p:sp>
      <p:sp>
        <p:nvSpPr>
          <p:cNvPr id="15" name="step-83"/>
          <p:cNvSpPr/>
          <p:nvPr/>
        </p:nvSpPr>
        <p:spPr>
          <a:xfrm>
            <a:off x="2084832" y="1874520"/>
            <a:ext cx="1371600" cy="1207008"/>
          </a:xfrm>
          <a:prstGeom prst="roundRect">
            <a:avLst>
              <a:gd name="adj" fmla="val 6061"/>
            </a:avLst>
          </a:prstGeom>
          <a:solidFill>
            <a:schemeClr val="bg1"/>
          </a:solidFill>
          <a:ln w="15875">
            <a:solidFill>
              <a:schemeClr val="accent4"/>
            </a:solidFill>
            <a:prstDash val="solid"/>
          </a:ln>
        </p:spPr>
      </p:sp>
      <p:sp>
        <p:nvSpPr>
          <p:cNvPr id="16" name="text-84"/>
          <p:cNvSpPr txBox="1"/>
          <p:nvPr/>
        </p:nvSpPr>
        <p:spPr>
          <a:xfrm>
            <a:off x="2176272" y="1965960"/>
            <a:ext cx="1188720" cy="292608"/>
          </a:xfrm>
          <a:prstGeom prst="rect">
            <a:avLst/>
          </a:prstGeom>
          <a:noFill/>
          <a:ln/>
        </p:spPr>
        <p:txBody>
          <a:bodyPr wrap="square" lIns="0" tIns="0" rIns="0" bIns="0" rtlCol="0" anchor="t"/>
          <a:lstStyle/>
          <a:p>
            <a:pPr algn="l" indent="0" marL="0">
              <a:buNone/>
            </a:pPr>
            <a:r>
              <a:rPr lang="en-US" sz="1300" b="1" dirty="0">
                <a:solidFill>
                  <a:schemeClr val="tx2"/>
                </a:solidFill>
              </a:rPr>
              <a:t>① Identity</a:t>
            </a:r>
            <a:endParaRPr lang="en-US" sz="1300" dirty="0"/>
          </a:p>
        </p:txBody>
      </p:sp>
      <p:sp>
        <p:nvSpPr>
          <p:cNvPr id="17" name="text-85"/>
          <p:cNvSpPr txBox="1"/>
          <p:nvPr/>
        </p:nvSpPr>
        <p:spPr>
          <a:xfrm>
            <a:off x="2176272" y="2286000"/>
            <a:ext cx="1188720" cy="749808"/>
          </a:xfrm>
          <a:prstGeom prst="rect">
            <a:avLst/>
          </a:prstGeom>
          <a:noFill/>
          <a:ln/>
        </p:spPr>
        <p:txBody>
          <a:bodyPr wrap="square" lIns="0" tIns="0" rIns="0" bIns="0" rtlCol="0" anchor="t"/>
          <a:lstStyle/>
          <a:p>
            <a:pPr algn="l" indent="0" marL="0">
              <a:buNone/>
            </a:pPr>
            <a:r>
              <a:rPr lang="en-US" sz="1100" dirty="0">
                <a:solidFill>
                  <a:schemeClr val="tx1"/>
                </a:solidFill>
              </a:rPr>
              <a:t>Resolved server-side; demo personas, SSO in production</a:t>
            </a:r>
            <a:endParaRPr lang="en-US" sz="1100" dirty="0"/>
          </a:p>
        </p:txBody>
      </p:sp>
      <p:sp>
        <p:nvSpPr>
          <p:cNvPr id="18" name="arrow-86"/>
          <p:cNvSpPr/>
          <p:nvPr/>
        </p:nvSpPr>
        <p:spPr>
          <a:xfrm>
            <a:off x="3456432" y="2478024"/>
            <a:ext cx="301752" cy="91"/>
          </a:xfrm>
          <a:prstGeom prst="line">
            <a:avLst/>
          </a:prstGeom>
          <a:noFill/>
          <a:ln w="22225">
            <a:solidFill>
              <a:schemeClr val="accent6"/>
            </a:solidFill>
            <a:prstDash val="solid"/>
            <a:tailEnd type="triangle"/>
          </a:ln>
        </p:spPr>
      </p:sp>
      <p:sp>
        <p:nvSpPr>
          <p:cNvPr id="19" name="step-87"/>
          <p:cNvSpPr/>
          <p:nvPr/>
        </p:nvSpPr>
        <p:spPr>
          <a:xfrm>
            <a:off x="3758184" y="1874520"/>
            <a:ext cx="1371600" cy="1207008"/>
          </a:xfrm>
          <a:prstGeom prst="roundRect">
            <a:avLst>
              <a:gd name="adj" fmla="val 6061"/>
            </a:avLst>
          </a:prstGeom>
          <a:solidFill>
            <a:schemeClr val="bg1"/>
          </a:solidFill>
          <a:ln w="15875">
            <a:solidFill>
              <a:schemeClr val="accent4"/>
            </a:solidFill>
            <a:prstDash val="solid"/>
          </a:ln>
        </p:spPr>
      </p:sp>
      <p:sp>
        <p:nvSpPr>
          <p:cNvPr id="20" name="text-88"/>
          <p:cNvSpPr txBox="1"/>
          <p:nvPr/>
        </p:nvSpPr>
        <p:spPr>
          <a:xfrm>
            <a:off x="3849624" y="1965960"/>
            <a:ext cx="1188720" cy="292608"/>
          </a:xfrm>
          <a:prstGeom prst="rect">
            <a:avLst/>
          </a:prstGeom>
          <a:noFill/>
          <a:ln/>
        </p:spPr>
        <p:txBody>
          <a:bodyPr wrap="square" lIns="0" tIns="0" rIns="0" bIns="0" rtlCol="0" anchor="t"/>
          <a:lstStyle/>
          <a:p>
            <a:pPr algn="l" indent="0" marL="0">
              <a:buNone/>
            </a:pPr>
            <a:r>
              <a:rPr lang="en-US" sz="1300" b="1" dirty="0">
                <a:solidFill>
                  <a:schemeClr val="tx2"/>
                </a:solidFill>
              </a:rPr>
              <a:t>② Search</a:t>
            </a:r>
            <a:endParaRPr lang="en-US" sz="1300" dirty="0"/>
          </a:p>
        </p:txBody>
      </p:sp>
      <p:sp>
        <p:nvSpPr>
          <p:cNvPr id="21" name="text-89"/>
          <p:cNvSpPr txBox="1"/>
          <p:nvPr/>
        </p:nvSpPr>
        <p:spPr>
          <a:xfrm>
            <a:off x="3849624" y="2286000"/>
            <a:ext cx="1188720" cy="749808"/>
          </a:xfrm>
          <a:prstGeom prst="rect">
            <a:avLst/>
          </a:prstGeom>
          <a:noFill/>
          <a:ln/>
        </p:spPr>
        <p:txBody>
          <a:bodyPr wrap="square" lIns="0" tIns="0" rIns="0" bIns="0" rtlCol="0" anchor="t"/>
          <a:lstStyle/>
          <a:p>
            <a:pPr algn="l" indent="0" marL="0">
              <a:buNone/>
            </a:pPr>
            <a:r>
              <a:rPr lang="en-US" sz="1100" dirty="0">
                <a:solidFill>
                  <a:schemeClr val="tx1"/>
                </a:solidFill>
              </a:rPr>
              <a:t>Hybrid keyword + vector search across all four sources</a:t>
            </a:r>
            <a:endParaRPr lang="en-US" sz="1100" dirty="0"/>
          </a:p>
        </p:txBody>
      </p:sp>
      <p:sp>
        <p:nvSpPr>
          <p:cNvPr id="22" name="arrow-90"/>
          <p:cNvSpPr/>
          <p:nvPr/>
        </p:nvSpPr>
        <p:spPr>
          <a:xfrm>
            <a:off x="5129784" y="2478024"/>
            <a:ext cx="301752" cy="91"/>
          </a:xfrm>
          <a:prstGeom prst="line">
            <a:avLst/>
          </a:prstGeom>
          <a:noFill/>
          <a:ln w="22225">
            <a:solidFill>
              <a:schemeClr val="accent6"/>
            </a:solidFill>
            <a:prstDash val="solid"/>
            <a:tailEnd type="triangle"/>
          </a:ln>
        </p:spPr>
      </p:sp>
      <p:sp>
        <p:nvSpPr>
          <p:cNvPr id="23" name="step-91"/>
          <p:cNvSpPr/>
          <p:nvPr/>
        </p:nvSpPr>
        <p:spPr>
          <a:xfrm>
            <a:off x="5431536" y="1874520"/>
            <a:ext cx="1371600" cy="1207008"/>
          </a:xfrm>
          <a:prstGeom prst="roundRect">
            <a:avLst>
              <a:gd name="adj" fmla="val 6061"/>
            </a:avLst>
          </a:prstGeom>
          <a:solidFill>
            <a:srgbClr val="E3F5F2"/>
          </a:solidFill>
          <a:ln w="28575">
            <a:solidFill>
              <a:schemeClr val="accent1"/>
            </a:solidFill>
            <a:prstDash val="solid"/>
          </a:ln>
        </p:spPr>
      </p:sp>
      <p:sp>
        <p:nvSpPr>
          <p:cNvPr id="24" name="text-92"/>
          <p:cNvSpPr txBox="1"/>
          <p:nvPr/>
        </p:nvSpPr>
        <p:spPr>
          <a:xfrm>
            <a:off x="5522976" y="1965960"/>
            <a:ext cx="1188720" cy="292608"/>
          </a:xfrm>
          <a:prstGeom prst="rect">
            <a:avLst/>
          </a:prstGeom>
          <a:noFill/>
          <a:ln/>
        </p:spPr>
        <p:txBody>
          <a:bodyPr wrap="square" lIns="0" tIns="0" rIns="0" bIns="0" rtlCol="0" anchor="t"/>
          <a:lstStyle/>
          <a:p>
            <a:pPr algn="l" indent="0" marL="0">
              <a:buNone/>
            </a:pPr>
            <a:r>
              <a:rPr lang="en-US" sz="1300" b="1" dirty="0">
                <a:solidFill>
                  <a:schemeClr val="tx2"/>
                </a:solidFill>
              </a:rPr>
              <a:t>③ Access gate</a:t>
            </a:r>
            <a:endParaRPr lang="en-US" sz="1300" dirty="0"/>
          </a:p>
        </p:txBody>
      </p:sp>
      <p:sp>
        <p:nvSpPr>
          <p:cNvPr id="25" name="text-93"/>
          <p:cNvSpPr txBox="1"/>
          <p:nvPr/>
        </p:nvSpPr>
        <p:spPr>
          <a:xfrm>
            <a:off x="5522976" y="2286000"/>
            <a:ext cx="1188720" cy="749808"/>
          </a:xfrm>
          <a:prstGeom prst="rect">
            <a:avLst/>
          </a:prstGeom>
          <a:noFill/>
          <a:ln/>
        </p:spPr>
        <p:txBody>
          <a:bodyPr wrap="square" lIns="0" tIns="0" rIns="0" bIns="0" rtlCol="0" anchor="t"/>
          <a:lstStyle/>
          <a:p>
            <a:pPr algn="l" indent="0" marL="0">
              <a:buNone/>
            </a:pPr>
            <a:r>
              <a:rPr lang="en-US" sz="1100" dirty="0">
                <a:solidFill>
                  <a:schemeClr val="tx1"/>
                </a:solidFill>
              </a:rPr>
              <a:t>Allow/deny per document; permissions under 5 min old</a:t>
            </a:r>
            <a:endParaRPr lang="en-US" sz="1100" dirty="0"/>
          </a:p>
        </p:txBody>
      </p:sp>
      <p:sp>
        <p:nvSpPr>
          <p:cNvPr id="26" name="arrow-94"/>
          <p:cNvSpPr/>
          <p:nvPr/>
        </p:nvSpPr>
        <p:spPr>
          <a:xfrm>
            <a:off x="6803136" y="2478024"/>
            <a:ext cx="301752" cy="91"/>
          </a:xfrm>
          <a:prstGeom prst="line">
            <a:avLst/>
          </a:prstGeom>
          <a:noFill/>
          <a:ln w="22225">
            <a:solidFill>
              <a:schemeClr val="accent1"/>
            </a:solidFill>
            <a:prstDash val="solid"/>
            <a:tailEnd type="triangle"/>
          </a:ln>
        </p:spPr>
      </p:sp>
      <p:sp>
        <p:nvSpPr>
          <p:cNvPr id="27" name="step-95"/>
          <p:cNvSpPr/>
          <p:nvPr/>
        </p:nvSpPr>
        <p:spPr>
          <a:xfrm>
            <a:off x="7104888" y="1874520"/>
            <a:ext cx="1371600" cy="1207008"/>
          </a:xfrm>
          <a:prstGeom prst="roundRect">
            <a:avLst>
              <a:gd name="adj" fmla="val 6061"/>
            </a:avLst>
          </a:prstGeom>
          <a:solidFill>
            <a:schemeClr val="bg1"/>
          </a:solidFill>
          <a:ln w="15875">
            <a:solidFill>
              <a:schemeClr val="accent3"/>
            </a:solidFill>
            <a:prstDash val="solid"/>
          </a:ln>
        </p:spPr>
      </p:sp>
      <p:sp>
        <p:nvSpPr>
          <p:cNvPr id="28" name="text-96"/>
          <p:cNvSpPr txBox="1"/>
          <p:nvPr/>
        </p:nvSpPr>
        <p:spPr>
          <a:xfrm>
            <a:off x="7196328" y="1965960"/>
            <a:ext cx="1188720" cy="292608"/>
          </a:xfrm>
          <a:prstGeom prst="rect">
            <a:avLst/>
          </a:prstGeom>
          <a:noFill/>
          <a:ln/>
        </p:spPr>
        <p:txBody>
          <a:bodyPr wrap="square" lIns="0" tIns="0" rIns="0" bIns="0" rtlCol="0" anchor="t"/>
          <a:lstStyle/>
          <a:p>
            <a:pPr algn="l" indent="0" marL="0">
              <a:buNone/>
            </a:pPr>
            <a:r>
              <a:rPr lang="en-US" sz="1300" b="1" dirty="0">
                <a:solidFill>
                  <a:schemeClr val="tx2"/>
                </a:solidFill>
              </a:rPr>
              <a:t>④ Fresh + safe</a:t>
            </a:r>
            <a:endParaRPr lang="en-US" sz="1300" dirty="0"/>
          </a:p>
        </p:txBody>
      </p:sp>
      <p:sp>
        <p:nvSpPr>
          <p:cNvPr id="29" name="text-97"/>
          <p:cNvSpPr txBox="1"/>
          <p:nvPr/>
        </p:nvSpPr>
        <p:spPr>
          <a:xfrm>
            <a:off x="7196328" y="2286000"/>
            <a:ext cx="1188720" cy="749808"/>
          </a:xfrm>
          <a:prstGeom prst="rect">
            <a:avLst/>
          </a:prstGeom>
          <a:noFill/>
          <a:ln/>
        </p:spPr>
        <p:txBody>
          <a:bodyPr wrap="square" lIns="0" tIns="0" rIns="0" bIns="0" rtlCol="0" anchor="t"/>
          <a:lstStyle/>
          <a:p>
            <a:pPr algn="l" indent="0" marL="0">
              <a:buNone/>
            </a:pPr>
            <a:r>
              <a:rPr lang="en-US" sz="1100" dirty="0">
                <a:solidFill>
                  <a:schemeClr val="tx1"/>
                </a:solidFill>
              </a:rPr>
              <a:t>Live-verify critical docs; screen injection</a:t>
            </a:r>
            <a:endParaRPr lang="en-US" sz="1100" dirty="0"/>
          </a:p>
        </p:txBody>
      </p:sp>
      <p:sp>
        <p:nvSpPr>
          <p:cNvPr id="30" name="arrow-98"/>
          <p:cNvSpPr/>
          <p:nvPr/>
        </p:nvSpPr>
        <p:spPr>
          <a:xfrm>
            <a:off x="8476488" y="2478024"/>
            <a:ext cx="301752" cy="91"/>
          </a:xfrm>
          <a:prstGeom prst="line">
            <a:avLst/>
          </a:prstGeom>
          <a:noFill/>
          <a:ln w="22225">
            <a:solidFill>
              <a:schemeClr val="accent1"/>
            </a:solidFill>
            <a:prstDash val="solid"/>
            <a:tailEnd type="triangle"/>
          </a:ln>
        </p:spPr>
      </p:sp>
      <p:sp>
        <p:nvSpPr>
          <p:cNvPr id="31" name="step-99"/>
          <p:cNvSpPr/>
          <p:nvPr/>
        </p:nvSpPr>
        <p:spPr>
          <a:xfrm>
            <a:off x="8778240" y="1874520"/>
            <a:ext cx="1371600" cy="1207008"/>
          </a:xfrm>
          <a:prstGeom prst="roundRect">
            <a:avLst>
              <a:gd name="adj" fmla="val 6061"/>
            </a:avLst>
          </a:prstGeom>
          <a:solidFill>
            <a:schemeClr val="bg1"/>
          </a:solidFill>
          <a:ln w="15875">
            <a:solidFill>
              <a:schemeClr val="accent5"/>
            </a:solidFill>
            <a:prstDash val="solid"/>
          </a:ln>
        </p:spPr>
      </p:sp>
      <p:sp>
        <p:nvSpPr>
          <p:cNvPr id="32" name="text-100"/>
          <p:cNvSpPr txBox="1"/>
          <p:nvPr/>
        </p:nvSpPr>
        <p:spPr>
          <a:xfrm>
            <a:off x="8869680" y="1965960"/>
            <a:ext cx="1188720" cy="292608"/>
          </a:xfrm>
          <a:prstGeom prst="rect">
            <a:avLst/>
          </a:prstGeom>
          <a:noFill/>
          <a:ln/>
        </p:spPr>
        <p:txBody>
          <a:bodyPr wrap="square" lIns="0" tIns="0" rIns="0" bIns="0" rtlCol="0" anchor="t"/>
          <a:lstStyle/>
          <a:p>
            <a:pPr algn="l" indent="0" marL="0">
              <a:buNone/>
            </a:pPr>
            <a:r>
              <a:rPr lang="en-US" sz="1300" b="1" dirty="0">
                <a:solidFill>
                  <a:schemeClr val="tx2"/>
                </a:solidFill>
              </a:rPr>
              <a:t>⑤ LLM</a:t>
            </a:r>
            <a:endParaRPr lang="en-US" sz="1300" dirty="0"/>
          </a:p>
        </p:txBody>
      </p:sp>
      <p:sp>
        <p:nvSpPr>
          <p:cNvPr id="33" name="text-101"/>
          <p:cNvSpPr txBox="1"/>
          <p:nvPr/>
        </p:nvSpPr>
        <p:spPr>
          <a:xfrm>
            <a:off x="8869680" y="2286000"/>
            <a:ext cx="1188720" cy="749808"/>
          </a:xfrm>
          <a:prstGeom prst="rect">
            <a:avLst/>
          </a:prstGeom>
          <a:noFill/>
          <a:ln/>
        </p:spPr>
        <p:txBody>
          <a:bodyPr wrap="square" lIns="0" tIns="0" rIns="0" bIns="0" rtlCol="0" anchor="t"/>
          <a:lstStyle/>
          <a:p>
            <a:pPr algn="l" indent="0" marL="0">
              <a:buNone/>
            </a:pPr>
            <a:r>
              <a:rPr lang="en-US" sz="1100" dirty="0">
                <a:solidFill>
                  <a:schemeClr val="tx1"/>
                </a:solidFill>
              </a:rPr>
              <a:t>Tencent Cloud ADP composes from cited spans</a:t>
            </a:r>
            <a:endParaRPr lang="en-US" sz="1100" dirty="0"/>
          </a:p>
        </p:txBody>
      </p:sp>
      <p:sp>
        <p:nvSpPr>
          <p:cNvPr id="34" name="arrow-102"/>
          <p:cNvSpPr/>
          <p:nvPr/>
        </p:nvSpPr>
        <p:spPr>
          <a:xfrm>
            <a:off x="10149840" y="2478024"/>
            <a:ext cx="301752" cy="91"/>
          </a:xfrm>
          <a:prstGeom prst="line">
            <a:avLst/>
          </a:prstGeom>
          <a:noFill/>
          <a:ln w="22225">
            <a:solidFill>
              <a:schemeClr val="accent6"/>
            </a:solidFill>
            <a:prstDash val="solid"/>
            <a:tailEnd type="triangle"/>
          </a:ln>
        </p:spPr>
      </p:sp>
      <p:sp>
        <p:nvSpPr>
          <p:cNvPr id="35" name="step-103"/>
          <p:cNvSpPr/>
          <p:nvPr/>
        </p:nvSpPr>
        <p:spPr>
          <a:xfrm>
            <a:off x="10451592" y="1874520"/>
            <a:ext cx="1371600" cy="1207008"/>
          </a:xfrm>
          <a:prstGeom prst="roundRect">
            <a:avLst>
              <a:gd name="adj" fmla="val 6061"/>
            </a:avLst>
          </a:prstGeom>
          <a:solidFill>
            <a:schemeClr val="bg1"/>
          </a:solidFill>
          <a:ln w="15875">
            <a:solidFill>
              <a:schemeClr val="accent4"/>
            </a:solidFill>
            <a:prstDash val="solid"/>
          </a:ln>
        </p:spPr>
      </p:sp>
      <p:sp>
        <p:nvSpPr>
          <p:cNvPr id="36" name="text-104"/>
          <p:cNvSpPr txBox="1"/>
          <p:nvPr/>
        </p:nvSpPr>
        <p:spPr>
          <a:xfrm>
            <a:off x="10543032" y="1965960"/>
            <a:ext cx="1188720" cy="292608"/>
          </a:xfrm>
          <a:prstGeom prst="rect">
            <a:avLst/>
          </a:prstGeom>
          <a:noFill/>
          <a:ln/>
        </p:spPr>
        <p:txBody>
          <a:bodyPr wrap="square" lIns="0" tIns="0" rIns="0" bIns="0" rtlCol="0" anchor="t"/>
          <a:lstStyle/>
          <a:p>
            <a:pPr algn="l" indent="0" marL="0">
              <a:buNone/>
            </a:pPr>
            <a:r>
              <a:rPr lang="en-US" sz="1300" b="1" dirty="0">
                <a:solidFill>
                  <a:schemeClr val="tx2"/>
                </a:solidFill>
              </a:rPr>
              <a:t>⑥ Verify</a:t>
            </a:r>
            <a:endParaRPr lang="en-US" sz="1300" dirty="0"/>
          </a:p>
        </p:txBody>
      </p:sp>
      <p:sp>
        <p:nvSpPr>
          <p:cNvPr id="37" name="text-105"/>
          <p:cNvSpPr txBox="1"/>
          <p:nvPr/>
        </p:nvSpPr>
        <p:spPr>
          <a:xfrm>
            <a:off x="10543032" y="2286000"/>
            <a:ext cx="1188720" cy="749808"/>
          </a:xfrm>
          <a:prstGeom prst="rect">
            <a:avLst/>
          </a:prstGeom>
          <a:noFill/>
          <a:ln/>
        </p:spPr>
        <p:txBody>
          <a:bodyPr wrap="square" lIns="0" tIns="0" rIns="0" bIns="0" rtlCol="0" anchor="t"/>
          <a:lstStyle/>
          <a:p>
            <a:pPr algn="l" indent="0" marL="0">
              <a:buNone/>
            </a:pPr>
            <a:r>
              <a:rPr lang="en-US" sz="1100" dirty="0">
                <a:solidFill>
                  <a:schemeClr val="tx1"/>
                </a:solidFill>
              </a:rPr>
              <a:t>Deterministic check of every claim, numbers included; no LLM judge</a:t>
            </a:r>
            <a:endParaRPr lang="en-US" sz="1100" dirty="0"/>
          </a:p>
        </p:txBody>
      </p:sp>
      <p:sp>
        <p:nvSpPr>
          <p:cNvPr id="38" name="arrow-106"/>
          <p:cNvSpPr/>
          <p:nvPr/>
        </p:nvSpPr>
        <p:spPr>
          <a:xfrm flipV="1">
            <a:off x="11137392" y="1298448"/>
            <a:ext cx="91" cy="164592"/>
          </a:xfrm>
          <a:prstGeom prst="line">
            <a:avLst/>
          </a:prstGeom>
          <a:noFill/>
          <a:ln w="22225">
            <a:solidFill>
              <a:schemeClr val="accent1"/>
            </a:solidFill>
            <a:prstDash val="solid"/>
          </a:ln>
        </p:spPr>
      </p:sp>
      <p:sp>
        <p:nvSpPr>
          <p:cNvPr id="39" name="arrow-107"/>
          <p:cNvSpPr/>
          <p:nvPr/>
        </p:nvSpPr>
        <p:spPr>
          <a:xfrm flipH="1">
            <a:off x="1097280" y="1298448"/>
            <a:ext cx="10040112" cy="91"/>
          </a:xfrm>
          <a:prstGeom prst="line">
            <a:avLst/>
          </a:prstGeom>
          <a:noFill/>
          <a:ln w="22225">
            <a:solidFill>
              <a:schemeClr val="accent1"/>
            </a:solidFill>
            <a:prstDash val="solid"/>
          </a:ln>
        </p:spPr>
      </p:sp>
      <p:sp>
        <p:nvSpPr>
          <p:cNvPr id="40" name="arrow-108"/>
          <p:cNvSpPr/>
          <p:nvPr/>
        </p:nvSpPr>
        <p:spPr>
          <a:xfrm>
            <a:off x="1097280" y="1298448"/>
            <a:ext cx="91" cy="164592"/>
          </a:xfrm>
          <a:prstGeom prst="line">
            <a:avLst/>
          </a:prstGeom>
          <a:noFill/>
          <a:ln w="22225">
            <a:solidFill>
              <a:schemeClr val="accent1"/>
            </a:solidFill>
            <a:prstDash val="solid"/>
            <a:tailEnd type="triangle"/>
          </a:ln>
        </p:spPr>
      </p:sp>
      <p:sp>
        <p:nvSpPr>
          <p:cNvPr id="41" name="text-109"/>
          <p:cNvSpPr txBox="1"/>
          <p:nvPr/>
        </p:nvSpPr>
        <p:spPr>
          <a:xfrm>
            <a:off x="2194560" y="1069848"/>
            <a:ext cx="7772400" cy="219456"/>
          </a:xfrm>
          <a:prstGeom prst="rect">
            <a:avLst/>
          </a:prstGeom>
          <a:noFill/>
          <a:ln/>
        </p:spPr>
        <p:txBody>
          <a:bodyPr wrap="square" lIns="0" tIns="0" rIns="0" bIns="0" rtlCol="0" anchor="t"/>
          <a:lstStyle/>
          <a:p>
            <a:pPr algn="ctr" indent="0" marL="0">
              <a:buNone/>
            </a:pPr>
            <a:r>
              <a:rPr lang="en-US" sz="1050" b="1" dirty="0">
                <a:solidFill>
                  <a:schemeClr val="accent1"/>
                </a:solidFill>
              </a:rPr>
              <a:t>Cited answer + freshness receipt + grounding report + access summary (allowed count only)</a:t>
            </a:r>
            <a:endParaRPr lang="en-US" sz="1050" dirty="0"/>
          </a:p>
        </p:txBody>
      </p:sp>
      <p:sp>
        <p:nvSpPr>
          <p:cNvPr id="42" name="arrow-110"/>
          <p:cNvSpPr/>
          <p:nvPr/>
        </p:nvSpPr>
        <p:spPr>
          <a:xfrm>
            <a:off x="6949440" y="1417320"/>
            <a:ext cx="91" cy="1783080"/>
          </a:xfrm>
          <a:prstGeom prst="line">
            <a:avLst/>
          </a:prstGeom>
          <a:noFill/>
          <a:ln w="28575">
            <a:solidFill>
              <a:schemeClr val="accent2"/>
            </a:solidFill>
            <a:prstDash val="dash"/>
          </a:ln>
        </p:spPr>
      </p:sp>
      <p:sp>
        <p:nvSpPr>
          <p:cNvPr id="43" name="pill-111"/>
          <p:cNvSpPr txBox="1"/>
          <p:nvPr/>
        </p:nvSpPr>
        <p:spPr>
          <a:xfrm>
            <a:off x="6080760" y="3200400"/>
            <a:ext cx="17373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950" b="1" dirty="0">
                <a:solidFill>
                  <a:schemeClr val="bg1"/>
                </a:solidFill>
              </a:rPr>
              <a:t>MODEL-CONTEXT BOUNDARY</a:t>
            </a:r>
            <a:endParaRPr lang="en-US" sz="950" dirty="0"/>
          </a:p>
        </p:txBody>
      </p:sp>
      <p:sp>
        <p:nvSpPr>
          <p:cNvPr id="44" name="denied-callout-112"/>
          <p:cNvSpPr/>
          <p:nvPr/>
        </p:nvSpPr>
        <p:spPr>
          <a:xfrm>
            <a:off x="7086600" y="3611880"/>
            <a:ext cx="2103120" cy="841248"/>
          </a:xfrm>
          <a:prstGeom prst="roundRect">
            <a:avLst>
              <a:gd name="adj" fmla="val 8696"/>
            </a:avLst>
          </a:prstGeom>
          <a:solidFill>
            <a:srgbClr val="FDECEC"/>
          </a:solidFill>
          <a:ln w="12700">
            <a:solidFill>
              <a:schemeClr val="accent2"/>
            </a:solidFill>
            <a:prstDash val="solid"/>
          </a:ln>
        </p:spPr>
      </p:sp>
      <p:pic>
        <p:nvPicPr>
          <p:cNvPr id="45" name="ban-113" descr="preencoded.png">    </p:cNvPr>
          <p:cNvPicPr>
            <a:picLocks noChangeAspect="1"/>
          </p:cNvPicPr>
          <p:nvPr/>
        </p:nvPicPr>
        <p:blipFill>
          <a:blip r:embed="rId1"/>
          <a:stretch>
            <a:fillRect/>
          </a:stretch>
        </p:blipFill>
        <p:spPr>
          <a:xfrm>
            <a:off x="7178040" y="3703320"/>
            <a:ext cx="274320" cy="274320"/>
          </a:xfrm>
          <a:prstGeom prst="rect">
            <a:avLst/>
          </a:prstGeom>
        </p:spPr>
      </p:pic>
      <p:sp>
        <p:nvSpPr>
          <p:cNvPr id="46" name="text-114"/>
          <p:cNvSpPr txBox="1"/>
          <p:nvPr/>
        </p:nvSpPr>
        <p:spPr>
          <a:xfrm>
            <a:off x="7516368" y="3648456"/>
            <a:ext cx="1627632" cy="777240"/>
          </a:xfrm>
          <a:prstGeom prst="rect">
            <a:avLst/>
          </a:prstGeom>
          <a:noFill/>
          <a:ln/>
        </p:spPr>
        <p:txBody>
          <a:bodyPr wrap="square" lIns="0" tIns="0" rIns="0" bIns="0" rtlCol="0" anchor="ctr"/>
          <a:lstStyle/>
          <a:p>
            <a:pPr algn="l" indent="0" marL="0">
              <a:buNone/>
            </a:pPr>
            <a:r>
              <a:rPr lang="en-US" sz="950" b="1" dirty="0">
                <a:solidFill>
                  <a:schemeClr val="accent2"/>
                </a:solidFill>
              </a:rPr>
              <a:t>Denied documents stop at the gate. </a:t>
            </a:r>
            <a:pPr algn="l" indent="0" marL="0">
              <a:buNone/>
            </a:pPr>
            <a:r>
              <a:rPr lang="en-US" sz="950" dirty="0">
                <a:solidFill>
                  <a:schemeClr val="tx1"/>
                </a:solidFill>
              </a:rPr>
              <a:t>Their text never reaches the model; only the audit log records it.</a:t>
            </a:r>
            <a:endParaRPr lang="en-US" sz="950" dirty="0"/>
          </a:p>
        </p:txBody>
      </p:sp>
      <p:sp>
        <p:nvSpPr>
          <p:cNvPr id="47" name="zone-sources-115"/>
          <p:cNvSpPr/>
          <p:nvPr/>
        </p:nvSpPr>
        <p:spPr>
          <a:xfrm>
            <a:off x="292608" y="4553712"/>
            <a:ext cx="1828800" cy="1545336"/>
          </a:xfrm>
          <a:prstGeom prst="roundRect">
            <a:avLst>
              <a:gd name="adj" fmla="val 3550"/>
            </a:avLst>
          </a:prstGeom>
          <a:solidFill>
            <a:schemeClr val="bg1"/>
          </a:solidFill>
          <a:ln w="12700">
            <a:solidFill>
              <a:schemeClr val="accent6"/>
            </a:solidFill>
            <a:prstDash val="dash"/>
          </a:ln>
        </p:spPr>
      </p:sp>
      <p:sp>
        <p:nvSpPr>
          <p:cNvPr id="48" name="text-116"/>
          <p:cNvSpPr txBox="1"/>
          <p:nvPr/>
        </p:nvSpPr>
        <p:spPr>
          <a:xfrm>
            <a:off x="292608" y="4590288"/>
            <a:ext cx="1828800" cy="201168"/>
          </a:xfrm>
          <a:prstGeom prst="rect">
            <a:avLst/>
          </a:prstGeom>
          <a:noFill/>
          <a:ln/>
        </p:spPr>
        <p:txBody>
          <a:bodyPr wrap="square" lIns="0" tIns="0" rIns="0" bIns="0" rtlCol="0" anchor="t"/>
          <a:lstStyle/>
          <a:p>
            <a:pPr algn="ctr" indent="0" marL="0">
              <a:buNone/>
            </a:pPr>
            <a:r>
              <a:rPr lang="en-US" sz="900" b="1" dirty="0">
                <a:solidFill>
                  <a:schemeClr val="accent6"/>
                </a:solidFill>
              </a:rPr>
              <a:t>SOURCES  (text is untrusted)</a:t>
            </a:r>
            <a:endParaRPr lang="en-US" sz="900" dirty="0"/>
          </a:p>
        </p:txBody>
      </p:sp>
      <p:pic>
        <p:nvPicPr>
          <p:cNvPr id="49" name="src-icon-117" descr="preencoded.png">    </p:cNvPr>
          <p:cNvPicPr>
            <a:picLocks noChangeAspect="1"/>
          </p:cNvPicPr>
          <p:nvPr/>
        </p:nvPicPr>
        <p:blipFill>
          <a:blip r:embed="rId2"/>
          <a:stretch>
            <a:fillRect/>
          </a:stretch>
        </p:blipFill>
        <p:spPr>
          <a:xfrm>
            <a:off x="457200" y="4846320"/>
            <a:ext cx="237744" cy="237744"/>
          </a:xfrm>
          <a:prstGeom prst="rect">
            <a:avLst/>
          </a:prstGeom>
        </p:spPr>
      </p:pic>
      <p:sp>
        <p:nvSpPr>
          <p:cNvPr id="50" name="text-118"/>
          <p:cNvSpPr txBox="1"/>
          <p:nvPr/>
        </p:nvSpPr>
        <p:spPr>
          <a:xfrm>
            <a:off x="777240" y="4846320"/>
            <a:ext cx="1280160" cy="237744"/>
          </a:xfrm>
          <a:prstGeom prst="rect">
            <a:avLst/>
          </a:prstGeom>
          <a:noFill/>
          <a:ln/>
        </p:spPr>
        <p:txBody>
          <a:bodyPr wrap="square" lIns="0" tIns="0" rIns="0" bIns="0" rtlCol="0" anchor="ctr"/>
          <a:lstStyle/>
          <a:p>
            <a:pPr algn="l" indent="0" marL="0">
              <a:buNone/>
            </a:pPr>
            <a:r>
              <a:rPr lang="en-US" sz="1200" dirty="0">
                <a:solidFill>
                  <a:schemeClr val="tx1"/>
                </a:solidFill>
              </a:rPr>
              <a:t>Confluence</a:t>
            </a:r>
            <a:endParaRPr lang="en-US" sz="1200" dirty="0"/>
          </a:p>
        </p:txBody>
      </p:sp>
      <p:pic>
        <p:nvPicPr>
          <p:cNvPr id="51" name="src-icon-119" descr="preencoded.png">    </p:cNvPr>
          <p:cNvPicPr>
            <a:picLocks noChangeAspect="1"/>
          </p:cNvPicPr>
          <p:nvPr/>
        </p:nvPicPr>
        <p:blipFill>
          <a:blip r:embed="rId3"/>
          <a:stretch>
            <a:fillRect/>
          </a:stretch>
        </p:blipFill>
        <p:spPr>
          <a:xfrm>
            <a:off x="457200" y="5157216"/>
            <a:ext cx="237744" cy="237744"/>
          </a:xfrm>
          <a:prstGeom prst="rect">
            <a:avLst/>
          </a:prstGeom>
        </p:spPr>
      </p:pic>
      <p:sp>
        <p:nvSpPr>
          <p:cNvPr id="52" name="text-120"/>
          <p:cNvSpPr txBox="1"/>
          <p:nvPr/>
        </p:nvSpPr>
        <p:spPr>
          <a:xfrm>
            <a:off x="777240" y="5157216"/>
            <a:ext cx="1280160" cy="237744"/>
          </a:xfrm>
          <a:prstGeom prst="rect">
            <a:avLst/>
          </a:prstGeom>
          <a:noFill/>
          <a:ln/>
        </p:spPr>
        <p:txBody>
          <a:bodyPr wrap="square" lIns="0" tIns="0" rIns="0" bIns="0" rtlCol="0" anchor="ctr"/>
          <a:lstStyle/>
          <a:p>
            <a:pPr algn="l" indent="0" marL="0">
              <a:buNone/>
            </a:pPr>
            <a:r>
              <a:rPr lang="en-US" sz="1200" dirty="0">
                <a:solidFill>
                  <a:schemeClr val="tx1"/>
                </a:solidFill>
              </a:rPr>
              <a:t>Jira</a:t>
            </a:r>
            <a:endParaRPr lang="en-US" sz="1200" dirty="0"/>
          </a:p>
        </p:txBody>
      </p:sp>
      <p:pic>
        <p:nvPicPr>
          <p:cNvPr id="53" name="src-icon-121" descr="preencoded.png">    </p:cNvPr>
          <p:cNvPicPr>
            <a:picLocks noChangeAspect="1"/>
          </p:cNvPicPr>
          <p:nvPr/>
        </p:nvPicPr>
        <p:blipFill>
          <a:blip r:embed="rId4"/>
          <a:stretch>
            <a:fillRect/>
          </a:stretch>
        </p:blipFill>
        <p:spPr>
          <a:xfrm>
            <a:off x="457200" y="5468112"/>
            <a:ext cx="237744" cy="237744"/>
          </a:xfrm>
          <a:prstGeom prst="rect">
            <a:avLst/>
          </a:prstGeom>
        </p:spPr>
      </p:pic>
      <p:sp>
        <p:nvSpPr>
          <p:cNvPr id="54" name="text-122"/>
          <p:cNvSpPr txBox="1"/>
          <p:nvPr/>
        </p:nvSpPr>
        <p:spPr>
          <a:xfrm>
            <a:off x="777240" y="5468112"/>
            <a:ext cx="1280160" cy="237744"/>
          </a:xfrm>
          <a:prstGeom prst="rect">
            <a:avLst/>
          </a:prstGeom>
          <a:noFill/>
          <a:ln/>
        </p:spPr>
        <p:txBody>
          <a:bodyPr wrap="square" lIns="0" tIns="0" rIns="0" bIns="0" rtlCol="0" anchor="ctr"/>
          <a:lstStyle/>
          <a:p>
            <a:pPr algn="l" indent="0" marL="0">
              <a:buNone/>
            </a:pPr>
            <a:r>
              <a:rPr lang="en-US" sz="1200" dirty="0">
                <a:solidFill>
                  <a:schemeClr val="tx1"/>
                </a:solidFill>
              </a:rPr>
              <a:t>Slack</a:t>
            </a:r>
            <a:endParaRPr lang="en-US" sz="1200" dirty="0"/>
          </a:p>
        </p:txBody>
      </p:sp>
      <p:pic>
        <p:nvPicPr>
          <p:cNvPr id="55" name="src-icon-123" descr="preencoded.png">    </p:cNvPr>
          <p:cNvPicPr>
            <a:picLocks noChangeAspect="1"/>
          </p:cNvPicPr>
          <p:nvPr/>
        </p:nvPicPr>
        <p:blipFill>
          <a:blip r:embed="rId5"/>
          <a:stretch>
            <a:fillRect/>
          </a:stretch>
        </p:blipFill>
        <p:spPr>
          <a:xfrm>
            <a:off x="457200" y="5779008"/>
            <a:ext cx="237744" cy="237744"/>
          </a:xfrm>
          <a:prstGeom prst="rect">
            <a:avLst/>
          </a:prstGeom>
        </p:spPr>
      </p:pic>
      <p:sp>
        <p:nvSpPr>
          <p:cNvPr id="56" name="text-124"/>
          <p:cNvSpPr txBox="1"/>
          <p:nvPr/>
        </p:nvSpPr>
        <p:spPr>
          <a:xfrm>
            <a:off x="777240" y="5779008"/>
            <a:ext cx="1280160" cy="237744"/>
          </a:xfrm>
          <a:prstGeom prst="rect">
            <a:avLst/>
          </a:prstGeom>
          <a:noFill/>
          <a:ln/>
        </p:spPr>
        <p:txBody>
          <a:bodyPr wrap="square" lIns="0" tIns="0" rIns="0" bIns="0" rtlCol="0" anchor="ctr"/>
          <a:lstStyle/>
          <a:p>
            <a:pPr algn="l" indent="0" marL="0">
              <a:buNone/>
            </a:pPr>
            <a:r>
              <a:rPr lang="en-US" sz="1200" dirty="0">
                <a:solidFill>
                  <a:schemeClr val="tx1"/>
                </a:solidFill>
              </a:rPr>
              <a:t>Google Drive</a:t>
            </a:r>
            <a:endParaRPr lang="en-US" sz="1200" dirty="0"/>
          </a:p>
        </p:txBody>
      </p:sp>
      <p:sp>
        <p:nvSpPr>
          <p:cNvPr id="57" name="store-125"/>
          <p:cNvSpPr/>
          <p:nvPr/>
        </p:nvSpPr>
        <p:spPr>
          <a:xfrm>
            <a:off x="2377440" y="4663440"/>
            <a:ext cx="2148840" cy="1325880"/>
          </a:xfrm>
          <a:prstGeom prst="roundRect">
            <a:avLst>
              <a:gd name="adj" fmla="val 5517"/>
            </a:avLst>
          </a:prstGeom>
          <a:solidFill>
            <a:schemeClr val="bg1"/>
          </a:solidFill>
          <a:ln w="15875">
            <a:solidFill>
              <a:schemeClr val="accent4"/>
            </a:solidFill>
            <a:prstDash val="solid"/>
          </a:ln>
        </p:spPr>
      </p:sp>
      <p:pic>
        <p:nvPicPr>
          <p:cNvPr id="58" name="store-icon-126" descr="preencoded.png">    </p:cNvPr>
          <p:cNvPicPr>
            <a:picLocks noChangeAspect="1"/>
          </p:cNvPicPr>
          <p:nvPr/>
        </p:nvPicPr>
        <p:blipFill>
          <a:blip r:embed="rId6"/>
          <a:stretch>
            <a:fillRect/>
          </a:stretch>
        </p:blipFill>
        <p:spPr>
          <a:xfrm>
            <a:off x="2514600" y="4800600"/>
            <a:ext cx="310896" cy="310896"/>
          </a:xfrm>
          <a:prstGeom prst="rect">
            <a:avLst/>
          </a:prstGeom>
        </p:spPr>
      </p:pic>
      <p:sp>
        <p:nvSpPr>
          <p:cNvPr id="59" name="text-127"/>
          <p:cNvSpPr txBox="1"/>
          <p:nvPr/>
        </p:nvSpPr>
        <p:spPr>
          <a:xfrm>
            <a:off x="2907792" y="4782312"/>
            <a:ext cx="1508760" cy="347472"/>
          </a:xfrm>
          <a:prstGeom prst="rect">
            <a:avLst/>
          </a:prstGeom>
          <a:noFill/>
          <a:ln/>
        </p:spPr>
        <p:txBody>
          <a:bodyPr wrap="square" lIns="0" tIns="0" rIns="0" bIns="0" rtlCol="0" anchor="ctr"/>
          <a:lstStyle/>
          <a:p>
            <a:pPr algn="l" indent="0" marL="0">
              <a:buNone/>
            </a:pPr>
            <a:r>
              <a:rPr lang="en-US" sz="1300" b="1" dirty="0">
                <a:solidFill>
                  <a:schemeClr val="tx2"/>
                </a:solidFill>
              </a:rPr>
              <a:t>Connectors + workers</a:t>
            </a:r>
            <a:endParaRPr lang="en-US" sz="1300" dirty="0"/>
          </a:p>
        </p:txBody>
      </p:sp>
      <p:sp>
        <p:nvSpPr>
          <p:cNvPr id="60" name="text-128"/>
          <p:cNvSpPr txBox="1"/>
          <p:nvPr/>
        </p:nvSpPr>
        <p:spPr>
          <a:xfrm>
            <a:off x="2514600" y="5212080"/>
            <a:ext cx="1874520" cy="868680"/>
          </a:xfrm>
          <a:prstGeom prst="rect">
            <a:avLst/>
          </a:prstGeom>
          <a:noFill/>
          <a:ln/>
        </p:spPr>
        <p:txBody>
          <a:bodyPr wrap="square" lIns="0" tIns="0" rIns="0" bIns="0" rtlCol="0" anchor="t"/>
          <a:lstStyle/>
          <a:p>
            <a:pPr algn="l" indent="0" marL="0">
              <a:buNone/>
            </a:pPr>
            <a:r>
              <a:rPr lang="en-US" sz="1100" dirty="0">
                <a:solidFill>
                  <a:schemeClr val="tx1"/>
                </a:solidFill>
              </a:rPr>
              <a:t>Celery: webhooks and syncs. Re-reads every page's permissions each minute.</a:t>
            </a:r>
            <a:endParaRPr lang="en-US" sz="1100" dirty="0"/>
          </a:p>
        </p:txBody>
      </p:sp>
      <p:sp>
        <p:nvSpPr>
          <p:cNvPr id="61" name="store-129"/>
          <p:cNvSpPr/>
          <p:nvPr/>
        </p:nvSpPr>
        <p:spPr>
          <a:xfrm>
            <a:off x="4800600" y="4663440"/>
            <a:ext cx="2834640" cy="1325880"/>
          </a:xfrm>
          <a:prstGeom prst="roundRect">
            <a:avLst>
              <a:gd name="adj" fmla="val 5517"/>
            </a:avLst>
          </a:prstGeom>
          <a:solidFill>
            <a:schemeClr val="bg1"/>
          </a:solidFill>
          <a:ln w="15875">
            <a:solidFill>
              <a:schemeClr val="accent4"/>
            </a:solidFill>
            <a:prstDash val="solid"/>
          </a:ln>
        </p:spPr>
      </p:sp>
      <p:pic>
        <p:nvPicPr>
          <p:cNvPr id="62" name="store-icon-130" descr="preencoded.png">    </p:cNvPr>
          <p:cNvPicPr>
            <a:picLocks noChangeAspect="1"/>
          </p:cNvPicPr>
          <p:nvPr/>
        </p:nvPicPr>
        <p:blipFill>
          <a:blip r:embed="rId7"/>
          <a:stretch>
            <a:fillRect/>
          </a:stretch>
        </p:blipFill>
        <p:spPr>
          <a:xfrm>
            <a:off x="4937760" y="4800600"/>
            <a:ext cx="310896" cy="310896"/>
          </a:xfrm>
          <a:prstGeom prst="rect">
            <a:avLst/>
          </a:prstGeom>
        </p:spPr>
      </p:pic>
      <p:sp>
        <p:nvSpPr>
          <p:cNvPr id="63" name="text-131"/>
          <p:cNvSpPr txBox="1"/>
          <p:nvPr/>
        </p:nvSpPr>
        <p:spPr>
          <a:xfrm>
            <a:off x="5330952" y="4782312"/>
            <a:ext cx="2194560" cy="347472"/>
          </a:xfrm>
          <a:prstGeom prst="rect">
            <a:avLst/>
          </a:prstGeom>
          <a:noFill/>
          <a:ln/>
        </p:spPr>
        <p:txBody>
          <a:bodyPr wrap="square" lIns="0" tIns="0" rIns="0" bIns="0" rtlCol="0" anchor="ctr"/>
          <a:lstStyle/>
          <a:p>
            <a:pPr algn="l" indent="0" marL="0">
              <a:buNone/>
            </a:pPr>
            <a:r>
              <a:rPr lang="en-US" sz="1300" b="1" dirty="0">
                <a:solidFill>
                  <a:schemeClr val="tx2"/>
                </a:solidFill>
              </a:rPr>
              <a:t>Postgres + pgvector</a:t>
            </a:r>
            <a:endParaRPr lang="en-US" sz="1300" dirty="0"/>
          </a:p>
        </p:txBody>
      </p:sp>
      <p:sp>
        <p:nvSpPr>
          <p:cNvPr id="64" name="text-132"/>
          <p:cNvSpPr txBox="1"/>
          <p:nvPr/>
        </p:nvSpPr>
        <p:spPr>
          <a:xfrm>
            <a:off x="4937760" y="5212080"/>
            <a:ext cx="2560320" cy="868680"/>
          </a:xfrm>
          <a:prstGeom prst="rect">
            <a:avLst/>
          </a:prstGeom>
          <a:noFill/>
          <a:ln/>
        </p:spPr>
        <p:txBody>
          <a:bodyPr wrap="square" lIns="0" tIns="0" rIns="0" bIns="0" rtlCol="0" anchor="t"/>
          <a:lstStyle/>
          <a:p>
            <a:pPr algn="l" indent="0" marL="0">
              <a:buNone/>
            </a:pPr>
            <a:r>
              <a:rPr lang="en-US" sz="1100" dirty="0">
                <a:solidFill>
                  <a:schemeClr val="tx1"/>
                </a:solidFill>
              </a:rPr>
              <a:t>Pages, chunks, embeddings, permission snapshots and grants</a:t>
            </a:r>
            <a:endParaRPr lang="en-US" sz="1100" dirty="0"/>
          </a:p>
        </p:txBody>
      </p:sp>
      <p:sp>
        <p:nvSpPr>
          <p:cNvPr id="65" name="store-133"/>
          <p:cNvSpPr/>
          <p:nvPr/>
        </p:nvSpPr>
        <p:spPr>
          <a:xfrm>
            <a:off x="8778240" y="4663440"/>
            <a:ext cx="3044952" cy="1325880"/>
          </a:xfrm>
          <a:prstGeom prst="roundRect">
            <a:avLst>
              <a:gd name="adj" fmla="val 5517"/>
            </a:avLst>
          </a:prstGeom>
          <a:solidFill>
            <a:schemeClr val="bg1"/>
          </a:solidFill>
          <a:ln w="15875">
            <a:solidFill>
              <a:schemeClr val="accent5"/>
            </a:solidFill>
            <a:prstDash val="solid"/>
          </a:ln>
        </p:spPr>
      </p:sp>
      <p:pic>
        <p:nvPicPr>
          <p:cNvPr id="66" name="store-icon-134" descr="preencoded.png">    </p:cNvPr>
          <p:cNvPicPr>
            <a:picLocks noChangeAspect="1"/>
          </p:cNvPicPr>
          <p:nvPr/>
        </p:nvPicPr>
        <p:blipFill>
          <a:blip r:embed="rId8"/>
          <a:stretch>
            <a:fillRect/>
          </a:stretch>
        </p:blipFill>
        <p:spPr>
          <a:xfrm>
            <a:off x="8915400" y="4800600"/>
            <a:ext cx="310896" cy="310896"/>
          </a:xfrm>
          <a:prstGeom prst="rect">
            <a:avLst/>
          </a:prstGeom>
        </p:spPr>
      </p:pic>
      <p:sp>
        <p:nvSpPr>
          <p:cNvPr id="67" name="text-135"/>
          <p:cNvSpPr txBox="1"/>
          <p:nvPr/>
        </p:nvSpPr>
        <p:spPr>
          <a:xfrm>
            <a:off x="9308592" y="4782312"/>
            <a:ext cx="2404872" cy="347472"/>
          </a:xfrm>
          <a:prstGeom prst="rect">
            <a:avLst/>
          </a:prstGeom>
          <a:noFill/>
          <a:ln/>
        </p:spPr>
        <p:txBody>
          <a:bodyPr wrap="square" lIns="0" tIns="0" rIns="0" bIns="0" rtlCol="0" anchor="ctr"/>
          <a:lstStyle/>
          <a:p>
            <a:pPr algn="l" indent="0" marL="0">
              <a:buNone/>
            </a:pPr>
            <a:r>
              <a:rPr lang="en-US" sz="1300" b="1" dirty="0">
                <a:solidFill>
                  <a:schemeClr val="tx2"/>
                </a:solidFill>
              </a:rPr>
              <a:t>Audit log</a:t>
            </a:r>
            <a:endParaRPr lang="en-US" sz="1300" dirty="0"/>
          </a:p>
        </p:txBody>
      </p:sp>
      <p:sp>
        <p:nvSpPr>
          <p:cNvPr id="68" name="text-136"/>
          <p:cNvSpPr txBox="1"/>
          <p:nvPr/>
        </p:nvSpPr>
        <p:spPr>
          <a:xfrm>
            <a:off x="8915400" y="5212080"/>
            <a:ext cx="2770632" cy="868680"/>
          </a:xfrm>
          <a:prstGeom prst="rect">
            <a:avLst/>
          </a:prstGeom>
          <a:noFill/>
          <a:ln/>
        </p:spPr>
        <p:txBody>
          <a:bodyPr wrap="square" lIns="0" tIns="0" rIns="0" bIns="0" rtlCol="0" anchor="t"/>
          <a:lstStyle/>
          <a:p>
            <a:pPr algn="l" indent="0" marL="0">
              <a:buNone/>
            </a:pPr>
            <a:r>
              <a:rPr lang="en-US" sz="1100" dirty="0">
                <a:solidFill>
                  <a:schemeClr val="tx1"/>
                </a:solidFill>
              </a:rPr>
              <a:t>Append-only, hash-chained: who asked, what was retrieved, each allow/deny, the answer</a:t>
            </a:r>
            <a:endParaRPr lang="en-US" sz="1100" dirty="0"/>
          </a:p>
        </p:txBody>
      </p:sp>
      <p:sp>
        <p:nvSpPr>
          <p:cNvPr id="69" name="arrow-137"/>
          <p:cNvSpPr/>
          <p:nvPr/>
        </p:nvSpPr>
        <p:spPr>
          <a:xfrm>
            <a:off x="2121408" y="5326380"/>
            <a:ext cx="256032" cy="91"/>
          </a:xfrm>
          <a:prstGeom prst="line">
            <a:avLst/>
          </a:prstGeom>
          <a:noFill/>
          <a:ln w="22225">
            <a:solidFill>
              <a:schemeClr val="accent6"/>
            </a:solidFill>
            <a:prstDash val="solid"/>
            <a:tailEnd type="triangle"/>
          </a:ln>
        </p:spPr>
      </p:sp>
      <p:sp>
        <p:nvSpPr>
          <p:cNvPr id="70" name="arrow-138"/>
          <p:cNvSpPr/>
          <p:nvPr/>
        </p:nvSpPr>
        <p:spPr>
          <a:xfrm>
            <a:off x="4526280" y="5326380"/>
            <a:ext cx="274320" cy="91"/>
          </a:xfrm>
          <a:prstGeom prst="line">
            <a:avLst/>
          </a:prstGeom>
          <a:noFill/>
          <a:ln w="22225">
            <a:solidFill>
              <a:schemeClr val="accent6"/>
            </a:solidFill>
            <a:prstDash val="solid"/>
            <a:tailEnd type="triangle"/>
          </a:ln>
        </p:spPr>
      </p:sp>
      <p:sp>
        <p:nvSpPr>
          <p:cNvPr id="71" name="arrow-139"/>
          <p:cNvSpPr/>
          <p:nvPr/>
        </p:nvSpPr>
        <p:spPr>
          <a:xfrm flipV="1">
            <a:off x="4572000" y="3081528"/>
            <a:ext cx="91" cy="1581912"/>
          </a:xfrm>
          <a:prstGeom prst="line">
            <a:avLst/>
          </a:prstGeom>
          <a:noFill/>
          <a:ln w="22225">
            <a:solidFill>
              <a:schemeClr val="accent4"/>
            </a:solidFill>
            <a:prstDash val="solid"/>
            <a:tailEnd type="triangle"/>
          </a:ln>
        </p:spPr>
      </p:sp>
      <p:sp>
        <p:nvSpPr>
          <p:cNvPr id="72" name="text-140"/>
          <p:cNvSpPr txBox="1"/>
          <p:nvPr/>
        </p:nvSpPr>
        <p:spPr>
          <a:xfrm>
            <a:off x="3767328" y="3584448"/>
            <a:ext cx="777240" cy="201168"/>
          </a:xfrm>
          <a:prstGeom prst="rect">
            <a:avLst/>
          </a:prstGeom>
          <a:noFill/>
          <a:ln/>
        </p:spPr>
        <p:txBody>
          <a:bodyPr wrap="square" lIns="0" tIns="0" rIns="0" bIns="0" rtlCol="0" anchor="t"/>
          <a:lstStyle/>
          <a:p>
            <a:pPr algn="r" indent="0" marL="0">
              <a:buNone/>
            </a:pPr>
            <a:r>
              <a:rPr lang="en-US" sz="950" dirty="0">
                <a:solidFill>
                  <a:schemeClr val="accent4"/>
                </a:solidFill>
              </a:rPr>
              <a:t>candidates</a:t>
            </a:r>
            <a:endParaRPr lang="en-US" sz="950" dirty="0"/>
          </a:p>
        </p:txBody>
      </p:sp>
      <p:sp>
        <p:nvSpPr>
          <p:cNvPr id="73" name="arrow-141"/>
          <p:cNvSpPr/>
          <p:nvPr/>
        </p:nvSpPr>
        <p:spPr>
          <a:xfrm flipV="1">
            <a:off x="5989320" y="3081528"/>
            <a:ext cx="91" cy="1581912"/>
          </a:xfrm>
          <a:prstGeom prst="line">
            <a:avLst/>
          </a:prstGeom>
          <a:noFill/>
          <a:ln w="22225">
            <a:solidFill>
              <a:schemeClr val="accent1"/>
            </a:solidFill>
            <a:prstDash val="solid"/>
            <a:tailEnd type="triangle"/>
          </a:ln>
        </p:spPr>
      </p:sp>
      <p:sp>
        <p:nvSpPr>
          <p:cNvPr id="74" name="text-142"/>
          <p:cNvSpPr txBox="1"/>
          <p:nvPr/>
        </p:nvSpPr>
        <p:spPr>
          <a:xfrm>
            <a:off x="6053328" y="4069080"/>
            <a:ext cx="1005840" cy="384048"/>
          </a:xfrm>
          <a:prstGeom prst="rect">
            <a:avLst/>
          </a:prstGeom>
          <a:noFill/>
          <a:ln/>
        </p:spPr>
        <p:txBody>
          <a:bodyPr wrap="square" lIns="0" tIns="0" rIns="0" bIns="0" rtlCol="0" anchor="t"/>
          <a:lstStyle/>
          <a:p>
            <a:pPr algn="l" indent="0" marL="0">
              <a:buNone/>
            </a:pPr>
            <a:r>
              <a:rPr lang="en-US" sz="950" dirty="0">
                <a:solidFill>
                  <a:schemeClr val="accent1"/>
                </a:solidFill>
              </a:rPr>
              <a:t>permissions, reloaded every query</a:t>
            </a:r>
            <a:endParaRPr lang="en-US" sz="950" dirty="0"/>
          </a:p>
        </p:txBody>
      </p:sp>
      <p:sp>
        <p:nvSpPr>
          <p:cNvPr id="75" name="arrow-143"/>
          <p:cNvSpPr/>
          <p:nvPr/>
        </p:nvSpPr>
        <p:spPr>
          <a:xfrm>
            <a:off x="11137392" y="3081528"/>
            <a:ext cx="91" cy="1581912"/>
          </a:xfrm>
          <a:prstGeom prst="line">
            <a:avLst/>
          </a:prstGeom>
          <a:noFill/>
          <a:ln w="22225">
            <a:solidFill>
              <a:schemeClr val="accent5"/>
            </a:solidFill>
            <a:prstDash val="solid"/>
            <a:tailEnd type="triangle"/>
          </a:ln>
        </p:spPr>
      </p:sp>
      <p:sp>
        <p:nvSpPr>
          <p:cNvPr id="76" name="text-144"/>
          <p:cNvSpPr txBox="1"/>
          <p:nvPr/>
        </p:nvSpPr>
        <p:spPr>
          <a:xfrm>
            <a:off x="9235440" y="3584448"/>
            <a:ext cx="1783080" cy="384048"/>
          </a:xfrm>
          <a:prstGeom prst="rect">
            <a:avLst/>
          </a:prstGeom>
          <a:noFill/>
          <a:ln/>
        </p:spPr>
        <p:txBody>
          <a:bodyPr wrap="square" lIns="0" tIns="0" rIns="0" bIns="0" rtlCol="0" anchor="t"/>
          <a:lstStyle/>
          <a:p>
            <a:pPr algn="r" indent="0" marL="0">
              <a:buNone/>
            </a:pPr>
            <a:r>
              <a:rPr lang="en-US" sz="950" dirty="0">
                <a:solidFill>
                  <a:schemeClr val="accent5"/>
                </a:solidFill>
              </a:rPr>
              <a:t>one audit event per question</a:t>
            </a:r>
            <a:endParaRPr lang="en-US" sz="950" dirty="0"/>
          </a:p>
        </p:txBody>
      </p:sp>
      <p:sp>
        <p:nvSpPr>
          <p:cNvPr id="77" name="text-145"/>
          <p:cNvSpPr txBox="1"/>
          <p:nvPr/>
        </p:nvSpPr>
        <p:spPr>
          <a:xfrm>
            <a:off x="292608" y="6172200"/>
            <a:ext cx="11612880" cy="219456"/>
          </a:xfrm>
          <a:prstGeom prst="rect">
            <a:avLst/>
          </a:prstGeom>
          <a:noFill/>
          <a:ln/>
        </p:spPr>
        <p:txBody>
          <a:bodyPr wrap="square" lIns="0" tIns="0" rIns="0" bIns="0" rtlCol="0" anchor="t"/>
          <a:lstStyle/>
          <a:p>
            <a:pPr algn="l" indent="0" marL="0">
              <a:buNone/>
            </a:pPr>
            <a:r>
              <a:rPr lang="en-US" sz="950" i="1" dirty="0">
                <a:solidFill>
                  <a:schemeClr val="accent6"/>
                </a:solidFill>
              </a:rPr>
              <a:t>Teal path: only authorised evidence.  Red dashed line: nothing denied crosses it.  Dashed boxes: untrusted or external.  Demo uses a synthetic corpus; in production Slack is searched live as the user and never stored.</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Four trust boundaries, each failing closed</a:t>
            </a:r>
            <a:endParaRPr lang="en-US" sz="2800" dirty="0"/>
          </a:p>
        </p:txBody>
      </p:sp>
      <p:sp>
        <p:nvSpPr>
          <p:cNvPr id="3" name="tb-row-146"/>
          <p:cNvSpPr/>
          <p:nvPr/>
        </p:nvSpPr>
        <p:spPr>
          <a:xfrm>
            <a:off x="548640" y="1371600"/>
            <a:ext cx="11064240" cy="1051560"/>
          </a:xfrm>
          <a:prstGeom prst="roundRect">
            <a:avLst>
              <a:gd name="adj" fmla="val 6957"/>
            </a:avLst>
          </a:prstGeom>
          <a:solidFill>
            <a:schemeClr val="bg2"/>
          </a:solidFill>
          <a:ln/>
        </p:spPr>
      </p:sp>
      <p:sp>
        <p:nvSpPr>
          <p:cNvPr id="4" name="num-147"/>
          <p:cNvSpPr txBox="1"/>
          <p:nvPr/>
        </p:nvSpPr>
        <p:spPr>
          <a:xfrm>
            <a:off x="777240" y="1645920"/>
            <a:ext cx="502920" cy="50292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148"/>
          <p:cNvSpPr txBox="1"/>
          <p:nvPr/>
        </p:nvSpPr>
        <p:spPr>
          <a:xfrm>
            <a:off x="1508760" y="1499616"/>
            <a:ext cx="2606040" cy="777240"/>
          </a:xfrm>
          <a:prstGeom prst="rect">
            <a:avLst/>
          </a:prstGeom>
          <a:noFill/>
          <a:ln/>
        </p:spPr>
        <p:txBody>
          <a:bodyPr wrap="square" lIns="0" tIns="0" rIns="0" bIns="0" rtlCol="0" anchor="ctr"/>
          <a:lstStyle/>
          <a:p>
            <a:pPr algn="l" indent="0" marL="0">
              <a:buNone/>
            </a:pPr>
            <a:r>
              <a:rPr lang="en-US" sz="1800" b="1" dirty="0">
                <a:solidFill>
                  <a:schemeClr val="tx2"/>
                </a:solidFill>
              </a:rPr>
              <a:t>Who is asking</a:t>
            </a:r>
            <a:endParaRPr lang="en-US" sz="1800" dirty="0"/>
          </a:p>
        </p:txBody>
      </p:sp>
      <p:sp>
        <p:nvSpPr>
          <p:cNvPr id="6" name="text-149"/>
          <p:cNvSpPr txBox="1"/>
          <p:nvPr/>
        </p:nvSpPr>
        <p:spPr>
          <a:xfrm>
            <a:off x="4206240" y="1499616"/>
            <a:ext cx="4343400" cy="804672"/>
          </a:xfrm>
          <a:prstGeom prst="rect">
            <a:avLst/>
          </a:prstGeom>
          <a:noFill/>
          <a:ln/>
        </p:spPr>
        <p:txBody>
          <a:bodyPr wrap="square" lIns="0" tIns="0" rIns="0" bIns="0" rtlCol="0" anchor="ctr"/>
          <a:lstStyle/>
          <a:p>
            <a:pPr algn="l" indent="0" marL="0">
              <a:buNone/>
            </a:pPr>
            <a:r>
              <a:rPr lang="en-US" sz="1400" dirty="0">
                <a:solidFill>
                  <a:schemeClr val="tx1"/>
                </a:solidFill>
              </a:rPr>
              <a:t>The server resolves the asker and their current groups. The client's claim is never trusted.</a:t>
            </a:r>
            <a:endParaRPr lang="en-US" sz="1400" dirty="0"/>
          </a:p>
        </p:txBody>
      </p:sp>
      <p:sp>
        <p:nvSpPr>
          <p:cNvPr id="7" name="failclosed-150"/>
          <p:cNvSpPr/>
          <p:nvPr/>
        </p:nvSpPr>
        <p:spPr>
          <a:xfrm>
            <a:off x="8732520" y="1554480"/>
            <a:ext cx="2697480" cy="685800"/>
          </a:xfrm>
          <a:prstGeom prst="roundRect">
            <a:avLst>
              <a:gd name="adj" fmla="val 10667"/>
            </a:avLst>
          </a:prstGeom>
          <a:solidFill>
            <a:schemeClr val="bg1"/>
          </a:solidFill>
          <a:ln w="12700">
            <a:solidFill>
              <a:schemeClr val="accent4"/>
            </a:solidFill>
            <a:prstDash val="solid"/>
          </a:ln>
        </p:spPr>
      </p:sp>
      <p:sp>
        <p:nvSpPr>
          <p:cNvPr id="8" name="text-151"/>
          <p:cNvSpPr txBox="1"/>
          <p:nvPr/>
        </p:nvSpPr>
        <p:spPr>
          <a:xfrm>
            <a:off x="8869680" y="1572768"/>
            <a:ext cx="2468880" cy="649224"/>
          </a:xfrm>
          <a:prstGeom prst="rect">
            <a:avLst/>
          </a:prstGeom>
          <a:noFill/>
          <a:ln/>
        </p:spPr>
        <p:txBody>
          <a:bodyPr wrap="square" lIns="0" tIns="0" rIns="0" bIns="0" rtlCol="0" anchor="ctr"/>
          <a:lstStyle/>
          <a:p>
            <a:pPr algn="l" indent="0" marL="0">
              <a:buNone/>
            </a:pPr>
            <a:r>
              <a:rPr lang="en-US" sz="1200" b="1" dirty="0">
                <a:solidFill>
                  <a:schemeClr val="accent4"/>
                </a:solidFill>
              </a:rPr>
              <a:t>Unknown or inactive principal: deny everything</a:t>
            </a:r>
            <a:endParaRPr lang="en-US" sz="1200" dirty="0"/>
          </a:p>
        </p:txBody>
      </p:sp>
      <p:sp>
        <p:nvSpPr>
          <p:cNvPr id="9" name="tb-row-152"/>
          <p:cNvSpPr/>
          <p:nvPr/>
        </p:nvSpPr>
        <p:spPr>
          <a:xfrm>
            <a:off x="548640" y="2578608"/>
            <a:ext cx="11064240" cy="1051560"/>
          </a:xfrm>
          <a:prstGeom prst="roundRect">
            <a:avLst>
              <a:gd name="adj" fmla="val 6957"/>
            </a:avLst>
          </a:prstGeom>
          <a:solidFill>
            <a:schemeClr val="bg2"/>
          </a:solidFill>
          <a:ln/>
        </p:spPr>
      </p:sp>
      <p:sp>
        <p:nvSpPr>
          <p:cNvPr id="10" name="num-153"/>
          <p:cNvSpPr txBox="1"/>
          <p:nvPr/>
        </p:nvSpPr>
        <p:spPr>
          <a:xfrm>
            <a:off x="777240" y="2852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154"/>
          <p:cNvSpPr txBox="1"/>
          <p:nvPr/>
        </p:nvSpPr>
        <p:spPr>
          <a:xfrm>
            <a:off x="1508760" y="2706624"/>
            <a:ext cx="2606040" cy="777240"/>
          </a:xfrm>
          <a:prstGeom prst="rect">
            <a:avLst/>
          </a:prstGeom>
          <a:noFill/>
          <a:ln/>
        </p:spPr>
        <p:txBody>
          <a:bodyPr wrap="square" lIns="0" tIns="0" rIns="0" bIns="0" rtlCol="0" anchor="ctr"/>
          <a:lstStyle/>
          <a:p>
            <a:pPr algn="l" indent="0" marL="0">
              <a:buNone/>
            </a:pPr>
            <a:r>
              <a:rPr lang="en-US" sz="1800" b="1" dirty="0">
                <a:solidFill>
                  <a:schemeClr val="tx2"/>
                </a:solidFill>
              </a:rPr>
              <a:t>What they may see</a:t>
            </a:r>
            <a:endParaRPr lang="en-US" sz="1800" dirty="0"/>
          </a:p>
        </p:txBody>
      </p:sp>
      <p:sp>
        <p:nvSpPr>
          <p:cNvPr id="12" name="text-155"/>
          <p:cNvSpPr txBox="1"/>
          <p:nvPr/>
        </p:nvSpPr>
        <p:spPr>
          <a:xfrm>
            <a:off x="4206240" y="2706624"/>
            <a:ext cx="4343400" cy="804672"/>
          </a:xfrm>
          <a:prstGeom prst="rect">
            <a:avLst/>
          </a:prstGeom>
          <a:noFill/>
          <a:ln/>
        </p:spPr>
        <p:txBody>
          <a:bodyPr wrap="square" lIns="0" tIns="0" rIns="0" bIns="0" rtlCol="0" anchor="ctr"/>
          <a:lstStyle/>
          <a:p>
            <a:pPr algn="l" indent="0" marL="0">
              <a:buNone/>
            </a:pPr>
            <a:r>
              <a:rPr lang="en-US" sz="1400" dirty="0">
                <a:solidFill>
                  <a:schemeClr val="tx1"/>
                </a:solidFill>
              </a:rPr>
              <a:t>Every candidate document is checked against its native platform permissions before any model call. Permissions over 5 minutes old no longer count.</a:t>
            </a:r>
            <a:endParaRPr lang="en-US" sz="1400" dirty="0"/>
          </a:p>
        </p:txBody>
      </p:sp>
      <p:sp>
        <p:nvSpPr>
          <p:cNvPr id="13" name="failclosed-156"/>
          <p:cNvSpPr/>
          <p:nvPr/>
        </p:nvSpPr>
        <p:spPr>
          <a:xfrm>
            <a:off x="8732520" y="2761488"/>
            <a:ext cx="2697480" cy="685800"/>
          </a:xfrm>
          <a:prstGeom prst="roundRect">
            <a:avLst>
              <a:gd name="adj" fmla="val 10667"/>
            </a:avLst>
          </a:prstGeom>
          <a:solidFill>
            <a:schemeClr val="bg1"/>
          </a:solidFill>
          <a:ln w="12700">
            <a:solidFill>
              <a:schemeClr val="accent1"/>
            </a:solidFill>
            <a:prstDash val="solid"/>
          </a:ln>
        </p:spPr>
      </p:sp>
      <p:sp>
        <p:nvSpPr>
          <p:cNvPr id="14" name="text-157"/>
          <p:cNvSpPr txBox="1"/>
          <p:nvPr/>
        </p:nvSpPr>
        <p:spPr>
          <a:xfrm>
            <a:off x="8869680" y="2779776"/>
            <a:ext cx="2468880" cy="649224"/>
          </a:xfrm>
          <a:prstGeom prst="rect">
            <a:avLst/>
          </a:prstGeom>
          <a:noFill/>
          <a:ln/>
        </p:spPr>
        <p:txBody>
          <a:bodyPr wrap="square" lIns="0" tIns="0" rIns="0" bIns="0" rtlCol="0" anchor="ctr"/>
          <a:lstStyle/>
          <a:p>
            <a:pPr algn="l" indent="0" marL="0">
              <a:buNone/>
            </a:pPr>
            <a:r>
              <a:rPr lang="en-US" sz="1200" b="1" dirty="0">
                <a:solidFill>
                  <a:schemeClr val="accent1"/>
                </a:solidFill>
              </a:rPr>
              <a:t>Missing, unreadable or expired permissions: deny</a:t>
            </a:r>
            <a:endParaRPr lang="en-US" sz="1200" dirty="0"/>
          </a:p>
        </p:txBody>
      </p:sp>
      <p:sp>
        <p:nvSpPr>
          <p:cNvPr id="15" name="tb-row-158"/>
          <p:cNvSpPr/>
          <p:nvPr/>
        </p:nvSpPr>
        <p:spPr>
          <a:xfrm>
            <a:off x="548640" y="3785616"/>
            <a:ext cx="11064240" cy="1051560"/>
          </a:xfrm>
          <a:prstGeom prst="roundRect">
            <a:avLst>
              <a:gd name="adj" fmla="val 6957"/>
            </a:avLst>
          </a:prstGeom>
          <a:solidFill>
            <a:schemeClr val="bg2"/>
          </a:solidFill>
          <a:ln/>
        </p:spPr>
      </p:sp>
      <p:sp>
        <p:nvSpPr>
          <p:cNvPr id="16" name="num-159"/>
          <p:cNvSpPr txBox="1"/>
          <p:nvPr/>
        </p:nvSpPr>
        <p:spPr>
          <a:xfrm>
            <a:off x="777240" y="4059936"/>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160"/>
          <p:cNvSpPr txBox="1"/>
          <p:nvPr/>
        </p:nvSpPr>
        <p:spPr>
          <a:xfrm>
            <a:off x="1508760" y="3913632"/>
            <a:ext cx="2606040" cy="777240"/>
          </a:xfrm>
          <a:prstGeom prst="rect">
            <a:avLst/>
          </a:prstGeom>
          <a:noFill/>
          <a:ln/>
        </p:spPr>
        <p:txBody>
          <a:bodyPr wrap="square" lIns="0" tIns="0" rIns="0" bIns="0" rtlCol="0" anchor="ctr"/>
          <a:lstStyle/>
          <a:p>
            <a:pPr algn="l" indent="0" marL="0">
              <a:buNone/>
            </a:pPr>
            <a:r>
              <a:rPr lang="en-US" sz="1800" b="1" dirty="0">
                <a:solidFill>
                  <a:schemeClr val="tx2"/>
                </a:solidFill>
              </a:rPr>
              <a:t>What the model receives</a:t>
            </a:r>
            <a:endParaRPr lang="en-US" sz="1800" dirty="0"/>
          </a:p>
        </p:txBody>
      </p:sp>
      <p:sp>
        <p:nvSpPr>
          <p:cNvPr id="18" name="text-161"/>
          <p:cNvSpPr txBox="1"/>
          <p:nvPr/>
        </p:nvSpPr>
        <p:spPr>
          <a:xfrm>
            <a:off x="4206240" y="3913632"/>
            <a:ext cx="4343400" cy="804672"/>
          </a:xfrm>
          <a:prstGeom prst="rect">
            <a:avLst/>
          </a:prstGeom>
          <a:noFill/>
          <a:ln/>
        </p:spPr>
        <p:txBody>
          <a:bodyPr wrap="square" lIns="0" tIns="0" rIns="0" bIns="0" rtlCol="0" anchor="ctr"/>
          <a:lstStyle/>
          <a:p>
            <a:pPr algn="l" indent="0" marL="0">
              <a:buNone/>
            </a:pPr>
            <a:r>
              <a:rPr lang="en-US" sz="1400" dirty="0">
                <a:solidFill>
                  <a:schemeClr val="tx1"/>
                </a:solidFill>
              </a:rPr>
              <a:t>Only authorised, fresh, sanitised evidence spans. Retrieved text is treated as data, never as instructions.</a:t>
            </a:r>
            <a:endParaRPr lang="en-US" sz="1400" dirty="0"/>
          </a:p>
        </p:txBody>
      </p:sp>
      <p:sp>
        <p:nvSpPr>
          <p:cNvPr id="19" name="failclosed-162"/>
          <p:cNvSpPr/>
          <p:nvPr/>
        </p:nvSpPr>
        <p:spPr>
          <a:xfrm>
            <a:off x="8732520" y="3968496"/>
            <a:ext cx="2697480" cy="685800"/>
          </a:xfrm>
          <a:prstGeom prst="roundRect">
            <a:avLst>
              <a:gd name="adj" fmla="val 10667"/>
            </a:avLst>
          </a:prstGeom>
          <a:solidFill>
            <a:schemeClr val="bg1"/>
          </a:solidFill>
          <a:ln w="12700">
            <a:solidFill>
              <a:schemeClr val="accent2"/>
            </a:solidFill>
            <a:prstDash val="solid"/>
          </a:ln>
        </p:spPr>
      </p:sp>
      <p:sp>
        <p:nvSpPr>
          <p:cNvPr id="20" name="text-163"/>
          <p:cNvSpPr txBox="1"/>
          <p:nvPr/>
        </p:nvSpPr>
        <p:spPr>
          <a:xfrm>
            <a:off x="8869680" y="3986784"/>
            <a:ext cx="2468880" cy="649224"/>
          </a:xfrm>
          <a:prstGeom prst="rect">
            <a:avLst/>
          </a:prstGeom>
          <a:noFill/>
          <a:ln/>
        </p:spPr>
        <p:txBody>
          <a:bodyPr wrap="square" lIns="0" tIns="0" rIns="0" bIns="0" rtlCol="0" anchor="ctr"/>
          <a:lstStyle/>
          <a:p>
            <a:pPr algn="l" indent="0" marL="0">
              <a:buNone/>
            </a:pPr>
            <a:r>
              <a:rPr lang="en-US" sz="1200" b="1" dirty="0">
                <a:solidFill>
                  <a:schemeClr val="accent2"/>
                </a:solidFill>
              </a:rPr>
              <a:t>Prompt-injection text: quarantined</a:t>
            </a:r>
            <a:endParaRPr lang="en-US" sz="1200" dirty="0"/>
          </a:p>
        </p:txBody>
      </p:sp>
      <p:sp>
        <p:nvSpPr>
          <p:cNvPr id="21" name="tb-row-164"/>
          <p:cNvSpPr/>
          <p:nvPr/>
        </p:nvSpPr>
        <p:spPr>
          <a:xfrm>
            <a:off x="548640" y="4992624"/>
            <a:ext cx="11064240" cy="1051560"/>
          </a:xfrm>
          <a:prstGeom prst="roundRect">
            <a:avLst>
              <a:gd name="adj" fmla="val 6957"/>
            </a:avLst>
          </a:prstGeom>
          <a:solidFill>
            <a:schemeClr val="bg2"/>
          </a:solidFill>
          <a:ln/>
        </p:spPr>
      </p:sp>
      <p:sp>
        <p:nvSpPr>
          <p:cNvPr id="22" name="num-165"/>
          <p:cNvSpPr txBox="1"/>
          <p:nvPr/>
        </p:nvSpPr>
        <p:spPr>
          <a:xfrm>
            <a:off x="777240" y="5266944"/>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166"/>
          <p:cNvSpPr txBox="1"/>
          <p:nvPr/>
        </p:nvSpPr>
        <p:spPr>
          <a:xfrm>
            <a:off x="1508760" y="5120640"/>
            <a:ext cx="2606040" cy="777240"/>
          </a:xfrm>
          <a:prstGeom prst="rect">
            <a:avLst/>
          </a:prstGeom>
          <a:noFill/>
          <a:ln/>
        </p:spPr>
        <p:txBody>
          <a:bodyPr wrap="square" lIns="0" tIns="0" rIns="0" bIns="0" rtlCol="0" anchor="ctr"/>
          <a:lstStyle/>
          <a:p>
            <a:pPr algn="l" indent="0" marL="0">
              <a:buNone/>
            </a:pPr>
            <a:r>
              <a:rPr lang="en-US" sz="1800" b="1" dirty="0">
                <a:solidFill>
                  <a:schemeClr val="tx2"/>
                </a:solidFill>
              </a:rPr>
              <a:t>What leaves the system</a:t>
            </a:r>
            <a:endParaRPr lang="en-US" sz="1800" dirty="0"/>
          </a:p>
        </p:txBody>
      </p:sp>
      <p:sp>
        <p:nvSpPr>
          <p:cNvPr id="24" name="text-167"/>
          <p:cNvSpPr txBox="1"/>
          <p:nvPr/>
        </p:nvSpPr>
        <p:spPr>
          <a:xfrm>
            <a:off x="4206240" y="5120640"/>
            <a:ext cx="4343400" cy="804672"/>
          </a:xfrm>
          <a:prstGeom prst="rect">
            <a:avLst/>
          </a:prstGeom>
          <a:noFill/>
          <a:ln/>
        </p:spPr>
        <p:txBody>
          <a:bodyPr wrap="square" lIns="0" tIns="0" rIns="0" bIns="0" rtlCol="0" anchor="ctr"/>
          <a:lstStyle/>
          <a:p>
            <a:pPr algn="l" indent="0" marL="0">
              <a:buNone/>
            </a:pPr>
            <a:r>
              <a:rPr lang="en-US" sz="1400" dirty="0">
                <a:solidFill>
                  <a:schemeClr val="tx1"/>
                </a:solidFill>
              </a:rPr>
              <a:t>Denials look exactly like missing documents. Saved answers are re-checked each time they are opened.</a:t>
            </a:r>
            <a:endParaRPr lang="en-US" sz="1400" dirty="0"/>
          </a:p>
        </p:txBody>
      </p:sp>
      <p:sp>
        <p:nvSpPr>
          <p:cNvPr id="25" name="failclosed-168"/>
          <p:cNvSpPr/>
          <p:nvPr/>
        </p:nvSpPr>
        <p:spPr>
          <a:xfrm>
            <a:off x="8732520" y="5175504"/>
            <a:ext cx="2697480" cy="685800"/>
          </a:xfrm>
          <a:prstGeom prst="roundRect">
            <a:avLst>
              <a:gd name="adj" fmla="val 10667"/>
            </a:avLst>
          </a:prstGeom>
          <a:solidFill>
            <a:schemeClr val="bg1"/>
          </a:solidFill>
          <a:ln w="12700">
            <a:solidFill>
              <a:schemeClr val="accent5"/>
            </a:solidFill>
            <a:prstDash val="solid"/>
          </a:ln>
        </p:spPr>
      </p:sp>
      <p:sp>
        <p:nvSpPr>
          <p:cNvPr id="26" name="text-169"/>
          <p:cNvSpPr txBox="1"/>
          <p:nvPr/>
        </p:nvSpPr>
        <p:spPr>
          <a:xfrm>
            <a:off x="8869680" y="5193792"/>
            <a:ext cx="2468880" cy="649224"/>
          </a:xfrm>
          <a:prstGeom prst="rect">
            <a:avLst/>
          </a:prstGeom>
          <a:noFill/>
          <a:ln/>
        </p:spPr>
        <p:txBody>
          <a:bodyPr wrap="square" lIns="0" tIns="0" rIns="0" bIns="0" rtlCol="0" anchor="ctr"/>
          <a:lstStyle/>
          <a:p>
            <a:pPr algn="l" indent="0" marL="0">
              <a:buNone/>
            </a:pPr>
            <a:r>
              <a:rPr lang="en-US" sz="1200" b="1" dirty="0">
                <a:solidFill>
                  <a:schemeClr val="accent5"/>
                </a:solidFill>
              </a:rPr>
              <a:t>Revoked or untraceable evidence: answer withheld</a:t>
            </a:r>
            <a:endParaRPr lang="en-US" sz="1200" dirty="0"/>
          </a:p>
        </p:txBody>
      </p:sp>
      <p:sp>
        <p:nvSpPr>
          <p:cNvPr id="27" name="text-170"/>
          <p:cNvSpPr txBox="1"/>
          <p:nvPr/>
        </p:nvSpPr>
        <p:spPr>
          <a:xfrm>
            <a:off x="8732520" y="1143000"/>
            <a:ext cx="2697480" cy="219456"/>
          </a:xfrm>
          <a:prstGeom prst="rect">
            <a:avLst/>
          </a:prstGeom>
          <a:noFill/>
          <a:ln/>
        </p:spPr>
        <p:txBody>
          <a:bodyPr wrap="square" lIns="0" tIns="0" rIns="0" bIns="0" rtlCol="0" anchor="t"/>
          <a:lstStyle/>
          <a:p>
            <a:pPr algn="l" indent="0" marL="0">
              <a:buNone/>
            </a:pPr>
            <a:r>
              <a:rPr lang="en-US" sz="1000" b="1" dirty="0">
                <a:solidFill>
                  <a:schemeClr val="accent6"/>
                </a:solidFill>
              </a:rPr>
              <a:t>FAILS CLOSED TO</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We keep each platform's own permission model instead of flattening it</a:t>
            </a:r>
            <a:endParaRPr lang="en-US" sz="2800" dirty="0"/>
          </a:p>
        </p:txBody>
      </p:sp>
      <p:sp>
        <p:nvSpPr>
          <p:cNvPr id="3" name="src-card-171"/>
          <p:cNvSpPr/>
          <p:nvPr/>
        </p:nvSpPr>
        <p:spPr>
          <a:xfrm>
            <a:off x="548640" y="1325880"/>
            <a:ext cx="5440680" cy="1783080"/>
          </a:xfrm>
          <a:prstGeom prst="roundRect">
            <a:avLst>
              <a:gd name="adj" fmla="val 4103"/>
            </a:avLst>
          </a:prstGeom>
          <a:solidFill>
            <a:schemeClr val="bg1"/>
          </a:solidFill>
          <a:ln w="12700">
            <a:solidFill>
              <a:srgbClr val="CBD5E1"/>
            </a:solidFill>
            <a:prstDash val="solid"/>
          </a:ln>
          <a:effectLst>
            <a:outerShdw sx="100000" sy="100000" kx="0" ky="0" algn="bl" rotWithShape="0" blurRad="76200" dist="25400" dir="5400000">
              <a:srgbClr val="0F172A">
                <a:alpha val="12000"/>
              </a:srgbClr>
            </a:outerShdw>
          </a:effectLst>
        </p:spPr>
      </p:sp>
      <p:sp>
        <p:nvSpPr>
          <p:cNvPr id="4" name="icon-bg-172"/>
          <p:cNvSpPr/>
          <p:nvPr/>
        </p:nvSpPr>
        <p:spPr>
          <a:xfrm>
            <a:off x="777240" y="1554480"/>
            <a:ext cx="640080" cy="640080"/>
          </a:xfrm>
          <a:prstGeom prst="ellipse">
            <a:avLst/>
          </a:prstGeom>
          <a:solidFill>
            <a:schemeClr val="bg2"/>
          </a:solidFill>
          <a:ln/>
        </p:spPr>
      </p:sp>
      <p:pic>
        <p:nvPicPr>
          <p:cNvPr id="5" name="icon-173" descr="preencoded.png">    </p:cNvPr>
          <p:cNvPicPr>
            <a:picLocks noChangeAspect="1"/>
          </p:cNvPicPr>
          <p:nvPr/>
        </p:nvPicPr>
        <p:blipFill>
          <a:blip r:embed="rId1"/>
          <a:stretch>
            <a:fillRect/>
          </a:stretch>
        </p:blipFill>
        <p:spPr>
          <a:xfrm>
            <a:off x="905256" y="1682496"/>
            <a:ext cx="384048" cy="384048"/>
          </a:xfrm>
          <a:prstGeom prst="rect">
            <a:avLst/>
          </a:prstGeom>
        </p:spPr>
      </p:pic>
      <p:sp>
        <p:nvSpPr>
          <p:cNvPr id="6" name="text-174"/>
          <p:cNvSpPr txBox="1"/>
          <p:nvPr/>
        </p:nvSpPr>
        <p:spPr>
          <a:xfrm>
            <a:off x="1554480" y="1600200"/>
            <a:ext cx="4206240" cy="457200"/>
          </a:xfrm>
          <a:prstGeom prst="rect">
            <a:avLst/>
          </a:prstGeom>
          <a:noFill/>
          <a:ln/>
        </p:spPr>
        <p:txBody>
          <a:bodyPr wrap="square" lIns="0" tIns="0" rIns="0" bIns="0" rtlCol="0" anchor="ctr"/>
          <a:lstStyle/>
          <a:p>
            <a:pPr algn="l" indent="0" marL="0">
              <a:buNone/>
            </a:pPr>
            <a:r>
              <a:rPr lang="en-US" sz="2000" b="1" dirty="0">
                <a:solidFill>
                  <a:schemeClr val="tx2"/>
                </a:solidFill>
              </a:rPr>
              <a:t>Confluence</a:t>
            </a:r>
            <a:endParaRPr lang="en-US" sz="2000" dirty="0"/>
          </a:p>
        </p:txBody>
      </p:sp>
      <p:sp>
        <p:nvSpPr>
          <p:cNvPr id="7" name="text-175"/>
          <p:cNvSpPr txBox="1"/>
          <p:nvPr/>
        </p:nvSpPr>
        <p:spPr>
          <a:xfrm>
            <a:off x="1554480" y="2103120"/>
            <a:ext cx="4251960" cy="457200"/>
          </a:xfrm>
          <a:prstGeom prst="rect">
            <a:avLst/>
          </a:prstGeom>
          <a:noFill/>
          <a:ln/>
        </p:spPr>
        <p:txBody>
          <a:bodyPr wrap="square" lIns="0" tIns="0" rIns="0" bIns="0" rtlCol="0" anchor="t"/>
          <a:lstStyle/>
          <a:p>
            <a:pPr algn="l" indent="0" marL="0">
              <a:buNone/>
            </a:pPr>
            <a:r>
              <a:rPr lang="en-US" sz="1300" dirty="0">
                <a:solidFill>
                  <a:schemeClr val="tx1"/>
                </a:solidFill>
              </a:rPr>
              <a:t>Space view permission, plus page restrictions, plus every parent page's restrictions</a:t>
            </a:r>
            <a:endParaRPr lang="en-US" sz="1300" dirty="0"/>
          </a:p>
        </p:txBody>
      </p:sp>
      <p:pic>
        <p:nvPicPr>
          <p:cNvPr id="8" name="check-176" descr="preencoded.png">    </p:cNvPr>
          <p:cNvPicPr>
            <a:picLocks noChangeAspect="1"/>
          </p:cNvPicPr>
          <p:nvPr/>
        </p:nvPicPr>
        <p:blipFill>
          <a:blip r:embed="rId2"/>
          <a:stretch>
            <a:fillRect/>
          </a:stretch>
        </p:blipFill>
        <p:spPr>
          <a:xfrm>
            <a:off x="1554480" y="2651760"/>
            <a:ext cx="228600" cy="228600"/>
          </a:xfrm>
          <a:prstGeom prst="rect">
            <a:avLst/>
          </a:prstGeom>
        </p:spPr>
      </p:pic>
      <p:sp>
        <p:nvSpPr>
          <p:cNvPr id="9" name="text-177"/>
          <p:cNvSpPr txBox="1"/>
          <p:nvPr/>
        </p:nvSpPr>
        <p:spPr>
          <a:xfrm>
            <a:off x="1874520" y="2606040"/>
            <a:ext cx="3977640" cy="411480"/>
          </a:xfrm>
          <a:prstGeom prst="rect">
            <a:avLst/>
          </a:prstGeom>
          <a:noFill/>
          <a:ln/>
        </p:spPr>
        <p:txBody>
          <a:bodyPr wrap="square" lIns="0" tIns="0" rIns="0" bIns="0" rtlCol="0" anchor="ctr"/>
          <a:lstStyle/>
          <a:p>
            <a:pPr algn="l" indent="0" marL="0">
              <a:buNone/>
            </a:pPr>
            <a:r>
              <a:rPr lang="en-US" sz="1200" i="1" dirty="0">
                <a:solidFill>
                  <a:schemeClr val="accent1"/>
                </a:solidFill>
              </a:rPr>
              <a:t>A parent page whose restrictions were not captured denies access</a:t>
            </a:r>
            <a:endParaRPr lang="en-US" sz="1200" dirty="0"/>
          </a:p>
        </p:txBody>
      </p:sp>
      <p:sp>
        <p:nvSpPr>
          <p:cNvPr id="10" name="src-card-178"/>
          <p:cNvSpPr/>
          <p:nvPr/>
        </p:nvSpPr>
        <p:spPr>
          <a:xfrm>
            <a:off x="6172200" y="1325880"/>
            <a:ext cx="5440680" cy="1783080"/>
          </a:xfrm>
          <a:prstGeom prst="roundRect">
            <a:avLst>
              <a:gd name="adj" fmla="val 4103"/>
            </a:avLst>
          </a:prstGeom>
          <a:solidFill>
            <a:schemeClr val="bg1"/>
          </a:solidFill>
          <a:ln w="12700">
            <a:solidFill>
              <a:srgbClr val="CBD5E1"/>
            </a:solidFill>
            <a:prstDash val="solid"/>
          </a:ln>
          <a:effectLst>
            <a:outerShdw sx="100000" sy="100000" kx="0" ky="0" algn="bl" rotWithShape="0" blurRad="76200" dist="25400" dir="5400000">
              <a:srgbClr val="0F172A">
                <a:alpha val="12000"/>
              </a:srgbClr>
            </a:outerShdw>
          </a:effectLst>
        </p:spPr>
      </p:sp>
      <p:sp>
        <p:nvSpPr>
          <p:cNvPr id="11" name="icon-bg-179"/>
          <p:cNvSpPr/>
          <p:nvPr/>
        </p:nvSpPr>
        <p:spPr>
          <a:xfrm>
            <a:off x="6400800" y="1554480"/>
            <a:ext cx="640080" cy="640080"/>
          </a:xfrm>
          <a:prstGeom prst="ellipse">
            <a:avLst/>
          </a:prstGeom>
          <a:solidFill>
            <a:schemeClr val="bg2"/>
          </a:solidFill>
          <a:ln/>
        </p:spPr>
      </p:sp>
      <p:pic>
        <p:nvPicPr>
          <p:cNvPr id="12" name="icon-180" descr="preencoded.png">    </p:cNvPr>
          <p:cNvPicPr>
            <a:picLocks noChangeAspect="1"/>
          </p:cNvPicPr>
          <p:nvPr/>
        </p:nvPicPr>
        <p:blipFill>
          <a:blip r:embed="rId3"/>
          <a:stretch>
            <a:fillRect/>
          </a:stretch>
        </p:blipFill>
        <p:spPr>
          <a:xfrm>
            <a:off x="6528816" y="1682496"/>
            <a:ext cx="384048" cy="384048"/>
          </a:xfrm>
          <a:prstGeom prst="rect">
            <a:avLst/>
          </a:prstGeom>
        </p:spPr>
      </p:pic>
      <p:sp>
        <p:nvSpPr>
          <p:cNvPr id="13" name="text-181"/>
          <p:cNvSpPr txBox="1"/>
          <p:nvPr/>
        </p:nvSpPr>
        <p:spPr>
          <a:xfrm>
            <a:off x="7178040" y="1600200"/>
            <a:ext cx="4206240" cy="457200"/>
          </a:xfrm>
          <a:prstGeom prst="rect">
            <a:avLst/>
          </a:prstGeom>
          <a:noFill/>
          <a:ln/>
        </p:spPr>
        <p:txBody>
          <a:bodyPr wrap="square" lIns="0" tIns="0" rIns="0" bIns="0" rtlCol="0" anchor="ctr"/>
          <a:lstStyle/>
          <a:p>
            <a:pPr algn="l" indent="0" marL="0">
              <a:buNone/>
            </a:pPr>
            <a:r>
              <a:rPr lang="en-US" sz="2000" b="1" dirty="0">
                <a:solidFill>
                  <a:schemeClr val="tx2"/>
                </a:solidFill>
              </a:rPr>
              <a:t>Jira</a:t>
            </a:r>
            <a:endParaRPr lang="en-US" sz="2000" dirty="0"/>
          </a:p>
        </p:txBody>
      </p:sp>
      <p:sp>
        <p:nvSpPr>
          <p:cNvPr id="14" name="text-182"/>
          <p:cNvSpPr txBox="1"/>
          <p:nvPr/>
        </p:nvSpPr>
        <p:spPr>
          <a:xfrm>
            <a:off x="7178040" y="2103120"/>
            <a:ext cx="4251960" cy="457200"/>
          </a:xfrm>
          <a:prstGeom prst="rect">
            <a:avLst/>
          </a:prstGeom>
          <a:noFill/>
          <a:ln/>
        </p:spPr>
        <p:txBody>
          <a:bodyPr wrap="square" lIns="0" tIns="0" rIns="0" bIns="0" rtlCol="0" anchor="t"/>
          <a:lstStyle/>
          <a:p>
            <a:pPr algn="l" indent="0" marL="0">
              <a:buNone/>
            </a:pPr>
            <a:r>
              <a:rPr lang="en-US" sz="1300" dirty="0">
                <a:solidFill>
                  <a:schemeClr val="tx1"/>
                </a:solidFill>
              </a:rPr>
              <a:t>Browse Projects role, plus the issue's security level</a:t>
            </a:r>
            <a:endParaRPr lang="en-US" sz="1300" dirty="0"/>
          </a:p>
        </p:txBody>
      </p:sp>
      <p:pic>
        <p:nvPicPr>
          <p:cNvPr id="15" name="check-183" descr="preencoded.png">    </p:cNvPr>
          <p:cNvPicPr>
            <a:picLocks noChangeAspect="1"/>
          </p:cNvPicPr>
          <p:nvPr/>
        </p:nvPicPr>
        <p:blipFill>
          <a:blip r:embed="rId4"/>
          <a:stretch>
            <a:fillRect/>
          </a:stretch>
        </p:blipFill>
        <p:spPr>
          <a:xfrm>
            <a:off x="7178040" y="2651760"/>
            <a:ext cx="228600" cy="228600"/>
          </a:xfrm>
          <a:prstGeom prst="rect">
            <a:avLst/>
          </a:prstGeom>
        </p:spPr>
      </p:pic>
      <p:sp>
        <p:nvSpPr>
          <p:cNvPr id="16" name="text-184"/>
          <p:cNvSpPr txBox="1"/>
          <p:nvPr/>
        </p:nvSpPr>
        <p:spPr>
          <a:xfrm>
            <a:off x="7498080" y="2606040"/>
            <a:ext cx="3977640" cy="411480"/>
          </a:xfrm>
          <a:prstGeom prst="rect">
            <a:avLst/>
          </a:prstGeom>
          <a:noFill/>
          <a:ln/>
        </p:spPr>
        <p:txBody>
          <a:bodyPr wrap="square" lIns="0" tIns="0" rIns="0" bIns="0" rtlCol="0" anchor="ctr"/>
          <a:lstStyle/>
          <a:p>
            <a:pPr algn="l" indent="0" marL="0">
              <a:buNone/>
            </a:pPr>
            <a:r>
              <a:rPr lang="en-US" sz="1200" i="1" dirty="0">
                <a:solidFill>
                  <a:schemeClr val="accent1"/>
                </a:solidFill>
              </a:rPr>
              <a:t>Project access alone never reveals a restricted issue</a:t>
            </a:r>
            <a:endParaRPr lang="en-US" sz="1200" dirty="0"/>
          </a:p>
        </p:txBody>
      </p:sp>
      <p:sp>
        <p:nvSpPr>
          <p:cNvPr id="17" name="src-card-185"/>
          <p:cNvSpPr/>
          <p:nvPr/>
        </p:nvSpPr>
        <p:spPr>
          <a:xfrm>
            <a:off x="548640" y="3291840"/>
            <a:ext cx="5440680" cy="1783080"/>
          </a:xfrm>
          <a:prstGeom prst="roundRect">
            <a:avLst>
              <a:gd name="adj" fmla="val 4103"/>
            </a:avLst>
          </a:prstGeom>
          <a:solidFill>
            <a:schemeClr val="bg1"/>
          </a:solidFill>
          <a:ln w="12700">
            <a:solidFill>
              <a:srgbClr val="CBD5E1"/>
            </a:solidFill>
            <a:prstDash val="solid"/>
          </a:ln>
          <a:effectLst>
            <a:outerShdw sx="100000" sy="100000" kx="0" ky="0" algn="bl" rotWithShape="0" blurRad="76200" dist="25400" dir="5400000">
              <a:srgbClr val="0F172A">
                <a:alpha val="12000"/>
              </a:srgbClr>
            </a:outerShdw>
          </a:effectLst>
        </p:spPr>
      </p:sp>
      <p:sp>
        <p:nvSpPr>
          <p:cNvPr id="18" name="icon-bg-186"/>
          <p:cNvSpPr/>
          <p:nvPr/>
        </p:nvSpPr>
        <p:spPr>
          <a:xfrm>
            <a:off x="777240" y="3520440"/>
            <a:ext cx="640080" cy="640080"/>
          </a:xfrm>
          <a:prstGeom prst="ellipse">
            <a:avLst/>
          </a:prstGeom>
          <a:solidFill>
            <a:schemeClr val="bg2"/>
          </a:solidFill>
          <a:ln/>
        </p:spPr>
      </p:sp>
      <p:pic>
        <p:nvPicPr>
          <p:cNvPr id="19" name="icon-187" descr="preencoded.png">    </p:cNvPr>
          <p:cNvPicPr>
            <a:picLocks noChangeAspect="1"/>
          </p:cNvPicPr>
          <p:nvPr/>
        </p:nvPicPr>
        <p:blipFill>
          <a:blip r:embed="rId5"/>
          <a:stretch>
            <a:fillRect/>
          </a:stretch>
        </p:blipFill>
        <p:spPr>
          <a:xfrm>
            <a:off x="905256" y="3648456"/>
            <a:ext cx="384048" cy="384048"/>
          </a:xfrm>
          <a:prstGeom prst="rect">
            <a:avLst/>
          </a:prstGeom>
        </p:spPr>
      </p:pic>
      <p:sp>
        <p:nvSpPr>
          <p:cNvPr id="20" name="text-188"/>
          <p:cNvSpPr txBox="1"/>
          <p:nvPr/>
        </p:nvSpPr>
        <p:spPr>
          <a:xfrm>
            <a:off x="1554480" y="3566160"/>
            <a:ext cx="4206240" cy="457200"/>
          </a:xfrm>
          <a:prstGeom prst="rect">
            <a:avLst/>
          </a:prstGeom>
          <a:noFill/>
          <a:ln/>
        </p:spPr>
        <p:txBody>
          <a:bodyPr wrap="square" lIns="0" tIns="0" rIns="0" bIns="0" rtlCol="0" anchor="ctr"/>
          <a:lstStyle/>
          <a:p>
            <a:pPr algn="l" indent="0" marL="0">
              <a:buNone/>
            </a:pPr>
            <a:r>
              <a:rPr lang="en-US" sz="2000" b="1" dirty="0">
                <a:solidFill>
                  <a:schemeClr val="tx2"/>
                </a:solidFill>
              </a:rPr>
              <a:t>Slack</a:t>
            </a:r>
            <a:endParaRPr lang="en-US" sz="2000" dirty="0"/>
          </a:p>
        </p:txBody>
      </p:sp>
      <p:sp>
        <p:nvSpPr>
          <p:cNvPr id="21" name="text-189"/>
          <p:cNvSpPr txBox="1"/>
          <p:nvPr/>
        </p:nvSpPr>
        <p:spPr>
          <a:xfrm>
            <a:off x="1554480" y="4069080"/>
            <a:ext cx="4251960" cy="457200"/>
          </a:xfrm>
          <a:prstGeom prst="rect">
            <a:avLst/>
          </a:prstGeom>
          <a:noFill/>
          <a:ln/>
        </p:spPr>
        <p:txBody>
          <a:bodyPr wrap="square" lIns="0" tIns="0" rIns="0" bIns="0" rtlCol="0" anchor="t"/>
          <a:lstStyle/>
          <a:p>
            <a:pPr algn="l" indent="0" marL="0">
              <a:buNone/>
            </a:pPr>
            <a:r>
              <a:rPr lang="en-US" sz="1300" dirty="0">
                <a:solidFill>
                  <a:schemeClr val="tx1"/>
                </a:solidFill>
              </a:rPr>
              <a:t>Channel membership; public channels for full members only. In production, searched live as the user; nothing stored</a:t>
            </a:r>
            <a:endParaRPr lang="en-US" sz="1300" dirty="0"/>
          </a:p>
        </p:txBody>
      </p:sp>
      <p:pic>
        <p:nvPicPr>
          <p:cNvPr id="22" name="check-190" descr="preencoded.png">    </p:cNvPr>
          <p:cNvPicPr>
            <a:picLocks noChangeAspect="1"/>
          </p:cNvPicPr>
          <p:nvPr/>
        </p:nvPicPr>
        <p:blipFill>
          <a:blip r:embed="rId6"/>
          <a:stretch>
            <a:fillRect/>
          </a:stretch>
        </p:blipFill>
        <p:spPr>
          <a:xfrm>
            <a:off x="1554480" y="4617720"/>
            <a:ext cx="228600" cy="228600"/>
          </a:xfrm>
          <a:prstGeom prst="rect">
            <a:avLst/>
          </a:prstGeom>
        </p:spPr>
      </p:pic>
      <p:sp>
        <p:nvSpPr>
          <p:cNvPr id="23" name="text-191"/>
          <p:cNvSpPr txBox="1"/>
          <p:nvPr/>
        </p:nvSpPr>
        <p:spPr>
          <a:xfrm>
            <a:off x="1874520" y="4572000"/>
            <a:ext cx="3977640" cy="411480"/>
          </a:xfrm>
          <a:prstGeom prst="rect">
            <a:avLst/>
          </a:prstGeom>
          <a:noFill/>
          <a:ln/>
        </p:spPr>
        <p:txBody>
          <a:bodyPr wrap="square" lIns="0" tIns="0" rIns="0" bIns="0" rtlCol="0" anchor="ctr"/>
          <a:lstStyle/>
          <a:p>
            <a:pPr algn="l" indent="0" marL="0">
              <a:buNone/>
            </a:pPr>
            <a:r>
              <a:rPr lang="en-US" sz="1200" i="1" dirty="0">
                <a:solidFill>
                  <a:schemeClr val="accent1"/>
                </a:solidFill>
              </a:rPr>
              <a:t>Guests, bots and other workspaces never inherit public access</a:t>
            </a:r>
            <a:endParaRPr lang="en-US" sz="1200" dirty="0"/>
          </a:p>
        </p:txBody>
      </p:sp>
      <p:sp>
        <p:nvSpPr>
          <p:cNvPr id="24" name="src-card-192"/>
          <p:cNvSpPr/>
          <p:nvPr/>
        </p:nvSpPr>
        <p:spPr>
          <a:xfrm>
            <a:off x="6172200" y="3291840"/>
            <a:ext cx="5440680" cy="1783080"/>
          </a:xfrm>
          <a:prstGeom prst="roundRect">
            <a:avLst>
              <a:gd name="adj" fmla="val 4103"/>
            </a:avLst>
          </a:prstGeom>
          <a:solidFill>
            <a:schemeClr val="bg1"/>
          </a:solidFill>
          <a:ln w="12700">
            <a:solidFill>
              <a:srgbClr val="CBD5E1"/>
            </a:solidFill>
            <a:prstDash val="solid"/>
          </a:ln>
          <a:effectLst>
            <a:outerShdw sx="100000" sy="100000" kx="0" ky="0" algn="bl" rotWithShape="0" blurRad="76200" dist="25400" dir="5400000">
              <a:srgbClr val="0F172A">
                <a:alpha val="12000"/>
              </a:srgbClr>
            </a:outerShdw>
          </a:effectLst>
        </p:spPr>
      </p:sp>
      <p:sp>
        <p:nvSpPr>
          <p:cNvPr id="25" name="icon-bg-193"/>
          <p:cNvSpPr/>
          <p:nvPr/>
        </p:nvSpPr>
        <p:spPr>
          <a:xfrm>
            <a:off x="6400800" y="3520440"/>
            <a:ext cx="640080" cy="640080"/>
          </a:xfrm>
          <a:prstGeom prst="ellipse">
            <a:avLst/>
          </a:prstGeom>
          <a:solidFill>
            <a:schemeClr val="bg2"/>
          </a:solidFill>
          <a:ln/>
        </p:spPr>
      </p:sp>
      <p:pic>
        <p:nvPicPr>
          <p:cNvPr id="26" name="icon-194" descr="preencoded.png">    </p:cNvPr>
          <p:cNvPicPr>
            <a:picLocks noChangeAspect="1"/>
          </p:cNvPicPr>
          <p:nvPr/>
        </p:nvPicPr>
        <p:blipFill>
          <a:blip r:embed="rId7"/>
          <a:stretch>
            <a:fillRect/>
          </a:stretch>
        </p:blipFill>
        <p:spPr>
          <a:xfrm>
            <a:off x="6528816" y="3648456"/>
            <a:ext cx="384048" cy="384048"/>
          </a:xfrm>
          <a:prstGeom prst="rect">
            <a:avLst/>
          </a:prstGeom>
        </p:spPr>
      </p:pic>
      <p:sp>
        <p:nvSpPr>
          <p:cNvPr id="27" name="text-195"/>
          <p:cNvSpPr txBox="1"/>
          <p:nvPr/>
        </p:nvSpPr>
        <p:spPr>
          <a:xfrm>
            <a:off x="7178040" y="3566160"/>
            <a:ext cx="4206240" cy="457200"/>
          </a:xfrm>
          <a:prstGeom prst="rect">
            <a:avLst/>
          </a:prstGeom>
          <a:noFill/>
          <a:ln/>
        </p:spPr>
        <p:txBody>
          <a:bodyPr wrap="square" lIns="0" tIns="0" rIns="0" bIns="0" rtlCol="0" anchor="ctr"/>
          <a:lstStyle/>
          <a:p>
            <a:pPr algn="l" indent="0" marL="0">
              <a:buNone/>
            </a:pPr>
            <a:r>
              <a:rPr lang="en-US" sz="2000" b="1" dirty="0">
                <a:solidFill>
                  <a:schemeClr val="tx2"/>
                </a:solidFill>
              </a:rPr>
              <a:t>Google Drive</a:t>
            </a:r>
            <a:endParaRPr lang="en-US" sz="2000" dirty="0"/>
          </a:p>
        </p:txBody>
      </p:sp>
      <p:sp>
        <p:nvSpPr>
          <p:cNvPr id="28" name="text-196"/>
          <p:cNvSpPr txBox="1"/>
          <p:nvPr/>
        </p:nvSpPr>
        <p:spPr>
          <a:xfrm>
            <a:off x="7178040" y="4069080"/>
            <a:ext cx="4251960" cy="457200"/>
          </a:xfrm>
          <a:prstGeom prst="rect">
            <a:avLst/>
          </a:prstGeom>
          <a:noFill/>
          <a:ln/>
        </p:spPr>
        <p:txBody>
          <a:bodyPr wrap="square" lIns="0" tIns="0" rIns="0" bIns="0" rtlCol="0" anchor="t"/>
          <a:lstStyle/>
          <a:p>
            <a:pPr algn="l" indent="0" marL="0">
              <a:buNone/>
            </a:pPr>
            <a:r>
              <a:rPr lang="en-US" sz="1300" dirty="0">
                <a:solidFill>
                  <a:schemeClr val="tx1"/>
                </a:solidFill>
              </a:rPr>
              <a:t>Effective file permissions: users, groups and domains</a:t>
            </a:r>
            <a:endParaRPr lang="en-US" sz="1300" dirty="0"/>
          </a:p>
        </p:txBody>
      </p:sp>
      <p:pic>
        <p:nvPicPr>
          <p:cNvPr id="29" name="check-197" descr="preencoded.png">    </p:cNvPr>
          <p:cNvPicPr>
            <a:picLocks noChangeAspect="1"/>
          </p:cNvPicPr>
          <p:nvPr/>
        </p:nvPicPr>
        <p:blipFill>
          <a:blip r:embed="rId8"/>
          <a:stretch>
            <a:fillRect/>
          </a:stretch>
        </p:blipFill>
        <p:spPr>
          <a:xfrm>
            <a:off x="7178040" y="4617720"/>
            <a:ext cx="228600" cy="228600"/>
          </a:xfrm>
          <a:prstGeom prst="rect">
            <a:avLst/>
          </a:prstGeom>
        </p:spPr>
      </p:pic>
      <p:sp>
        <p:nvSpPr>
          <p:cNvPr id="30" name="text-198"/>
          <p:cNvSpPr txBox="1"/>
          <p:nvPr/>
        </p:nvSpPr>
        <p:spPr>
          <a:xfrm>
            <a:off x="7498080" y="4572000"/>
            <a:ext cx="3977640" cy="411480"/>
          </a:xfrm>
          <a:prstGeom prst="rect">
            <a:avLst/>
          </a:prstGeom>
          <a:noFill/>
          <a:ln/>
        </p:spPr>
        <p:txBody>
          <a:bodyPr wrap="square" lIns="0" tIns="0" rIns="0" bIns="0" rtlCol="0" anchor="ctr"/>
          <a:lstStyle/>
          <a:p>
            <a:pPr algn="l" indent="0" marL="0">
              <a:buNone/>
            </a:pPr>
            <a:r>
              <a:rPr lang="en-US" sz="1200" i="1" dirty="0">
                <a:solidFill>
                  <a:schemeClr val="accent1"/>
                </a:solidFill>
              </a:rPr>
              <a:t>Expired, deleted and link-only shares do not make a file searchable</a:t>
            </a:r>
            <a:endParaRPr lang="en-US" sz="1200" dirty="0"/>
          </a:p>
        </p:txBody>
      </p:sp>
      <p:sp>
        <p:nvSpPr>
          <p:cNvPr id="31" name="equation-199"/>
          <p:cNvSpPr/>
          <p:nvPr/>
        </p:nvSpPr>
        <p:spPr>
          <a:xfrm>
            <a:off x="548640" y="5349240"/>
            <a:ext cx="11064240" cy="868680"/>
          </a:xfrm>
          <a:prstGeom prst="roundRect">
            <a:avLst>
              <a:gd name="adj" fmla="val 8421"/>
            </a:avLst>
          </a:prstGeom>
          <a:solidFill>
            <a:schemeClr val="tx2"/>
          </a:solidFill>
          <a:ln/>
        </p:spPr>
      </p:sp>
      <p:sp>
        <p:nvSpPr>
          <p:cNvPr id="32" name="text-200"/>
          <p:cNvSpPr txBox="1"/>
          <p:nvPr/>
        </p:nvSpPr>
        <p:spPr>
          <a:xfrm>
            <a:off x="822960" y="5413248"/>
            <a:ext cx="10607040" cy="749808"/>
          </a:xfrm>
          <a:prstGeom prst="rect">
            <a:avLst/>
          </a:prstGeom>
          <a:noFill/>
          <a:ln/>
        </p:spPr>
        <p:txBody>
          <a:bodyPr wrap="square" lIns="0" tIns="0" rIns="0" bIns="0" rtlCol="0" anchor="ctr"/>
          <a:lstStyle/>
          <a:p>
            <a:pPr algn="l" indent="0" marL="0">
              <a:buNone/>
            </a:pPr>
            <a:r>
              <a:rPr lang="en-US" sz="2000" b="1" dirty="0">
                <a:solidFill>
                  <a:schemeClr val="bg1"/>
                </a:solidFill>
              </a:rPr>
              <a:t>Native source access  ∩  local policy  =  allowed evidence</a:t>
            </a:r>
            <a:endParaRPr lang="en-US" sz="1400" dirty="0"/>
          </a:p>
          <a:p>
            <a:pPr algn="l" indent="0" marL="0">
              <a:buNone/>
            </a:pPr>
            <a:r>
              <a:rPr lang="en-US" sz="1300" dirty="0">
                <a:solidFill>
                  <a:srgbClr val="C9D8EE"/>
                </a:solidFill>
              </a:rPr>
              <a:t>A local grant can narrow access but never widen what the source allows. Confidential documents also need the owner, an admin or an active grant.</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The access-control demo in three scenes</a:t>
            </a:r>
            <a:endParaRPr lang="en-US" sz="2800" dirty="0"/>
          </a:p>
        </p:txBody>
      </p:sp>
      <p:sp>
        <p:nvSpPr>
          <p:cNvPr id="3" name="scene-201"/>
          <p:cNvSpPr/>
          <p:nvPr/>
        </p:nvSpPr>
        <p:spPr>
          <a:xfrm>
            <a:off x="548640" y="1325880"/>
            <a:ext cx="3520440" cy="4846320"/>
          </a:xfrm>
          <a:prstGeom prst="roundRect">
            <a:avLst>
              <a:gd name="adj" fmla="val 2078"/>
            </a:avLst>
          </a:prstGeom>
          <a:solidFill>
            <a:schemeClr val="bg2"/>
          </a:solidFill>
          <a:ln/>
        </p:spPr>
      </p:sp>
      <p:sp>
        <p:nvSpPr>
          <p:cNvPr id="4" name="num-202"/>
          <p:cNvSpPr txBox="1"/>
          <p:nvPr/>
        </p:nvSpPr>
        <p:spPr>
          <a:xfrm>
            <a:off x="777240" y="1508760"/>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203"/>
          <p:cNvSpPr txBox="1"/>
          <p:nvPr/>
        </p:nvSpPr>
        <p:spPr>
          <a:xfrm>
            <a:off x="1325880" y="1481328"/>
            <a:ext cx="2651760" cy="457200"/>
          </a:xfrm>
          <a:prstGeom prst="rect">
            <a:avLst/>
          </a:prstGeom>
          <a:noFill/>
          <a:ln/>
        </p:spPr>
        <p:txBody>
          <a:bodyPr wrap="square" lIns="0" tIns="0" rIns="0" bIns="0" rtlCol="0" anchor="ctr"/>
          <a:lstStyle/>
          <a:p>
            <a:pPr algn="l" indent="0" marL="0">
              <a:buNone/>
            </a:pPr>
            <a:r>
              <a:rPr lang="en-US" sz="1800" b="1" dirty="0">
                <a:solidFill>
                  <a:schemeClr val="tx2"/>
                </a:solidFill>
              </a:rPr>
              <a:t>Authorised employee</a:t>
            </a:r>
            <a:endParaRPr lang="en-US" sz="1800" dirty="0"/>
          </a:p>
        </p:txBody>
      </p:sp>
      <p:sp>
        <p:nvSpPr>
          <p:cNvPr id="6" name="icon-bg-204"/>
          <p:cNvSpPr/>
          <p:nvPr/>
        </p:nvSpPr>
        <p:spPr>
          <a:xfrm>
            <a:off x="777240" y="2103120"/>
            <a:ext cx="502920" cy="502920"/>
          </a:xfrm>
          <a:prstGeom prst="ellipse">
            <a:avLst/>
          </a:prstGeom>
          <a:solidFill>
            <a:schemeClr val="accent1"/>
          </a:solidFill>
          <a:ln/>
        </p:spPr>
      </p:sp>
      <p:pic>
        <p:nvPicPr>
          <p:cNvPr id="7" name="icon-205" descr="preencoded.png">    </p:cNvPr>
          <p:cNvPicPr>
            <a:picLocks noChangeAspect="1"/>
          </p:cNvPicPr>
          <p:nvPr/>
        </p:nvPicPr>
        <p:blipFill>
          <a:blip r:embed="rId1"/>
          <a:stretch>
            <a:fillRect/>
          </a:stretch>
        </p:blipFill>
        <p:spPr>
          <a:xfrm>
            <a:off x="887882" y="2213762"/>
            <a:ext cx="281635" cy="281635"/>
          </a:xfrm>
          <a:prstGeom prst="rect">
            <a:avLst/>
          </a:prstGeom>
        </p:spPr>
      </p:pic>
      <p:sp>
        <p:nvSpPr>
          <p:cNvPr id="8" name="text-206"/>
          <p:cNvSpPr txBox="1"/>
          <p:nvPr/>
        </p:nvSpPr>
        <p:spPr>
          <a:xfrm>
            <a:off x="1417320" y="2103120"/>
            <a:ext cx="2560320" cy="502920"/>
          </a:xfrm>
          <a:prstGeom prst="rect">
            <a:avLst/>
          </a:prstGeom>
          <a:noFill/>
          <a:ln/>
        </p:spPr>
        <p:txBody>
          <a:bodyPr wrap="square" lIns="0" tIns="0" rIns="0" bIns="0" rtlCol="0" anchor="ctr"/>
          <a:lstStyle/>
          <a:p>
            <a:pPr algn="l" indent="0" marL="0">
              <a:buNone/>
            </a:pPr>
            <a:r>
              <a:rPr lang="en-US" sz="1200" dirty="0">
                <a:solidFill>
                  <a:schemeClr val="accent6"/>
                </a:solidFill>
              </a:rPr>
              <a:t>John Tan · Finance Ops, Leadership</a:t>
            </a:r>
            <a:endParaRPr lang="en-US" sz="1200" dirty="0"/>
          </a:p>
        </p:txBody>
      </p:sp>
      <p:sp>
        <p:nvSpPr>
          <p:cNvPr id="9" name="text-207"/>
          <p:cNvSpPr txBox="1"/>
          <p:nvPr/>
        </p:nvSpPr>
        <p:spPr>
          <a:xfrm>
            <a:off x="777240" y="2788920"/>
            <a:ext cx="3063240" cy="685800"/>
          </a:xfrm>
          <a:prstGeom prst="rect">
            <a:avLst/>
          </a:prstGeom>
          <a:noFill/>
          <a:ln/>
        </p:spPr>
        <p:txBody>
          <a:bodyPr wrap="square" lIns="0" tIns="0" rIns="0" bIns="0" rtlCol="0" anchor="t"/>
          <a:lstStyle/>
          <a:p>
            <a:pPr algn="l" indent="0" marL="0">
              <a:buNone/>
            </a:pPr>
            <a:r>
              <a:rPr lang="en-US" sz="1400" i="1" dirty="0">
                <a:solidFill>
                  <a:schemeClr val="tx1"/>
                </a:solidFill>
              </a:rPr>
              <a:t>“What were the Q3 board deck revenue figures?”</a:t>
            </a:r>
            <a:endParaRPr lang="en-US" sz="1400" dirty="0"/>
          </a:p>
        </p:txBody>
      </p:sp>
      <p:sp>
        <p:nvSpPr>
          <p:cNvPr id="10" name="answer-mock-208"/>
          <p:cNvSpPr/>
          <p:nvPr/>
        </p:nvSpPr>
        <p:spPr>
          <a:xfrm>
            <a:off x="777240" y="3566160"/>
            <a:ext cx="3063240" cy="1234440"/>
          </a:xfrm>
          <a:prstGeom prst="roundRect">
            <a:avLst>
              <a:gd name="adj" fmla="val 5926"/>
            </a:avLst>
          </a:prstGeom>
          <a:solidFill>
            <a:schemeClr val="bg1"/>
          </a:solidFill>
          <a:ln w="12700">
            <a:solidFill>
              <a:srgbClr val="CBD5E1"/>
            </a:solidFill>
            <a:prstDash val="solid"/>
          </a:ln>
        </p:spPr>
      </p:sp>
      <p:sp>
        <p:nvSpPr>
          <p:cNvPr id="11" name="text-209"/>
          <p:cNvSpPr txBox="1"/>
          <p:nvPr/>
        </p:nvSpPr>
        <p:spPr>
          <a:xfrm>
            <a:off x="914400" y="3639312"/>
            <a:ext cx="2788920" cy="1097280"/>
          </a:xfrm>
          <a:prstGeom prst="rect">
            <a:avLst/>
          </a:prstGeom>
          <a:noFill/>
          <a:ln/>
        </p:spPr>
        <p:txBody>
          <a:bodyPr wrap="square" lIns="0" tIns="0" rIns="0" bIns="0" rtlCol="0" anchor="ctr"/>
          <a:lstStyle/>
          <a:p>
            <a:pPr algn="l" indent="0" marL="0">
              <a:buNone/>
            </a:pPr>
            <a:r>
              <a:rPr lang="en-US" sz="1300" b="1" dirty="0">
                <a:solidFill>
                  <a:schemeClr val="tx1"/>
                </a:solidFill>
              </a:rPr>
              <a:t>SGD 48.6 million, up 18% year on year</a:t>
            </a:r>
            <a:endParaRPr lang="en-US" sz="1300" dirty="0"/>
          </a:p>
          <a:p>
            <a:pPr algn="l" indent="0" marL="0">
              <a:buNone/>
            </a:pPr>
            <a:r>
              <a:rPr lang="en-US" sz="1100" dirty="0">
                <a:solidFill>
                  <a:schemeClr val="accent4"/>
                </a:solidFill>
              </a:rPr>
              <a:t>[1] Board deck Q3 · Google Drive</a:t>
            </a:r>
            <a:endParaRPr lang="en-US" sz="1300" dirty="0"/>
          </a:p>
        </p:txBody>
      </p:sp>
      <p:sp>
        <p:nvSpPr>
          <p:cNvPr id="12" name="verdict-210"/>
          <p:cNvSpPr/>
          <p:nvPr/>
        </p:nvSpPr>
        <p:spPr>
          <a:xfrm>
            <a:off x="777240" y="4983480"/>
            <a:ext cx="3063240" cy="960120"/>
          </a:xfrm>
          <a:prstGeom prst="roundRect">
            <a:avLst>
              <a:gd name="adj" fmla="val 7619"/>
            </a:avLst>
          </a:prstGeom>
          <a:solidFill>
            <a:srgbClr val="E3F5F2"/>
          </a:solidFill>
          <a:ln w="12700">
            <a:solidFill>
              <a:schemeClr val="accent1"/>
            </a:solidFill>
            <a:prstDash val="solid"/>
          </a:ln>
        </p:spPr>
      </p:sp>
      <p:sp>
        <p:nvSpPr>
          <p:cNvPr id="13" name="text-211"/>
          <p:cNvSpPr txBox="1"/>
          <p:nvPr/>
        </p:nvSpPr>
        <p:spPr>
          <a:xfrm>
            <a:off x="914400" y="5029200"/>
            <a:ext cx="2788920" cy="868680"/>
          </a:xfrm>
          <a:prstGeom prst="rect">
            <a:avLst/>
          </a:prstGeom>
          <a:noFill/>
          <a:ln/>
        </p:spPr>
        <p:txBody>
          <a:bodyPr wrap="square" lIns="0" tIns="0" rIns="0" bIns="0" rtlCol="0" anchor="ctr"/>
          <a:lstStyle/>
          <a:p>
            <a:pPr algn="l" indent="0" marL="0">
              <a:buNone/>
            </a:pPr>
            <a:r>
              <a:rPr lang="en-US" sz="1400" b="1" dirty="0">
                <a:solidFill>
                  <a:schemeClr val="accent1"/>
                </a:solidFill>
              </a:rPr>
              <a:t>Answered, with citations</a:t>
            </a:r>
            <a:endParaRPr lang="en-US" sz="1400" dirty="0"/>
          </a:p>
        </p:txBody>
      </p:sp>
      <p:sp>
        <p:nvSpPr>
          <p:cNvPr id="14" name="arrow-212"/>
          <p:cNvSpPr/>
          <p:nvPr/>
        </p:nvSpPr>
        <p:spPr>
          <a:xfrm>
            <a:off x="4096512" y="4160520"/>
            <a:ext cx="182880" cy="91"/>
          </a:xfrm>
          <a:prstGeom prst="line">
            <a:avLst/>
          </a:prstGeom>
          <a:noFill/>
          <a:ln w="19050">
            <a:solidFill>
              <a:schemeClr val="accent6"/>
            </a:solidFill>
            <a:prstDash val="solid"/>
            <a:tailEnd type="triangle"/>
          </a:ln>
        </p:spPr>
      </p:sp>
      <p:sp>
        <p:nvSpPr>
          <p:cNvPr id="15" name="scene-213"/>
          <p:cNvSpPr/>
          <p:nvPr/>
        </p:nvSpPr>
        <p:spPr>
          <a:xfrm>
            <a:off x="4297680" y="1325880"/>
            <a:ext cx="3520440" cy="4846320"/>
          </a:xfrm>
          <a:prstGeom prst="roundRect">
            <a:avLst>
              <a:gd name="adj" fmla="val 2078"/>
            </a:avLst>
          </a:prstGeom>
          <a:solidFill>
            <a:schemeClr val="bg2"/>
          </a:solidFill>
          <a:ln/>
        </p:spPr>
      </p:sp>
      <p:sp>
        <p:nvSpPr>
          <p:cNvPr id="16" name="num-214"/>
          <p:cNvSpPr txBox="1"/>
          <p:nvPr/>
        </p:nvSpPr>
        <p:spPr>
          <a:xfrm>
            <a:off x="4526280" y="150876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215"/>
          <p:cNvSpPr txBox="1"/>
          <p:nvPr/>
        </p:nvSpPr>
        <p:spPr>
          <a:xfrm>
            <a:off x="5074920" y="1481328"/>
            <a:ext cx="2651760" cy="457200"/>
          </a:xfrm>
          <a:prstGeom prst="rect">
            <a:avLst/>
          </a:prstGeom>
          <a:noFill/>
          <a:ln/>
        </p:spPr>
        <p:txBody>
          <a:bodyPr wrap="square" lIns="0" tIns="0" rIns="0" bIns="0" rtlCol="0" anchor="ctr"/>
          <a:lstStyle/>
          <a:p>
            <a:pPr algn="l" indent="0" marL="0">
              <a:buNone/>
            </a:pPr>
            <a:r>
              <a:rPr lang="en-US" sz="1800" b="1" dirty="0">
                <a:solidFill>
                  <a:schemeClr val="tx2"/>
                </a:solidFill>
              </a:rPr>
              <a:t>Unauthorised contractor</a:t>
            </a:r>
            <a:endParaRPr lang="en-US" sz="1800" dirty="0"/>
          </a:p>
        </p:txBody>
      </p:sp>
      <p:sp>
        <p:nvSpPr>
          <p:cNvPr id="18" name="icon-bg-216"/>
          <p:cNvSpPr/>
          <p:nvPr/>
        </p:nvSpPr>
        <p:spPr>
          <a:xfrm>
            <a:off x="4526280" y="2103120"/>
            <a:ext cx="502920" cy="502920"/>
          </a:xfrm>
          <a:prstGeom prst="ellipse">
            <a:avLst/>
          </a:prstGeom>
          <a:solidFill>
            <a:schemeClr val="accent2"/>
          </a:solidFill>
          <a:ln/>
        </p:spPr>
      </p:sp>
      <p:pic>
        <p:nvPicPr>
          <p:cNvPr id="19" name="icon-217" descr="preencoded.png">    </p:cNvPr>
          <p:cNvPicPr>
            <a:picLocks noChangeAspect="1"/>
          </p:cNvPicPr>
          <p:nvPr/>
        </p:nvPicPr>
        <p:blipFill>
          <a:blip r:embed="rId2"/>
          <a:stretch>
            <a:fillRect/>
          </a:stretch>
        </p:blipFill>
        <p:spPr>
          <a:xfrm>
            <a:off x="4636922" y="2213762"/>
            <a:ext cx="281635" cy="281635"/>
          </a:xfrm>
          <a:prstGeom prst="rect">
            <a:avLst/>
          </a:prstGeom>
        </p:spPr>
      </p:pic>
      <p:sp>
        <p:nvSpPr>
          <p:cNvPr id="20" name="text-218"/>
          <p:cNvSpPr txBox="1"/>
          <p:nvPr/>
        </p:nvSpPr>
        <p:spPr>
          <a:xfrm>
            <a:off x="5166360" y="2103120"/>
            <a:ext cx="2560320" cy="502920"/>
          </a:xfrm>
          <a:prstGeom prst="rect">
            <a:avLst/>
          </a:prstGeom>
          <a:noFill/>
          <a:ln/>
        </p:spPr>
        <p:txBody>
          <a:bodyPr wrap="square" lIns="0" tIns="0" rIns="0" bIns="0" rtlCol="0" anchor="ctr"/>
          <a:lstStyle/>
          <a:p>
            <a:pPr algn="l" indent="0" marL="0">
              <a:buNone/>
            </a:pPr>
            <a:r>
              <a:rPr lang="en-US" sz="1200" dirty="0">
                <a:solidFill>
                  <a:schemeClr val="accent6"/>
                </a:solidFill>
              </a:rPr>
              <a:t>Mei Chen · external contractor</a:t>
            </a:r>
            <a:endParaRPr lang="en-US" sz="1200" dirty="0"/>
          </a:p>
        </p:txBody>
      </p:sp>
      <p:sp>
        <p:nvSpPr>
          <p:cNvPr id="21" name="text-219"/>
          <p:cNvSpPr txBox="1"/>
          <p:nvPr/>
        </p:nvSpPr>
        <p:spPr>
          <a:xfrm>
            <a:off x="4526280" y="2788920"/>
            <a:ext cx="3063240" cy="685800"/>
          </a:xfrm>
          <a:prstGeom prst="rect">
            <a:avLst/>
          </a:prstGeom>
          <a:noFill/>
          <a:ln/>
        </p:spPr>
        <p:txBody>
          <a:bodyPr wrap="square" lIns="0" tIns="0" rIns="0" bIns="0" rtlCol="0" anchor="t"/>
          <a:lstStyle/>
          <a:p>
            <a:pPr algn="l" indent="0" marL="0">
              <a:buNone/>
            </a:pPr>
            <a:r>
              <a:rPr lang="en-US" sz="1400" i="1" dirty="0">
                <a:solidFill>
                  <a:schemeClr val="tx1"/>
                </a:solidFill>
              </a:rPr>
              <a:t>“What were the Q3 board deck revenue figures?”</a:t>
            </a:r>
            <a:endParaRPr lang="en-US" sz="1400" dirty="0"/>
          </a:p>
        </p:txBody>
      </p:sp>
      <p:sp>
        <p:nvSpPr>
          <p:cNvPr id="22" name="answer-mock-220"/>
          <p:cNvSpPr/>
          <p:nvPr/>
        </p:nvSpPr>
        <p:spPr>
          <a:xfrm>
            <a:off x="4526280" y="3566160"/>
            <a:ext cx="3063240" cy="1234440"/>
          </a:xfrm>
          <a:prstGeom prst="roundRect">
            <a:avLst>
              <a:gd name="adj" fmla="val 5926"/>
            </a:avLst>
          </a:prstGeom>
          <a:solidFill>
            <a:schemeClr val="bg1"/>
          </a:solidFill>
          <a:ln w="12700">
            <a:solidFill>
              <a:srgbClr val="CBD5E1"/>
            </a:solidFill>
            <a:prstDash val="solid"/>
          </a:ln>
        </p:spPr>
      </p:sp>
      <p:sp>
        <p:nvSpPr>
          <p:cNvPr id="23" name="text-221"/>
          <p:cNvSpPr txBox="1"/>
          <p:nvPr/>
        </p:nvSpPr>
        <p:spPr>
          <a:xfrm>
            <a:off x="4663440" y="3639312"/>
            <a:ext cx="2788920" cy="1097280"/>
          </a:xfrm>
          <a:prstGeom prst="rect">
            <a:avLst/>
          </a:prstGeom>
          <a:noFill/>
          <a:ln/>
        </p:spPr>
        <p:txBody>
          <a:bodyPr wrap="square" lIns="0" tIns="0" rIns="0" bIns="0" rtlCol="0" anchor="ctr"/>
          <a:lstStyle/>
          <a:p>
            <a:pPr algn="l" indent="0" marL="0">
              <a:buNone/>
            </a:pPr>
            <a:r>
              <a:rPr lang="en-US" sz="1300" b="1" dirty="0">
                <a:solidFill>
                  <a:schemeClr val="tx1"/>
                </a:solidFill>
              </a:rPr>
              <a:t>No figures, no title, no hint the deck exists</a:t>
            </a:r>
            <a:endParaRPr lang="en-US" sz="1300" dirty="0"/>
          </a:p>
          <a:p>
            <a:pPr algn="l" indent="0" marL="0">
              <a:buNone/>
            </a:pPr>
            <a:r>
              <a:rPr lang="en-US" sz="1100" dirty="0">
                <a:solidFill>
                  <a:schemeClr val="accent6"/>
                </a:solidFill>
              </a:rPr>
              <a:t>Opening the deck returns the same 404 as a missing file</a:t>
            </a:r>
            <a:endParaRPr lang="en-US" sz="1300" dirty="0"/>
          </a:p>
        </p:txBody>
      </p:sp>
      <p:sp>
        <p:nvSpPr>
          <p:cNvPr id="24" name="verdict-222"/>
          <p:cNvSpPr/>
          <p:nvPr/>
        </p:nvSpPr>
        <p:spPr>
          <a:xfrm>
            <a:off x="4526280" y="4983480"/>
            <a:ext cx="3063240" cy="960120"/>
          </a:xfrm>
          <a:prstGeom prst="roundRect">
            <a:avLst>
              <a:gd name="adj" fmla="val 7619"/>
            </a:avLst>
          </a:prstGeom>
          <a:solidFill>
            <a:srgbClr val="FDECEC"/>
          </a:solidFill>
          <a:ln w="12700">
            <a:solidFill>
              <a:schemeClr val="accent2"/>
            </a:solidFill>
            <a:prstDash val="solid"/>
          </a:ln>
        </p:spPr>
      </p:sp>
      <p:sp>
        <p:nvSpPr>
          <p:cNvPr id="25" name="text-223"/>
          <p:cNvSpPr txBox="1"/>
          <p:nvPr/>
        </p:nvSpPr>
        <p:spPr>
          <a:xfrm>
            <a:off x="4663440" y="5029200"/>
            <a:ext cx="2788920" cy="868680"/>
          </a:xfrm>
          <a:prstGeom prst="rect">
            <a:avLst/>
          </a:prstGeom>
          <a:noFill/>
          <a:ln/>
        </p:spPr>
        <p:txBody>
          <a:bodyPr wrap="square" lIns="0" tIns="0" rIns="0" bIns="0" rtlCol="0" anchor="ctr"/>
          <a:lstStyle/>
          <a:p>
            <a:pPr algn="l" indent="0" marL="0">
              <a:buNone/>
            </a:pPr>
            <a:r>
              <a:rPr lang="en-US" sz="1400" b="1" dirty="0">
                <a:solidFill>
                  <a:schemeClr val="accent2"/>
                </a:solidFill>
              </a:rPr>
              <a:t>Nothing leaked, nothing confirmed</a:t>
            </a:r>
            <a:endParaRPr lang="en-US" sz="1400" dirty="0"/>
          </a:p>
        </p:txBody>
      </p:sp>
      <p:sp>
        <p:nvSpPr>
          <p:cNvPr id="26" name="arrow-224"/>
          <p:cNvSpPr/>
          <p:nvPr/>
        </p:nvSpPr>
        <p:spPr>
          <a:xfrm>
            <a:off x="7845552" y="4160520"/>
            <a:ext cx="182880" cy="91"/>
          </a:xfrm>
          <a:prstGeom prst="line">
            <a:avLst/>
          </a:prstGeom>
          <a:noFill/>
          <a:ln w="19050">
            <a:solidFill>
              <a:schemeClr val="accent6"/>
            </a:solidFill>
            <a:prstDash val="solid"/>
            <a:tailEnd type="triangle"/>
          </a:ln>
        </p:spPr>
      </p:sp>
      <p:sp>
        <p:nvSpPr>
          <p:cNvPr id="27" name="scene-225"/>
          <p:cNvSpPr/>
          <p:nvPr/>
        </p:nvSpPr>
        <p:spPr>
          <a:xfrm>
            <a:off x="8046720" y="1325880"/>
            <a:ext cx="3520440" cy="4846320"/>
          </a:xfrm>
          <a:prstGeom prst="roundRect">
            <a:avLst>
              <a:gd name="adj" fmla="val 2078"/>
            </a:avLst>
          </a:prstGeom>
          <a:solidFill>
            <a:schemeClr val="bg2"/>
          </a:solidFill>
          <a:ln/>
        </p:spPr>
      </p:sp>
      <p:sp>
        <p:nvSpPr>
          <p:cNvPr id="28" name="num-226"/>
          <p:cNvSpPr txBox="1"/>
          <p:nvPr/>
        </p:nvSpPr>
        <p:spPr>
          <a:xfrm>
            <a:off x="8275320" y="1508760"/>
            <a:ext cx="411480" cy="41148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9" name="text-227"/>
          <p:cNvSpPr txBox="1"/>
          <p:nvPr/>
        </p:nvSpPr>
        <p:spPr>
          <a:xfrm>
            <a:off x="8823960" y="1481328"/>
            <a:ext cx="2651760" cy="457200"/>
          </a:xfrm>
          <a:prstGeom prst="rect">
            <a:avLst/>
          </a:prstGeom>
          <a:noFill/>
          <a:ln/>
        </p:spPr>
        <p:txBody>
          <a:bodyPr wrap="square" lIns="0" tIns="0" rIns="0" bIns="0" rtlCol="0" anchor="ctr"/>
          <a:lstStyle/>
          <a:p>
            <a:pPr algn="l" indent="0" marL="0">
              <a:buNone/>
            </a:pPr>
            <a:r>
              <a:rPr lang="en-US" sz="1800" b="1" dirty="0">
                <a:solidFill>
                  <a:schemeClr val="tx2"/>
                </a:solidFill>
              </a:rPr>
              <a:t>Revoked at the source</a:t>
            </a:r>
            <a:endParaRPr lang="en-US" sz="1800" dirty="0"/>
          </a:p>
        </p:txBody>
      </p:sp>
      <p:sp>
        <p:nvSpPr>
          <p:cNvPr id="30" name="icon-bg-228"/>
          <p:cNvSpPr/>
          <p:nvPr/>
        </p:nvSpPr>
        <p:spPr>
          <a:xfrm>
            <a:off x="8275320" y="2103120"/>
            <a:ext cx="502920" cy="502920"/>
          </a:xfrm>
          <a:prstGeom prst="ellipse">
            <a:avLst/>
          </a:prstGeom>
          <a:solidFill>
            <a:schemeClr val="accent3"/>
          </a:solidFill>
          <a:ln/>
        </p:spPr>
      </p:sp>
      <p:pic>
        <p:nvPicPr>
          <p:cNvPr id="31" name="icon-229" descr="preencoded.png">    </p:cNvPr>
          <p:cNvPicPr>
            <a:picLocks noChangeAspect="1"/>
          </p:cNvPicPr>
          <p:nvPr/>
        </p:nvPicPr>
        <p:blipFill>
          <a:blip r:embed="rId3"/>
          <a:stretch>
            <a:fillRect/>
          </a:stretch>
        </p:blipFill>
        <p:spPr>
          <a:xfrm>
            <a:off x="8385962" y="2213762"/>
            <a:ext cx="281635" cy="281635"/>
          </a:xfrm>
          <a:prstGeom prst="rect">
            <a:avLst/>
          </a:prstGeom>
        </p:spPr>
      </p:pic>
      <p:sp>
        <p:nvSpPr>
          <p:cNvPr id="32" name="text-230"/>
          <p:cNvSpPr txBox="1"/>
          <p:nvPr/>
        </p:nvSpPr>
        <p:spPr>
          <a:xfrm>
            <a:off x="8915400" y="2103120"/>
            <a:ext cx="2560320" cy="502920"/>
          </a:xfrm>
          <a:prstGeom prst="rect">
            <a:avLst/>
          </a:prstGeom>
          <a:noFill/>
          <a:ln/>
        </p:spPr>
        <p:txBody>
          <a:bodyPr wrap="square" lIns="0" tIns="0" rIns="0" bIns="0" rtlCol="0" anchor="ctr"/>
          <a:lstStyle/>
          <a:p>
            <a:pPr algn="l" indent="0" marL="0">
              <a:buNone/>
            </a:pPr>
            <a:r>
              <a:rPr lang="en-US" sz="1200" dirty="0">
                <a:solidFill>
                  <a:schemeClr val="accent6"/>
                </a:solidFill>
              </a:rPr>
              <a:t>Drive owner removes Leadership from the share</a:t>
            </a:r>
            <a:endParaRPr lang="en-US" sz="1200" dirty="0"/>
          </a:p>
        </p:txBody>
      </p:sp>
      <p:sp>
        <p:nvSpPr>
          <p:cNvPr id="33" name="text-231"/>
          <p:cNvSpPr txBox="1"/>
          <p:nvPr/>
        </p:nvSpPr>
        <p:spPr>
          <a:xfrm>
            <a:off x="8275320" y="2788920"/>
            <a:ext cx="3063240" cy="685800"/>
          </a:xfrm>
          <a:prstGeom prst="rect">
            <a:avLst/>
          </a:prstGeom>
          <a:noFill/>
          <a:ln/>
        </p:spPr>
        <p:txBody>
          <a:bodyPr wrap="square" lIns="0" tIns="0" rIns="0" bIns="0" rtlCol="0" anchor="t"/>
          <a:lstStyle/>
          <a:p>
            <a:pPr algn="l" indent="0" marL="0">
              <a:buNone/>
            </a:pPr>
            <a:r>
              <a:rPr lang="en-US" sz="1400" i="1" dirty="0">
                <a:solidFill>
                  <a:schemeClr val="tx1"/>
                </a:solidFill>
              </a:rPr>
              <a:t>John asks again, then reopens the earlier answer</a:t>
            </a:r>
            <a:endParaRPr lang="en-US" sz="1400" dirty="0"/>
          </a:p>
        </p:txBody>
      </p:sp>
      <p:sp>
        <p:nvSpPr>
          <p:cNvPr id="34" name="answer-mock-232"/>
          <p:cNvSpPr/>
          <p:nvPr/>
        </p:nvSpPr>
        <p:spPr>
          <a:xfrm>
            <a:off x="8275320" y="3566160"/>
            <a:ext cx="3063240" cy="1234440"/>
          </a:xfrm>
          <a:prstGeom prst="roundRect">
            <a:avLst>
              <a:gd name="adj" fmla="val 5926"/>
            </a:avLst>
          </a:prstGeom>
          <a:solidFill>
            <a:schemeClr val="bg1"/>
          </a:solidFill>
          <a:ln w="12700">
            <a:solidFill>
              <a:srgbClr val="CBD5E1"/>
            </a:solidFill>
            <a:prstDash val="solid"/>
          </a:ln>
        </p:spPr>
      </p:sp>
      <p:sp>
        <p:nvSpPr>
          <p:cNvPr id="35" name="text-233"/>
          <p:cNvSpPr txBox="1"/>
          <p:nvPr/>
        </p:nvSpPr>
        <p:spPr>
          <a:xfrm>
            <a:off x="8412480" y="3639312"/>
            <a:ext cx="2788920" cy="1097280"/>
          </a:xfrm>
          <a:prstGeom prst="rect">
            <a:avLst/>
          </a:prstGeom>
          <a:noFill/>
          <a:ln/>
        </p:spPr>
        <p:txBody>
          <a:bodyPr wrap="square" lIns="0" tIns="0" rIns="0" bIns="0" rtlCol="0" anchor="ctr"/>
          <a:lstStyle/>
          <a:p>
            <a:pPr algn="l" indent="0" marL="0">
              <a:buNone/>
            </a:pPr>
            <a:r>
              <a:rPr lang="en-US" sz="1300" b="1" dirty="0">
                <a:solidFill>
                  <a:schemeClr val="tx1"/>
                </a:solidFill>
              </a:rPr>
              <a:t>Next sync (each minute): the deck is gone</a:t>
            </a:r>
            <a:endParaRPr lang="en-US" sz="1300" dirty="0"/>
          </a:p>
          <a:p>
            <a:pPr algn="l" indent="0" marL="0">
              <a:buNone/>
            </a:pPr>
            <a:r>
              <a:rPr lang="en-US" sz="1100" dirty="0">
                <a:solidFill>
                  <a:schemeClr val="accent6"/>
                </a:solidFill>
              </a:rPr>
              <a:t>The saved answer is withheld too</a:t>
            </a:r>
            <a:endParaRPr lang="en-US" sz="1300" dirty="0"/>
          </a:p>
        </p:txBody>
      </p:sp>
      <p:sp>
        <p:nvSpPr>
          <p:cNvPr id="36" name="verdict-234"/>
          <p:cNvSpPr/>
          <p:nvPr/>
        </p:nvSpPr>
        <p:spPr>
          <a:xfrm>
            <a:off x="8275320" y="4983480"/>
            <a:ext cx="3063240" cy="960120"/>
          </a:xfrm>
          <a:prstGeom prst="roundRect">
            <a:avLst>
              <a:gd name="adj" fmla="val 7619"/>
            </a:avLst>
          </a:prstGeom>
          <a:solidFill>
            <a:srgbClr val="FDF4E4"/>
          </a:solidFill>
          <a:ln w="12700">
            <a:solidFill>
              <a:schemeClr val="accent3"/>
            </a:solidFill>
            <a:prstDash val="solid"/>
          </a:ln>
        </p:spPr>
      </p:sp>
      <p:sp>
        <p:nvSpPr>
          <p:cNvPr id="37" name="text-235"/>
          <p:cNvSpPr txBox="1"/>
          <p:nvPr/>
        </p:nvSpPr>
        <p:spPr>
          <a:xfrm>
            <a:off x="8412480" y="5029200"/>
            <a:ext cx="2788920" cy="868680"/>
          </a:xfrm>
          <a:prstGeom prst="rect">
            <a:avLst/>
          </a:prstGeom>
          <a:noFill/>
          <a:ln/>
        </p:spPr>
        <p:txBody>
          <a:bodyPr wrap="square" lIns="0" tIns="0" rIns="0" bIns="0" rtlCol="0" anchor="ctr"/>
          <a:lstStyle/>
          <a:p>
            <a:pPr algn="l" indent="0" marL="0">
              <a:buNone/>
            </a:pPr>
            <a:r>
              <a:rPr lang="en-US" sz="1400" b="1" dirty="0">
                <a:solidFill>
                  <a:schemeClr val="accent3"/>
                </a:solidFill>
              </a:rPr>
              <a:t>Enforced within 5 minutes, even if a sync is missed</a:t>
            </a:r>
            <a:endParaRPr lang="en-US" sz="1400" dirty="0"/>
          </a:p>
        </p:txBody>
      </p:sp>
      <p:sp>
        <p:nvSpPr>
          <p:cNvPr id="38" name="text-236"/>
          <p:cNvSpPr txBox="1"/>
          <p:nvPr/>
        </p:nvSpPr>
        <p:spPr>
          <a:xfrm>
            <a:off x="548640" y="6199632"/>
            <a:ext cx="11064240" cy="201168"/>
          </a:xfrm>
          <a:prstGeom prst="rect">
            <a:avLst/>
          </a:prstGeom>
          <a:noFill/>
          <a:ln/>
        </p:spPr>
        <p:txBody>
          <a:bodyPr wrap="square" lIns="0" tIns="0" rIns="0" bIns="0" rtlCol="0" anchor="t"/>
          <a:lstStyle/>
          <a:p>
            <a:pPr algn="l" indent="0" marL="0">
              <a:buNone/>
            </a:pPr>
            <a:r>
              <a:rPr lang="en-US" sz="1000" i="1" dirty="0">
                <a:solidFill>
                  <a:schemeClr val="accent6"/>
                </a:solidFill>
              </a:rPr>
              <a:t>Synthetic company and figures. Each scene is an automated test: test_ask_pipeline.py, test_permission_freshness.py and test_query_history_access.py.</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All five mandatory scenarios run end to end, and each is a test</a:t>
            </a:r>
            <a:endParaRPr lang="en-US" sz="2800" dirty="0"/>
          </a:p>
        </p:txBody>
      </p:sp>
      <p:graphicFrame>
        <p:nvGraphicFramePr>
          <p:cNvPr id="9" name="scenario-table-237"/>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02920"/>
                <a:gridCol w="1828800"/>
                <a:gridCol w="5623560"/>
                <a:gridCol w="3108960"/>
              </a:tblGrid>
              <a:tr h="411480">
                <a:tc>
                  <a:txBody>
                    <a:bodyPr/>
                    <a:lstStyle/>
                    <a:p>
                      <a:pPr indent="0" marL="0">
                        <a:buNone/>
                      </a:pP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Scenario</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a judge sees</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Proof</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777240">
                <a:tc>
                  <a:txBody>
                    <a:bodyPr/>
                    <a:lstStyle/>
                    <a:p>
                      <a:pPr algn="ctr" indent="0" marL="0">
                        <a:buNone/>
                      </a:pPr>
                      <a:r>
                        <a:rPr lang="en-US" sz="1600" b="1" dirty="0">
                          <a:solidFill>
                            <a:schemeClr val="tx2"/>
                          </a:solidFill>
                        </a:rPr>
                        <a:t>1</a:t>
                      </a:r>
                      <a:endParaRPr lang="en-US" sz="16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Unified query</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John asks about the Rail-B cutover. The facts are spread across email, Jira, Slack and Drive, and one answer cites several of them</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6"/>
                          </a:solidFill>
                        </a:rPr>
                        <a:t>test_unified_cited_query</a:t>
                      </a:r>
                      <a:endParaRPr lang="en-US" sz="11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777240">
                <a:tc>
                  <a:txBody>
                    <a:bodyPr/>
                    <a:lstStyle/>
                    <a:p>
                      <a:pPr algn="ctr" indent="0" marL="0">
                        <a:buNone/>
                      </a:pPr>
                      <a:r>
                        <a:rPr lang="en-US" sz="1600" b="1" dirty="0">
                          <a:solidFill>
                            <a:schemeClr val="tx2"/>
                          </a:solidFill>
                        </a:rPr>
                        <a:t>2</a:t>
                      </a:r>
                      <a:endParaRPr lang="en-US" sz="16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Data freshness</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failover runbook is v8 at the source but v7 in the index: omitted as stale. The fresh KYC runbook is cited</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6"/>
                          </a:solidFill>
                        </a:rPr>
                        <a:t>test_bounded_freshness_stale_omitted</a:t>
                      </a:r>
                      <a:endParaRPr lang="en-US" sz="11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777240">
                <a:tc>
                  <a:txBody>
                    <a:bodyPr/>
                    <a:lstStyle/>
                    <a:p>
                      <a:pPr algn="ctr" indent="0" marL="0">
                        <a:buNone/>
                      </a:pPr>
                      <a:r>
                        <a:rPr lang="en-US" sz="1600" b="1" dirty="0">
                          <a:solidFill>
                            <a:schemeClr val="tx2"/>
                          </a:solidFill>
                        </a:rPr>
                        <a:t>3</a:t>
                      </a:r>
                      <a:endParaRPr lang="en-US" sz="16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Negative permission</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Mei, a contractor, gets no restricted content; a denied document returns the same 404 as a missing one</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6"/>
                          </a:solidFill>
                        </a:rPr>
                        <a:t>test_negative_permission_no_existence_leak</a:t>
                      </a:r>
                      <a:endParaRPr lang="en-US" sz="11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777240">
                <a:tc>
                  <a:txBody>
                    <a:bodyPr/>
                    <a:lstStyle/>
                    <a:p>
                      <a:pPr algn="ctr" indent="0" marL="0">
                        <a:buNone/>
                      </a:pPr>
                      <a:r>
                        <a:rPr lang="en-US" sz="1600" b="1" dirty="0">
                          <a:solidFill>
                            <a:schemeClr val="tx2"/>
                          </a:solidFill>
                        </a:rPr>
                        <a:t>4</a:t>
                      </a:r>
                      <a:endParaRPr lang="en-US" sz="16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Live revocation</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Leadership is removed from the Drive share (or the in-app grant revoked): John's next answer drops the board deck and the saved answer is withheld</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6"/>
                          </a:solidFill>
                        </a:rPr>
                        <a:t>test_permission_freshness, test_live_revocation_changes_next_answer, test_query_history_access</a:t>
                      </a:r>
                      <a:endParaRPr lang="en-US" sz="11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777240">
                <a:tc>
                  <a:txBody>
                    <a:bodyPr/>
                    <a:lstStyle/>
                    <a:p>
                      <a:pPr algn="ctr" indent="0" marL="0">
                        <a:buNone/>
                      </a:pPr>
                      <a:r>
                        <a:rPr lang="en-US" sz="1600" b="1" dirty="0">
                          <a:solidFill>
                            <a:schemeClr val="tx2"/>
                          </a:solidFill>
                        </a:rPr>
                        <a:t>5</a:t>
                      </a:r>
                      <a:endParaRPr lang="en-US" sz="16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Audit inquiry</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Sam, an auditor, reconstructs the question, retrieved IDs and each allow/deny; the answer needs a recorded reveal with a reason. The hash chain verifies</a:t>
                      </a:r>
                      <a:endParaRPr lang="en-US" sz="13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6"/>
                          </a:solidFill>
                        </a:rPr>
                        <a:t>test_audit_reconstruction, test_audit_need_to_know</a:t>
                      </a:r>
                      <a:endParaRPr lang="en-US" sz="1100" dirty="0"/>
                    </a:p>
                  </a:txBody>
                  <a:tcPr marL="91440" marR="91440"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4" name="text-238"/>
          <p:cNvSpPr txBox="1"/>
          <p:nvPr/>
        </p:nvSpPr>
        <p:spPr>
          <a:xfrm>
            <a:off x="548640" y="5852160"/>
            <a:ext cx="11064240" cy="274320"/>
          </a:xfrm>
          <a:prstGeom prst="rect">
            <a:avLst/>
          </a:prstGeom>
          <a:noFill/>
          <a:ln/>
        </p:spPr>
        <p:txBody>
          <a:bodyPr wrap="square" lIns="0" tIns="0" rIns="0" bIns="0" rtlCol="0" anchor="t"/>
          <a:lstStyle/>
          <a:p>
            <a:pPr algn="l" indent="0" marL="0">
              <a:buNone/>
            </a:pPr>
            <a:r>
              <a:rPr lang="en-US" sz="1200" i="1" dirty="0">
                <a:solidFill>
                  <a:schemeClr val="accent6"/>
                </a:solidFill>
              </a:rPr>
              <a:t>Bonus: a prompt-injection string planted in #general is quarantined by the sanitiser before composition.</a:t>
            </a:r>
            <a:endParaRPr lang="en-US" sz="1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Every answer ships with its own receipts</a:t>
            </a:r>
            <a:endParaRPr lang="en-US" sz="2800" dirty="0"/>
          </a:p>
        </p:txBody>
      </p:sp>
      <p:sp>
        <p:nvSpPr>
          <p:cNvPr id="3" name="answer-card-239"/>
          <p:cNvSpPr/>
          <p:nvPr/>
        </p:nvSpPr>
        <p:spPr>
          <a:xfrm>
            <a:off x="548640" y="1371600"/>
            <a:ext cx="5394960" cy="4754880"/>
          </a:xfrm>
          <a:prstGeom prst="roundRect">
            <a:avLst>
              <a:gd name="adj" fmla="val 1538"/>
            </a:avLst>
          </a:prstGeom>
          <a:solidFill>
            <a:schemeClr val="bg1"/>
          </a:solidFill>
          <a:ln w="12700">
            <a:solidFill>
              <a:srgbClr val="CBD5E1"/>
            </a:solidFill>
            <a:prstDash val="solid"/>
          </a:ln>
          <a:effectLst>
            <a:outerShdw sx="100000" sy="100000" kx="0" ky="0" algn="bl" rotWithShape="0" blurRad="76200" dist="25400" dir="5400000">
              <a:srgbClr val="0F172A">
                <a:alpha val="12000"/>
              </a:srgbClr>
            </a:outerShdw>
          </a:effectLst>
        </p:spPr>
      </p:sp>
      <p:sp>
        <p:nvSpPr>
          <p:cNvPr id="4" name="text-240"/>
          <p:cNvSpPr txBox="1"/>
          <p:nvPr/>
        </p:nvSpPr>
        <p:spPr>
          <a:xfrm>
            <a:off x="822960" y="1554480"/>
            <a:ext cx="4846320" cy="365760"/>
          </a:xfrm>
          <a:prstGeom prst="rect">
            <a:avLst/>
          </a:prstGeom>
          <a:noFill/>
          <a:ln/>
        </p:spPr>
        <p:txBody>
          <a:bodyPr wrap="square" lIns="0" tIns="0" rIns="0" bIns="0" rtlCol="0" anchor="t"/>
          <a:lstStyle/>
          <a:p>
            <a:pPr algn="l" indent="0" marL="0">
              <a:buNone/>
            </a:pPr>
            <a:r>
              <a:rPr lang="en-US" sz="1400" i="1" dirty="0">
                <a:solidFill>
                  <a:schemeClr val="accent6"/>
                </a:solidFill>
              </a:rPr>
              <a:t>“What were the Q3 board deck revenue figures?”</a:t>
            </a:r>
            <a:endParaRPr lang="en-US" sz="1400" dirty="0"/>
          </a:p>
        </p:txBody>
      </p:sp>
      <p:sp>
        <p:nvSpPr>
          <p:cNvPr id="5" name="text-241"/>
          <p:cNvSpPr txBox="1"/>
          <p:nvPr/>
        </p:nvSpPr>
        <p:spPr>
          <a:xfrm>
            <a:off x="822960" y="2011680"/>
            <a:ext cx="4846320" cy="868680"/>
          </a:xfrm>
          <a:prstGeom prst="rect">
            <a:avLst/>
          </a:prstGeom>
          <a:noFill/>
          <a:ln/>
        </p:spPr>
        <p:txBody>
          <a:bodyPr wrap="square" lIns="0" tIns="0" rIns="0" bIns="0" rtlCol="0" anchor="t"/>
          <a:lstStyle/>
          <a:p>
            <a:pPr algn="l" indent="0" marL="0">
              <a:buNone/>
            </a:pPr>
            <a:r>
              <a:rPr lang="en-US" sz="1600" dirty="0">
                <a:solidFill>
                  <a:schemeClr val="tx1"/>
                </a:solidFill>
              </a:rPr>
              <a:t>Q3 2026 revenue was SGD 48.6 million, up 18% year on year </a:t>
            </a:r>
            <a:pPr algn="l" indent="0" marL="0">
              <a:buNone/>
            </a:pPr>
            <a:r>
              <a:rPr lang="en-US" sz="1600" b="1" dirty="0">
                <a:solidFill>
                  <a:schemeClr val="accent4"/>
                </a:solidFill>
              </a:rPr>
              <a:t>[1]</a:t>
            </a:r>
            <a:pPr algn="l" indent="0" marL="0">
              <a:buNone/>
            </a:pPr>
            <a:r>
              <a:rPr lang="en-US" sz="1600" dirty="0">
                <a:solidFill>
                  <a:schemeClr val="tx1"/>
                </a:solidFill>
              </a:rPr>
              <a:t>. Q4 guidance is SGD 50 to 52 million </a:t>
            </a:r>
            <a:pPr algn="l" indent="0" marL="0">
              <a:buNone/>
            </a:pPr>
            <a:r>
              <a:rPr lang="en-US" sz="1600" b="1" dirty="0">
                <a:solidFill>
                  <a:schemeClr val="accent4"/>
                </a:solidFill>
              </a:rPr>
              <a:t>[1]</a:t>
            </a:r>
            <a:pPr algn="l" indent="0" marL="0">
              <a:buNone/>
            </a:pPr>
            <a:r>
              <a:rPr lang="en-US" sz="1600" dirty="0">
                <a:solidFill>
                  <a:schemeClr val="tx1"/>
                </a:solidFill>
              </a:rPr>
              <a:t>.</a:t>
            </a:r>
            <a:endParaRPr lang="en-US" sz="1600" dirty="0"/>
          </a:p>
        </p:txBody>
      </p:sp>
      <p:sp>
        <p:nvSpPr>
          <p:cNvPr id="6" name="receipt-line-242"/>
          <p:cNvSpPr/>
          <p:nvPr/>
        </p:nvSpPr>
        <p:spPr>
          <a:xfrm>
            <a:off x="822960" y="3017520"/>
            <a:ext cx="4846320" cy="365760"/>
          </a:xfrm>
          <a:prstGeom prst="roundRect">
            <a:avLst>
              <a:gd name="adj" fmla="val 12500"/>
            </a:avLst>
          </a:prstGeom>
          <a:solidFill>
            <a:schemeClr val="bg2"/>
          </a:solidFill>
          <a:ln/>
        </p:spPr>
      </p:sp>
      <p:sp>
        <p:nvSpPr>
          <p:cNvPr id="7" name="text-243"/>
          <p:cNvSpPr txBox="1"/>
          <p:nvPr/>
        </p:nvSpPr>
        <p:spPr>
          <a:xfrm>
            <a:off x="960120" y="3017520"/>
            <a:ext cx="4663440" cy="365760"/>
          </a:xfrm>
          <a:prstGeom prst="rect">
            <a:avLst/>
          </a:prstGeom>
          <a:noFill/>
          <a:ln/>
        </p:spPr>
        <p:txBody>
          <a:bodyPr wrap="square" lIns="0" tIns="0" rIns="0" bIns="0" rtlCol="0" anchor="ctr"/>
          <a:lstStyle/>
          <a:p>
            <a:pPr algn="l" indent="0" marL="0">
              <a:buNone/>
            </a:pPr>
            <a:r>
              <a:rPr lang="en-US" sz="1200" b="1" dirty="0">
                <a:solidFill>
                  <a:schemeClr val="accent4"/>
                </a:solidFill>
              </a:rPr>
              <a:t>[1]  Board deck Q3 · Google Drive · supported</a:t>
            </a:r>
            <a:endParaRPr lang="en-US" sz="1200" dirty="0"/>
          </a:p>
        </p:txBody>
      </p:sp>
      <p:sp>
        <p:nvSpPr>
          <p:cNvPr id="8" name="receipt-line-244"/>
          <p:cNvSpPr/>
          <p:nvPr/>
        </p:nvSpPr>
        <p:spPr>
          <a:xfrm>
            <a:off x="822960" y="3474720"/>
            <a:ext cx="4846320" cy="365760"/>
          </a:xfrm>
          <a:prstGeom prst="roundRect">
            <a:avLst>
              <a:gd name="adj" fmla="val 12500"/>
            </a:avLst>
          </a:prstGeom>
          <a:solidFill>
            <a:schemeClr val="bg2"/>
          </a:solidFill>
          <a:ln/>
        </p:spPr>
      </p:sp>
      <p:sp>
        <p:nvSpPr>
          <p:cNvPr id="9" name="text-245"/>
          <p:cNvSpPr txBox="1"/>
          <p:nvPr/>
        </p:nvSpPr>
        <p:spPr>
          <a:xfrm>
            <a:off x="960120" y="3474720"/>
            <a:ext cx="4663440" cy="365760"/>
          </a:xfrm>
          <a:prstGeom prst="rect">
            <a:avLst/>
          </a:prstGeom>
          <a:noFill/>
          <a:ln/>
        </p:spPr>
        <p:txBody>
          <a:bodyPr wrap="square" lIns="0" tIns="0" rIns="0" bIns="0" rtlCol="0" anchor="ctr"/>
          <a:lstStyle/>
          <a:p>
            <a:pPr algn="l" indent="0" marL="0">
              <a:buNone/>
            </a:pPr>
            <a:r>
              <a:rPr lang="en-US" sz="1200" b="1" dirty="0">
                <a:solidFill>
                  <a:schemeClr val="accent3"/>
                </a:solidFill>
              </a:rPr>
              <a:t>Freshness: fresh · verified at source</a:t>
            </a:r>
            <a:endParaRPr lang="en-US" sz="1200" dirty="0"/>
          </a:p>
        </p:txBody>
      </p:sp>
      <p:sp>
        <p:nvSpPr>
          <p:cNvPr id="10" name="receipt-line-246"/>
          <p:cNvSpPr/>
          <p:nvPr/>
        </p:nvSpPr>
        <p:spPr>
          <a:xfrm>
            <a:off x="822960" y="3931920"/>
            <a:ext cx="4846320" cy="365760"/>
          </a:xfrm>
          <a:prstGeom prst="roundRect">
            <a:avLst>
              <a:gd name="adj" fmla="val 12500"/>
            </a:avLst>
          </a:prstGeom>
          <a:solidFill>
            <a:schemeClr val="bg2"/>
          </a:solidFill>
          <a:ln/>
        </p:spPr>
      </p:sp>
      <p:sp>
        <p:nvSpPr>
          <p:cNvPr id="11" name="text-247"/>
          <p:cNvSpPr txBox="1"/>
          <p:nvPr/>
        </p:nvSpPr>
        <p:spPr>
          <a:xfrm>
            <a:off x="960120" y="3931920"/>
            <a:ext cx="4663440" cy="365760"/>
          </a:xfrm>
          <a:prstGeom prst="rect">
            <a:avLst/>
          </a:prstGeom>
          <a:noFill/>
          <a:ln/>
        </p:spPr>
        <p:txBody>
          <a:bodyPr wrap="square" lIns="0" tIns="0" rIns="0" bIns="0" rtlCol="0" anchor="ctr"/>
          <a:lstStyle/>
          <a:p>
            <a:pPr algn="l" indent="0" marL="0">
              <a:buNone/>
            </a:pPr>
            <a:r>
              <a:rPr lang="en-US" sz="1200" b="1" dirty="0">
                <a:solidFill>
                  <a:schemeClr val="accent1"/>
                </a:solidFill>
              </a:rPr>
              <a:t>Grounded: 2/2 claims supported</a:t>
            </a:r>
            <a:endParaRPr lang="en-US" sz="1200" dirty="0"/>
          </a:p>
        </p:txBody>
      </p:sp>
      <p:sp>
        <p:nvSpPr>
          <p:cNvPr id="12" name="receipt-line-248"/>
          <p:cNvSpPr/>
          <p:nvPr/>
        </p:nvSpPr>
        <p:spPr>
          <a:xfrm>
            <a:off x="822960" y="4389120"/>
            <a:ext cx="4846320" cy="365760"/>
          </a:xfrm>
          <a:prstGeom prst="roundRect">
            <a:avLst>
              <a:gd name="adj" fmla="val 12500"/>
            </a:avLst>
          </a:prstGeom>
          <a:solidFill>
            <a:schemeClr val="bg2"/>
          </a:solidFill>
          <a:ln/>
        </p:spPr>
      </p:sp>
      <p:sp>
        <p:nvSpPr>
          <p:cNvPr id="13" name="text-249"/>
          <p:cNvSpPr txBox="1"/>
          <p:nvPr/>
        </p:nvSpPr>
        <p:spPr>
          <a:xfrm>
            <a:off x="960120" y="4389120"/>
            <a:ext cx="4663440" cy="365760"/>
          </a:xfrm>
          <a:prstGeom prst="rect">
            <a:avLst/>
          </a:prstGeom>
          <a:noFill/>
          <a:ln/>
        </p:spPr>
        <p:txBody>
          <a:bodyPr wrap="square" lIns="0" tIns="0" rIns="0" bIns="0" rtlCol="0" anchor="ctr"/>
          <a:lstStyle/>
          <a:p>
            <a:pPr algn="l" indent="0" marL="0">
              <a:buNone/>
            </a:pPr>
            <a:r>
              <a:rPr lang="en-US" sz="1200" b="1" dirty="0">
                <a:solidFill>
                  <a:schemeClr val="accent1"/>
                </a:solidFill>
              </a:rPr>
              <a:t>Access: allowed count only, no denials shown</a:t>
            </a:r>
            <a:endParaRPr lang="en-US" sz="1200" dirty="0"/>
          </a:p>
        </p:txBody>
      </p:sp>
      <p:sp>
        <p:nvSpPr>
          <p:cNvPr id="14" name="receipt-line-250"/>
          <p:cNvSpPr/>
          <p:nvPr/>
        </p:nvSpPr>
        <p:spPr>
          <a:xfrm>
            <a:off x="822960" y="4846320"/>
            <a:ext cx="4846320" cy="365760"/>
          </a:xfrm>
          <a:prstGeom prst="roundRect">
            <a:avLst>
              <a:gd name="adj" fmla="val 12500"/>
            </a:avLst>
          </a:prstGeom>
          <a:solidFill>
            <a:schemeClr val="bg2"/>
          </a:solidFill>
          <a:ln/>
        </p:spPr>
      </p:sp>
      <p:sp>
        <p:nvSpPr>
          <p:cNvPr id="15" name="text-251"/>
          <p:cNvSpPr txBox="1"/>
          <p:nvPr/>
        </p:nvSpPr>
        <p:spPr>
          <a:xfrm>
            <a:off x="960120" y="4846320"/>
            <a:ext cx="4663440" cy="365760"/>
          </a:xfrm>
          <a:prstGeom prst="rect">
            <a:avLst/>
          </a:prstGeom>
          <a:noFill/>
          <a:ln/>
        </p:spPr>
        <p:txBody>
          <a:bodyPr wrap="square" lIns="0" tIns="0" rIns="0" bIns="0" rtlCol="0" anchor="ctr"/>
          <a:lstStyle/>
          <a:p>
            <a:pPr algn="l" indent="0" marL="0">
              <a:buNone/>
            </a:pPr>
            <a:r>
              <a:rPr lang="en-US" sz="1200" b="1" dirty="0">
                <a:solidFill>
                  <a:schemeClr val="accent5"/>
                </a:solidFill>
              </a:rPr>
              <a:t>Audit event a3f9…  ·  chain verified  ·  answer by reveal only</a:t>
            </a:r>
            <a:endParaRPr lang="en-US" sz="1200" dirty="0"/>
          </a:p>
        </p:txBody>
      </p:sp>
      <p:sp>
        <p:nvSpPr>
          <p:cNvPr id="16" name="text-252"/>
          <p:cNvSpPr txBox="1"/>
          <p:nvPr/>
        </p:nvSpPr>
        <p:spPr>
          <a:xfrm>
            <a:off x="822960" y="5669280"/>
            <a:ext cx="4846320" cy="274320"/>
          </a:xfrm>
          <a:prstGeom prst="rect">
            <a:avLst/>
          </a:prstGeom>
          <a:noFill/>
          <a:ln/>
        </p:spPr>
        <p:txBody>
          <a:bodyPr wrap="square" lIns="0" tIns="0" rIns="0" bIns="0" rtlCol="0" anchor="t"/>
          <a:lstStyle/>
          <a:p>
            <a:pPr algn="l" indent="0" marL="0">
              <a:buNone/>
            </a:pPr>
            <a:r>
              <a:rPr lang="en-US" sz="1000" i="1" dirty="0">
                <a:solidFill>
                  <a:schemeClr val="accent6"/>
                </a:solidFill>
              </a:rPr>
              <a:t>Illustrative layout; values from the synthetic demo corpus.</a:t>
            </a:r>
            <a:endParaRPr lang="en-US" sz="1000" dirty="0"/>
          </a:p>
        </p:txBody>
      </p:sp>
      <p:sp>
        <p:nvSpPr>
          <p:cNvPr id="17" name="num-253"/>
          <p:cNvSpPr txBox="1"/>
          <p:nvPr/>
        </p:nvSpPr>
        <p:spPr>
          <a:xfrm>
            <a:off x="6355080" y="1444752"/>
            <a:ext cx="384048" cy="384048"/>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8" name="text-254"/>
          <p:cNvSpPr txBox="1"/>
          <p:nvPr/>
        </p:nvSpPr>
        <p:spPr>
          <a:xfrm>
            <a:off x="6903720" y="1371600"/>
            <a:ext cx="4663440" cy="329184"/>
          </a:xfrm>
          <a:prstGeom prst="rect">
            <a:avLst/>
          </a:prstGeom>
          <a:noFill/>
          <a:ln/>
        </p:spPr>
        <p:txBody>
          <a:bodyPr wrap="square" lIns="0" tIns="0" rIns="0" bIns="0" rtlCol="0" anchor="t"/>
          <a:lstStyle/>
          <a:p>
            <a:pPr algn="l" indent="0" marL="0">
              <a:buNone/>
            </a:pPr>
            <a:r>
              <a:rPr lang="en-US" sz="1600" b="1" dirty="0">
                <a:solidFill>
                  <a:schemeClr val="tx2"/>
                </a:solidFill>
              </a:rPr>
              <a:t>Claim-level citations</a:t>
            </a:r>
            <a:endParaRPr lang="en-US" sz="1600" dirty="0"/>
          </a:p>
        </p:txBody>
      </p:sp>
      <p:sp>
        <p:nvSpPr>
          <p:cNvPr id="19" name="text-255"/>
          <p:cNvSpPr txBox="1"/>
          <p:nvPr/>
        </p:nvSpPr>
        <p:spPr>
          <a:xfrm>
            <a:off x="6903720" y="1700784"/>
            <a:ext cx="4663440" cy="548640"/>
          </a:xfrm>
          <a:prstGeom prst="rect">
            <a:avLst/>
          </a:prstGeom>
          <a:noFill/>
          <a:ln/>
        </p:spPr>
        <p:txBody>
          <a:bodyPr wrap="square" lIns="0" tIns="0" rIns="0" bIns="0" rtlCol="0" anchor="t"/>
          <a:lstStyle/>
          <a:p>
            <a:pPr algn="l" indent="0" marL="0">
              <a:buNone/>
            </a:pPr>
            <a:r>
              <a:rPr lang="en-US" sz="1250" dirty="0">
                <a:solidFill>
                  <a:schemeClr val="tx1"/>
                </a:solidFill>
              </a:rPr>
              <a:t>Each claim links to the quoted span and the source document, issue, message or file.</a:t>
            </a:r>
            <a:endParaRPr lang="en-US" sz="1250" dirty="0"/>
          </a:p>
        </p:txBody>
      </p:sp>
      <p:sp>
        <p:nvSpPr>
          <p:cNvPr id="20" name="num-256"/>
          <p:cNvSpPr txBox="1"/>
          <p:nvPr/>
        </p:nvSpPr>
        <p:spPr>
          <a:xfrm>
            <a:off x="6355080" y="2395728"/>
            <a:ext cx="384048" cy="384048"/>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text-257"/>
          <p:cNvSpPr txBox="1"/>
          <p:nvPr/>
        </p:nvSpPr>
        <p:spPr>
          <a:xfrm>
            <a:off x="6903720" y="2322576"/>
            <a:ext cx="4663440" cy="329184"/>
          </a:xfrm>
          <a:prstGeom prst="rect">
            <a:avLst/>
          </a:prstGeom>
          <a:noFill/>
          <a:ln/>
        </p:spPr>
        <p:txBody>
          <a:bodyPr wrap="square" lIns="0" tIns="0" rIns="0" bIns="0" rtlCol="0" anchor="t"/>
          <a:lstStyle/>
          <a:p>
            <a:pPr algn="l" indent="0" marL="0">
              <a:buNone/>
            </a:pPr>
            <a:r>
              <a:rPr lang="en-US" sz="1600" b="1" dirty="0">
                <a:solidFill>
                  <a:schemeClr val="tx2"/>
                </a:solidFill>
              </a:rPr>
              <a:t>Freshness receipt</a:t>
            </a:r>
            <a:endParaRPr lang="en-US" sz="1600" dirty="0"/>
          </a:p>
        </p:txBody>
      </p:sp>
      <p:sp>
        <p:nvSpPr>
          <p:cNvPr id="22" name="text-258"/>
          <p:cNvSpPr txBox="1"/>
          <p:nvPr/>
        </p:nvSpPr>
        <p:spPr>
          <a:xfrm>
            <a:off x="6903720" y="2651760"/>
            <a:ext cx="4663440" cy="548640"/>
          </a:xfrm>
          <a:prstGeom prst="rect">
            <a:avLst/>
          </a:prstGeom>
          <a:noFill/>
          <a:ln/>
        </p:spPr>
        <p:txBody>
          <a:bodyPr wrap="square" lIns="0" tIns="0" rIns="0" bIns="0" rtlCol="0" anchor="t"/>
          <a:lstStyle/>
          <a:p>
            <a:pPr algn="l" indent="0" marL="0">
              <a:buNone/>
            </a:pPr>
            <a:r>
              <a:rPr lang="en-US" sz="1250" dirty="0">
                <a:solidFill>
                  <a:schemeClr val="tx1"/>
                </a:solidFill>
              </a:rPr>
              <a:t>Per-document status. Critical evidence is live-verified; stale items are omitted and flagged.</a:t>
            </a:r>
            <a:endParaRPr lang="en-US" sz="1250" dirty="0"/>
          </a:p>
        </p:txBody>
      </p:sp>
      <p:sp>
        <p:nvSpPr>
          <p:cNvPr id="23" name="num-259"/>
          <p:cNvSpPr txBox="1"/>
          <p:nvPr/>
        </p:nvSpPr>
        <p:spPr>
          <a:xfrm>
            <a:off x="6355080" y="3346704"/>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4" name="text-260"/>
          <p:cNvSpPr txBox="1"/>
          <p:nvPr/>
        </p:nvSpPr>
        <p:spPr>
          <a:xfrm>
            <a:off x="6903720" y="3273552"/>
            <a:ext cx="4663440" cy="329184"/>
          </a:xfrm>
          <a:prstGeom prst="rect">
            <a:avLst/>
          </a:prstGeom>
          <a:noFill/>
          <a:ln/>
        </p:spPr>
        <p:txBody>
          <a:bodyPr wrap="square" lIns="0" tIns="0" rIns="0" bIns="0" rtlCol="0" anchor="t"/>
          <a:lstStyle/>
          <a:p>
            <a:pPr algn="l" indent="0" marL="0">
              <a:buNone/>
            </a:pPr>
            <a:r>
              <a:rPr lang="en-US" sz="1600" b="1" dirty="0">
                <a:solidFill>
                  <a:schemeClr val="tx2"/>
                </a:solidFill>
              </a:rPr>
              <a:t>Grounding report</a:t>
            </a:r>
            <a:endParaRPr lang="en-US" sz="1600" dirty="0"/>
          </a:p>
        </p:txBody>
      </p:sp>
      <p:sp>
        <p:nvSpPr>
          <p:cNvPr id="25" name="text-261"/>
          <p:cNvSpPr txBox="1"/>
          <p:nvPr/>
        </p:nvSpPr>
        <p:spPr>
          <a:xfrm>
            <a:off x="6903720" y="3602736"/>
            <a:ext cx="4663440" cy="548640"/>
          </a:xfrm>
          <a:prstGeom prst="rect">
            <a:avLst/>
          </a:prstGeom>
          <a:noFill/>
          <a:ln/>
        </p:spPr>
        <p:txBody>
          <a:bodyPr wrap="square" lIns="0" tIns="0" rIns="0" bIns="0" rtlCol="0" anchor="t"/>
          <a:lstStyle/>
          <a:p>
            <a:pPr algn="l" indent="0" marL="0">
              <a:buNone/>
            </a:pPr>
            <a:r>
              <a:rPr lang="en-US" sz="1250" dirty="0">
                <a:solidFill>
                  <a:schemeClr val="tx1"/>
                </a:solidFill>
              </a:rPr>
              <a:t>Support score per claim, overall verdict, quarantined injection evidence. Below the bar, it abstains.</a:t>
            </a:r>
            <a:endParaRPr lang="en-US" sz="1250" dirty="0"/>
          </a:p>
        </p:txBody>
      </p:sp>
      <p:sp>
        <p:nvSpPr>
          <p:cNvPr id="26" name="num-262"/>
          <p:cNvSpPr txBox="1"/>
          <p:nvPr/>
        </p:nvSpPr>
        <p:spPr>
          <a:xfrm>
            <a:off x="6355080" y="4297680"/>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263"/>
          <p:cNvSpPr txBox="1"/>
          <p:nvPr/>
        </p:nvSpPr>
        <p:spPr>
          <a:xfrm>
            <a:off x="6903720" y="4224528"/>
            <a:ext cx="4663440" cy="329184"/>
          </a:xfrm>
          <a:prstGeom prst="rect">
            <a:avLst/>
          </a:prstGeom>
          <a:noFill/>
          <a:ln/>
        </p:spPr>
        <p:txBody>
          <a:bodyPr wrap="square" lIns="0" tIns="0" rIns="0" bIns="0" rtlCol="0" anchor="t"/>
          <a:lstStyle/>
          <a:p>
            <a:pPr algn="l" indent="0" marL="0">
              <a:buNone/>
            </a:pPr>
            <a:r>
              <a:rPr lang="en-US" sz="1600" b="1" dirty="0">
                <a:solidFill>
                  <a:schemeClr val="tx2"/>
                </a:solidFill>
              </a:rPr>
              <a:t>Access summary</a:t>
            </a:r>
            <a:endParaRPr lang="en-US" sz="1600" dirty="0"/>
          </a:p>
        </p:txBody>
      </p:sp>
      <p:sp>
        <p:nvSpPr>
          <p:cNvPr id="28" name="text-264"/>
          <p:cNvSpPr txBox="1"/>
          <p:nvPr/>
        </p:nvSpPr>
        <p:spPr>
          <a:xfrm>
            <a:off x="6903720" y="4553712"/>
            <a:ext cx="4663440" cy="548640"/>
          </a:xfrm>
          <a:prstGeom prst="rect">
            <a:avLst/>
          </a:prstGeom>
          <a:noFill/>
          <a:ln/>
        </p:spPr>
        <p:txBody>
          <a:bodyPr wrap="square" lIns="0" tIns="0" rIns="0" bIns="0" rtlCol="0" anchor="t"/>
          <a:lstStyle/>
          <a:p>
            <a:pPr algn="l" indent="0" marL="0">
              <a:buNone/>
            </a:pPr>
            <a:r>
              <a:rPr lang="en-US" sz="1250" dirty="0">
                <a:solidFill>
                  <a:schemeClr val="tx1"/>
                </a:solidFill>
              </a:rPr>
              <a:t>Only the allowed count. Never denied counts, titles or reasons.</a:t>
            </a:r>
            <a:endParaRPr lang="en-US" sz="1250" dirty="0"/>
          </a:p>
        </p:txBody>
      </p:sp>
      <p:sp>
        <p:nvSpPr>
          <p:cNvPr id="29" name="num-265"/>
          <p:cNvSpPr txBox="1"/>
          <p:nvPr/>
        </p:nvSpPr>
        <p:spPr>
          <a:xfrm>
            <a:off x="6355080" y="5248656"/>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266"/>
          <p:cNvSpPr txBox="1"/>
          <p:nvPr/>
        </p:nvSpPr>
        <p:spPr>
          <a:xfrm>
            <a:off x="6903720" y="5175504"/>
            <a:ext cx="4663440" cy="329184"/>
          </a:xfrm>
          <a:prstGeom prst="rect">
            <a:avLst/>
          </a:prstGeom>
          <a:noFill/>
          <a:ln/>
        </p:spPr>
        <p:txBody>
          <a:bodyPr wrap="square" lIns="0" tIns="0" rIns="0" bIns="0" rtlCol="0" anchor="t"/>
          <a:lstStyle/>
          <a:p>
            <a:pPr algn="l" indent="0" marL="0">
              <a:buNone/>
            </a:pPr>
            <a:r>
              <a:rPr lang="en-US" sz="1600" b="1" dirty="0">
                <a:solidFill>
                  <a:schemeClr val="tx2"/>
                </a:solidFill>
              </a:rPr>
              <a:t>Audit ID</a:t>
            </a:r>
            <a:endParaRPr lang="en-US" sz="1600" dirty="0"/>
          </a:p>
        </p:txBody>
      </p:sp>
      <p:sp>
        <p:nvSpPr>
          <p:cNvPr id="31" name="text-267"/>
          <p:cNvSpPr txBox="1"/>
          <p:nvPr/>
        </p:nvSpPr>
        <p:spPr>
          <a:xfrm>
            <a:off x="6903720" y="5504688"/>
            <a:ext cx="4663440" cy="548640"/>
          </a:xfrm>
          <a:prstGeom prst="rect">
            <a:avLst/>
          </a:prstGeom>
          <a:noFill/>
          <a:ln/>
        </p:spPr>
        <p:txBody>
          <a:bodyPr wrap="square" lIns="0" tIns="0" rIns="0" bIns="0" rtlCol="0" anchor="t"/>
          <a:lstStyle/>
          <a:p>
            <a:pPr algn="l" indent="0" marL="0">
              <a:buNone/>
            </a:pPr>
            <a:r>
              <a:rPr lang="en-US" sz="1250" dirty="0">
                <a:solidFill>
                  <a:schemeClr val="tx1"/>
                </a:solidFill>
              </a:rPr>
              <a:t>Opens the hash-chained record. Auditors see every decision; answer text they can't open needs a recorded reveal.</a:t>
            </a:r>
            <a:endParaRPr lang="en-US" sz="12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Same foundation as Glean and Copilot, plus what they don't document</a:t>
            </a:r>
            <a:endParaRPr lang="en-US" sz="2800" dirty="0"/>
          </a:p>
        </p:txBody>
      </p:sp>
      <p:graphicFrame>
        <p:nvGraphicFramePr>
          <p:cNvPr id="11" name="comparison-table-268"/>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1554480"/>
                <a:gridCol w="1783080"/>
                <a:gridCol w="1691640"/>
                <a:gridCol w="1691640"/>
                <a:gridCol w="1691640"/>
              </a:tblGrid>
              <a:tr h="457200">
                <a:tc>
                  <a:txBody>
                    <a:bodyPr/>
                    <a:lstStyle/>
                    <a:p>
                      <a:pPr indent="0" marL="0">
                        <a:buNone/>
                      </a:pP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Glean</a:t>
                      </a:r>
                      <a:endParaRPr lang="en-US" sz="120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Microsoft 365 Copilot</a:t>
                      </a:r>
                      <a:endParaRPr lang="en-US" sz="120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Gemini Enterprise</a:t>
                      </a:r>
                      <a:endParaRPr lang="en-US" sz="120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Amazon Q Business</a:t>
                      </a:r>
                      <a:endParaRPr lang="en-US" sz="120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Internal Brain</a:t>
                      </a:r>
                      <a:endParaRPr lang="en-US" sz="120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accent1"/>
                    </a:solidFill>
                  </a:tcPr>
                </a:tc>
              </a:tr>
              <a:tr h="566928">
                <a:tc>
                  <a:txBody>
                    <a:bodyPr/>
                    <a:lstStyle/>
                    <a:p>
                      <a:pPr indent="0" marL="0">
                        <a:buNone/>
                      </a:pPr>
                      <a:r>
                        <a:rPr lang="en-US" sz="1150" b="1" dirty="0">
                          <a:solidFill>
                            <a:schemeClr val="tx2"/>
                          </a:solidFill>
                        </a:rPr>
                        <a:t>Filters evidence before the model</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5F2"/>
                    </a:solidFill>
                  </a:tcPr>
                </a:tc>
              </a:tr>
              <a:tr h="566928">
                <a:tc>
                  <a:txBody>
                    <a:bodyPr/>
                    <a:lstStyle/>
                    <a:p>
                      <a:pPr indent="0" marL="0">
                        <a:buNone/>
                      </a:pPr>
                      <a:r>
                        <a:rPr lang="en-US" sz="1150" b="1" dirty="0">
                          <a:solidFill>
                            <a:schemeClr val="tx2"/>
                          </a:solidFill>
                        </a:rPr>
                        <a:t>Missing permissions mean no access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 (Confluence connector)</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2"/>
                          </a:solidFill>
                        </a:rPr>
                        <a:t>No: treated as public</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5F2"/>
                    </a:solidFill>
                  </a:tcPr>
                </a:tc>
              </a:tr>
              <a:tr h="566928">
                <a:tc>
                  <a:txBody>
                    <a:bodyPr/>
                    <a:lstStyle/>
                    <a:p>
                      <a:pPr indent="0" marL="0">
                        <a:buNone/>
                      </a:pPr>
                      <a:r>
                        <a:rPr lang="en-US" sz="1150" b="1" dirty="0">
                          <a:solidFill>
                            <a:schemeClr val="tx2"/>
                          </a:solidFill>
                        </a:rPr>
                        <a:t>Saved answers re-checked after revocation</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5F2"/>
                    </a:solidFill>
                  </a:tcPr>
                </a:tc>
              </a:tr>
              <a:tr h="658368">
                <a:tc>
                  <a:txBody>
                    <a:bodyPr/>
                    <a:lstStyle/>
                    <a:p>
                      <a:pPr indent="0" marL="0">
                        <a:buNone/>
                      </a:pPr>
                      <a:r>
                        <a:rPr lang="en-US" sz="1150" b="1" dirty="0">
                          <a:solidFill>
                            <a:schemeClr val="tx2"/>
                          </a:solidFill>
                        </a:rPr>
                        <a:t>Audit logs every allow/deny, including filtered-out documents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Events only</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Accessed items only</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Prompts and grounding, opt-in</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Conversation logs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Yes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5F2"/>
                    </a:solidFill>
                  </a:tcPr>
                </a:tc>
              </a:tr>
              <a:tr h="566928">
                <a:tc>
                  <a:txBody>
                    <a:bodyPr/>
                    <a:lstStyle/>
                    <a:p>
                      <a:pPr indent="0" marL="0">
                        <a:buNone/>
                      </a:pPr>
                      <a:r>
                        <a:rPr lang="en-US" sz="1150" b="1" dirty="0">
                          <a:solidFill>
                            <a:schemeClr val="tx2"/>
                          </a:solidFill>
                        </a:rPr>
                        <a:t>Tamper-evident audit log</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Not documented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Hash chain</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5F2"/>
                    </a:solidFill>
                  </a:tcPr>
                </a:tc>
              </a:tr>
              <a:tr h="658368">
                <a:tc>
                  <a:txBody>
                    <a:bodyPr/>
                    <a:lstStyle/>
                    <a:p>
                      <a:pPr indent="0" marL="0">
                        <a:buNone/>
                      </a:pPr>
                      <a:r>
                        <a:rPr lang="en-US" sz="1150" b="1" dirty="0">
                          <a:solidFill>
                            <a:schemeClr val="tx2"/>
                          </a:solidFill>
                        </a:rPr>
                        <a:t>Delay before a permission change applies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Drive: 1 h default</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Confluence: daily full crawl</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Identity sync: 30 min to 7 days</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6"/>
                          </a:solidFill>
                        </a:rPr>
                        <a:t>Each crawl: hourly or slower</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accent1"/>
                          </a:solidFill>
                        </a:rPr>
                        <a:t>5 min maximum, enforced</a:t>
                      </a:r>
                      <a:endParaRPr lang="en-US" sz="1150" dirty="0"/>
                    </a:p>
                  </a:txBody>
                  <a:tcPr marL="73152" marR="7315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5F2"/>
                    </a:solidFill>
                  </a:tcPr>
                </a:tc>
              </a:tr>
            </a:tbl>
          </a:graphicData>
        </a:graphic>
      </p:graphicFrame>
      <p:sp>
        <p:nvSpPr>
          <p:cNvPr id="4" name="text-269"/>
          <p:cNvSpPr txBox="1"/>
          <p:nvPr/>
        </p:nvSpPr>
        <p:spPr>
          <a:xfrm>
            <a:off x="548640" y="5623560"/>
            <a:ext cx="11064240" cy="457200"/>
          </a:xfrm>
          <a:prstGeom prst="rect">
            <a:avLst/>
          </a:prstGeom>
          <a:noFill/>
          <a:ln/>
        </p:spPr>
        <p:txBody>
          <a:bodyPr wrap="square" lIns="0" tIns="0" rIns="0" bIns="0" rtlCol="0" anchor="t"/>
          <a:lstStyle/>
          <a:p>
            <a:pPr algn="l" indent="0" marL="0">
              <a:buNone/>
            </a:pPr>
            <a:r>
              <a:rPr lang="en-US" sz="1050" i="1" dirty="0">
                <a:solidFill>
                  <a:schemeClr val="accent6"/>
                </a:solidFill>
              </a:rPr>
              <a:t>From each vendor's public documentation as of 13 Oct 2026. “Not documented” means we found nothing in their docs, not that the feature is absent. Sources: docs/ACCESS_CONTROL_INDUSTRY_REVIEW.md.</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A revocation at the source is enforced within 5 minutes</a:t>
            </a:r>
            <a:endParaRPr lang="en-US" sz="2800" dirty="0"/>
          </a:p>
        </p:txBody>
      </p:sp>
      <p:graphicFrame>
        <p:nvGraphicFramePr>
          <p:cNvPr id="3" name="revocation-chart-270" descr=""/>
          <p:cNvGraphicFramePr/>
          <p:nvPr/>
        </p:nvGraphicFramePr>
        <p:xfrm>
          <a:off x="548640" y="132588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 name="text-271"/>
          <p:cNvSpPr txBox="1"/>
          <p:nvPr/>
        </p:nvSpPr>
        <p:spPr>
          <a:xfrm>
            <a:off x="548640" y="5669280"/>
            <a:ext cx="7040880" cy="274320"/>
          </a:xfrm>
          <a:prstGeom prst="rect">
            <a:avLst/>
          </a:prstGeom>
          <a:noFill/>
          <a:ln/>
        </p:spPr>
        <p:txBody>
          <a:bodyPr wrap="square" lIns="0" tIns="0" rIns="0" bIns="0" rtlCol="0" anchor="t"/>
          <a:lstStyle/>
          <a:p>
            <a:pPr algn="l" indent="0" marL="0">
              <a:buNone/>
            </a:pPr>
            <a:r>
              <a:rPr lang="en-US" sz="1100" dirty="0">
                <a:solidFill>
                  <a:schemeClr val="accent6"/>
                </a:solidFill>
              </a:rPr>
              <a:t>Minutes until a permission change applies (log scale)</a:t>
            </a:r>
            <a:endParaRPr lang="en-US" sz="1100" dirty="0"/>
          </a:p>
        </p:txBody>
      </p:sp>
      <p:sp>
        <p:nvSpPr>
          <p:cNvPr id="5" name="chart-notes-272"/>
          <p:cNvSpPr/>
          <p:nvPr/>
        </p:nvSpPr>
        <p:spPr>
          <a:xfrm>
            <a:off x="7955280" y="1417320"/>
            <a:ext cx="3657600" cy="3154680"/>
          </a:xfrm>
          <a:prstGeom prst="roundRect">
            <a:avLst>
              <a:gd name="adj" fmla="val 2319"/>
            </a:avLst>
          </a:prstGeom>
          <a:solidFill>
            <a:schemeClr val="bg2"/>
          </a:solidFill>
          <a:ln/>
        </p:spPr>
      </p:sp>
      <p:sp>
        <p:nvSpPr>
          <p:cNvPr id="6" name="text-273"/>
          <p:cNvSpPr txBox="1"/>
          <p:nvPr/>
        </p:nvSpPr>
        <p:spPr>
          <a:xfrm>
            <a:off x="8183880" y="1645920"/>
            <a:ext cx="3200400" cy="3840480"/>
          </a:xfrm>
          <a:prstGeom prst="rect">
            <a:avLst/>
          </a:prstGeom>
          <a:noFill/>
          <a:ln/>
        </p:spPr>
        <p:txBody>
          <a:bodyPr wrap="square" lIns="0" tIns="0" rIns="0" bIns="0" rtlCol="0" anchor="t"/>
          <a:lstStyle/>
          <a:p>
            <a:pPr algn="l" indent="0" marL="0">
              <a:buNone/>
            </a:pPr>
            <a:r>
              <a:rPr lang="en-US" sz="1500" b="1" dirty="0">
                <a:solidFill>
                  <a:schemeClr val="tx2"/>
                </a:solidFill>
              </a:rPr>
              <a:t>Their numbers are sync intervals.</a:t>
            </a:r>
            <a:endParaRPr lang="en-US" sz="1500" dirty="0"/>
          </a:p>
          <a:p>
            <a:pPr algn="l" indent="0" marL="0">
              <a:buNone/>
            </a:pPr>
            <a:r>
              <a:rPr lang="en-US" sz="1500" dirty="0">
                <a:solidFill>
                  <a:schemeClr val="tx1"/>
                </a:solidFill>
              </a:rPr>
              <a:t>Until the next sync, the old permissions still grant access.</a:t>
            </a:r>
            <a:endParaRPr lang="en-US" sz="1500" dirty="0"/>
          </a:p>
          <a:p>
            <a:pPr algn="l" indent="0" marL="0">
              <a:buNone/>
            </a:pPr>
            <a:r>
              <a:rPr lang="en-US" sz="800" dirty="0">
                <a:solidFill>
                  <a:schemeClr val="tx1"/>
                </a:solidFill>
              </a:rPr>
              <a:t> </a:t>
            </a:r>
            <a:endParaRPr lang="en-US" sz="1500" dirty="0"/>
          </a:p>
          <a:p>
            <a:pPr algn="l" indent="0" marL="0">
              <a:buNone/>
            </a:pPr>
            <a:r>
              <a:rPr lang="en-US" sz="1500" b="1" dirty="0">
                <a:solidFill>
                  <a:schemeClr val="accent1"/>
                </a:solidFill>
              </a:rPr>
              <a:t>Ours is a hard limit.</a:t>
            </a:r>
            <a:endParaRPr lang="en-US" sz="1500" dirty="0"/>
          </a:p>
          <a:p>
            <a:pPr algn="l" indent="0" marL="0">
              <a:buNone/>
            </a:pPr>
            <a:r>
              <a:rPr lang="en-US" sz="1500" dirty="0">
                <a:solidFill>
                  <a:schemeClr val="tx1"/>
                </a:solidFill>
              </a:rPr>
              <a:t>Permissions older than 5 minutes are refused, so access fails closed even if a sync or webhook is missed.</a:t>
            </a:r>
            <a:endParaRPr lang="en-US" sz="1500" dirty="0"/>
          </a:p>
          <a:p>
            <a:pPr algn="l" indent="0" marL="0">
              <a:buNone/>
            </a:pPr>
            <a:r>
              <a:rPr lang="en-US" sz="800" dirty="0">
                <a:solidFill>
                  <a:schemeClr val="tx1"/>
                </a:solidFill>
              </a:rPr>
              <a:t> </a:t>
            </a:r>
            <a:endParaRPr lang="en-US" sz="1500" dirty="0"/>
          </a:p>
          <a:p>
            <a:pPr algn="l" indent="0" marL="0">
              <a:buNone/>
            </a:pPr>
            <a:r>
              <a:rPr lang="en-US" sz="1500" b="1" dirty="0">
                <a:solidFill>
                  <a:schemeClr val="tx2"/>
                </a:solidFill>
              </a:rPr>
              <a:t>In-app grants apply on the next query.</a:t>
            </a:r>
            <a:endParaRPr lang="en-US" sz="1500" dirty="0"/>
          </a:p>
        </p:txBody>
      </p:sp>
      <p:sp>
        <p:nvSpPr>
          <p:cNvPr id="7" name="text-274"/>
          <p:cNvSpPr txBox="1"/>
          <p:nvPr/>
        </p:nvSpPr>
        <p:spPr>
          <a:xfrm>
            <a:off x="548640" y="5943600"/>
            <a:ext cx="11064240" cy="384048"/>
          </a:xfrm>
          <a:prstGeom prst="rect">
            <a:avLst/>
          </a:prstGeom>
          <a:noFill/>
          <a:ln/>
        </p:spPr>
        <p:txBody>
          <a:bodyPr wrap="square" lIns="0" tIns="0" rIns="0" bIns="0" rtlCol="0" anchor="t"/>
          <a:lstStyle/>
          <a:p>
            <a:pPr algn="l" indent="0" marL="0">
              <a:buNone/>
            </a:pPr>
            <a:r>
              <a:rPr lang="en-US" sz="950" i="1" dirty="0">
                <a:solidFill>
                  <a:schemeClr val="accent6"/>
                </a:solidFill>
              </a:rPr>
              <a:t>Vendor figures are documented defaults or minimums for one connector each (Microsoft Learn, Glean docs, Google Cloud docs, Oct 2026). Ours: DefaultAccessPolicy max age plus a per-minute permission refresh (PR #9).</a:t>
            </a:r>
            <a:endParaRPr lang="en-US" sz="9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Design trade-offs we chose deliberately</a:t>
            </a:r>
            <a:endParaRPr lang="en-US" sz="2800" dirty="0"/>
          </a:p>
        </p:txBody>
      </p:sp>
      <p:graphicFrame>
        <p:nvGraphicFramePr>
          <p:cNvPr id="13" name="tradeoff-table-275"/>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749040"/>
                <a:gridCol w="3657600"/>
                <a:gridCol w="3657600"/>
              </a:tblGrid>
              <a:tr h="411480">
                <a:tc>
                  <a:txBody>
                    <a:bodyPr/>
                    <a:lstStyle/>
                    <a:p>
                      <a:pPr indent="0" marL="0">
                        <a:buNone/>
                      </a:pPr>
                      <a:r>
                        <a:rPr lang="en-US" sz="1300" b="1" dirty="0">
                          <a:solidFill>
                            <a:schemeClr val="bg1"/>
                          </a:solidFill>
                        </a:rPr>
                        <a:t>Choice</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we gain</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we accept</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640080">
                <a:tc>
                  <a:txBody>
                    <a:bodyPr/>
                    <a:lstStyle/>
                    <a:p>
                      <a:pPr indent="0" marL="0">
                        <a:buNone/>
                      </a:pPr>
                      <a:r>
                        <a:rPr lang="en-US" sz="1300" b="1" dirty="0">
                          <a:solidFill>
                            <a:schemeClr val="tx2"/>
                          </a:solidFill>
                        </a:rPr>
                        <a:t>Check permissions in Python after search, over-fetching 4×</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Each platform's real rules, not a lossy SQL filter</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A heavily restricted user may get fewer candidates: the safe failure</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tx2"/>
                          </a:solidFill>
                        </a:rPr>
                        <a:t>Native permissions cap local grants; admins are not all-seeing</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assistant never shows more than the source would</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Approving a request cannot unlock a document the source withholds</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2"/>
                          </a:solidFill>
                        </a:rPr>
                        <a:t>Omit stale critical evidence</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Old instructions are never presented as current</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Answers can be thinner, or abstain</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2"/>
                          </a:solidFill>
                        </a:rPr>
                        <a:t>Live-verify critical evidence on the ask path</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Bounded freshness for what matters most</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Extra latency, capped by a verify timeout</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2"/>
                          </a:solidFill>
                        </a:rPr>
                        <a:t>Hash-chained audit in the same Postgres</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Edits and deletions are detectable; simple to run</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No external anchor yet against a full database rewrite</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2"/>
                          </a:solidFill>
                        </a:rPr>
                        <a:t>Permission snapshots expire (5 min for confidential)</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revocation at the source is enforced within 5 minutes</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If syncing stops, confidential documents become unavailable</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2"/>
                          </a:solidFill>
                        </a:rPr>
                        <a:t>Persona header in the demo</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 to film and to test</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Spoofable; one swap point for SSO before real data</a:t>
                      </a:r>
                      <a:endParaRPr lang="en-US" sz="1300" dirty="0"/>
                    </a:p>
                  </a:txBody>
                  <a:tcPr marL="109728" marR="109728"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Tested offline, built to run on Tencent Cloud</a:t>
            </a:r>
            <a:endParaRPr lang="en-US" sz="2800" dirty="0"/>
          </a:p>
        </p:txBody>
      </p:sp>
      <p:sp>
        <p:nvSpPr>
          <p:cNvPr id="3" name="text-276"/>
          <p:cNvSpPr txBox="1"/>
          <p:nvPr/>
        </p:nvSpPr>
        <p:spPr>
          <a:xfrm>
            <a:off x="548640" y="1371600"/>
            <a:ext cx="5120640" cy="777240"/>
          </a:xfrm>
          <a:prstGeom prst="rect">
            <a:avLst/>
          </a:prstGeom>
          <a:noFill/>
          <a:ln/>
        </p:spPr>
        <p:txBody>
          <a:bodyPr wrap="square" lIns="0" tIns="0" rIns="0" bIns="0" rtlCol="0" anchor="t"/>
          <a:lstStyle/>
          <a:p>
            <a:pPr algn="l" indent="0" marL="0">
              <a:buNone/>
            </a:pPr>
            <a:r>
              <a:rPr lang="en-US" sz="4800" b="1" dirty="0">
                <a:solidFill>
                  <a:schemeClr val="accent1"/>
                </a:solidFill>
              </a:rPr>
              <a:t>674</a:t>
            </a:r>
            <a:endParaRPr lang="en-US" sz="4800" dirty="0"/>
          </a:p>
        </p:txBody>
      </p:sp>
      <p:sp>
        <p:nvSpPr>
          <p:cNvPr id="4" name="text-277"/>
          <p:cNvSpPr txBox="1"/>
          <p:nvPr/>
        </p:nvSpPr>
        <p:spPr>
          <a:xfrm>
            <a:off x="548640" y="2148840"/>
            <a:ext cx="5120640" cy="594360"/>
          </a:xfrm>
          <a:prstGeom prst="rect">
            <a:avLst/>
          </a:prstGeom>
          <a:noFill/>
          <a:ln/>
        </p:spPr>
        <p:txBody>
          <a:bodyPr wrap="square" lIns="0" tIns="0" rIns="0" bIns="0" rtlCol="0" anchor="t"/>
          <a:lstStyle/>
          <a:p>
            <a:pPr algn="l" indent="0" marL="0">
              <a:buNone/>
            </a:pPr>
            <a:r>
              <a:rPr lang="en-US" sz="1500" dirty="0">
                <a:solidFill>
                  <a:schemeClr val="tx1"/>
                </a:solidFill>
              </a:rPr>
              <a:t>automated tests pass with no network, using mock providers and in-memory stores</a:t>
            </a:r>
            <a:endParaRPr lang="en-US" sz="1500" dirty="0"/>
          </a:p>
        </p:txBody>
      </p:sp>
      <p:sp>
        <p:nvSpPr>
          <p:cNvPr id="5" name="text-278"/>
          <p:cNvSpPr txBox="1"/>
          <p:nvPr/>
        </p:nvSpPr>
        <p:spPr>
          <a:xfrm>
            <a:off x="548640" y="2926080"/>
            <a:ext cx="5120640" cy="777240"/>
          </a:xfrm>
          <a:prstGeom prst="rect">
            <a:avLst/>
          </a:prstGeom>
          <a:noFill/>
          <a:ln/>
        </p:spPr>
        <p:txBody>
          <a:bodyPr wrap="square" lIns="0" tIns="0" rIns="0" bIns="0" rtlCol="0" anchor="t"/>
          <a:lstStyle/>
          <a:p>
            <a:pPr algn="l" indent="0" marL="0">
              <a:buNone/>
            </a:pPr>
            <a:r>
              <a:rPr lang="en-US" sz="4800" b="1" dirty="0">
                <a:solidFill>
                  <a:schemeClr val="accent2"/>
                </a:solidFill>
              </a:rPr>
              <a:t>0</a:t>
            </a:r>
            <a:endParaRPr lang="en-US" sz="4800" dirty="0"/>
          </a:p>
        </p:txBody>
      </p:sp>
      <p:sp>
        <p:nvSpPr>
          <p:cNvPr id="6" name="text-279"/>
          <p:cNvSpPr txBox="1"/>
          <p:nvPr/>
        </p:nvSpPr>
        <p:spPr>
          <a:xfrm>
            <a:off x="548640" y="3703320"/>
            <a:ext cx="5120640" cy="594360"/>
          </a:xfrm>
          <a:prstGeom prst="rect">
            <a:avLst/>
          </a:prstGeom>
          <a:noFill/>
          <a:ln/>
        </p:spPr>
        <p:txBody>
          <a:bodyPr wrap="square" lIns="0" tIns="0" rIns="0" bIns="0" rtlCol="0" anchor="t"/>
          <a:lstStyle/>
          <a:p>
            <a:pPr algn="l" indent="0" marL="0">
              <a:buNone/>
            </a:pPr>
            <a:r>
              <a:rPr lang="en-US" sz="1500" dirty="0">
                <a:solidFill>
                  <a:schemeClr val="tx1"/>
                </a:solidFill>
              </a:rPr>
              <a:t>restricted documents in the contractor's model context</a:t>
            </a:r>
            <a:endParaRPr lang="en-US" sz="1500" dirty="0"/>
          </a:p>
        </p:txBody>
      </p:sp>
      <p:sp>
        <p:nvSpPr>
          <p:cNvPr id="7" name="text-280"/>
          <p:cNvSpPr txBox="1"/>
          <p:nvPr/>
        </p:nvSpPr>
        <p:spPr>
          <a:xfrm>
            <a:off x="548640" y="4480560"/>
            <a:ext cx="5120640" cy="777240"/>
          </a:xfrm>
          <a:prstGeom prst="rect">
            <a:avLst/>
          </a:prstGeom>
          <a:noFill/>
          <a:ln/>
        </p:spPr>
        <p:txBody>
          <a:bodyPr wrap="square" lIns="0" tIns="0" rIns="0" bIns="0" rtlCol="0" anchor="t"/>
          <a:lstStyle/>
          <a:p>
            <a:pPr algn="l" indent="0" marL="0">
              <a:buNone/>
            </a:pPr>
            <a:r>
              <a:rPr lang="en-US" sz="4800" b="1" dirty="0">
                <a:solidFill>
                  <a:schemeClr val="accent3"/>
                </a:solidFill>
              </a:rPr>
              <a:t>5 min</a:t>
            </a:r>
            <a:endParaRPr lang="en-US" sz="4800" dirty="0"/>
          </a:p>
        </p:txBody>
      </p:sp>
      <p:sp>
        <p:nvSpPr>
          <p:cNvPr id="8" name="text-281"/>
          <p:cNvSpPr txBox="1"/>
          <p:nvPr/>
        </p:nvSpPr>
        <p:spPr>
          <a:xfrm>
            <a:off x="548640" y="5257800"/>
            <a:ext cx="5120640" cy="594360"/>
          </a:xfrm>
          <a:prstGeom prst="rect">
            <a:avLst/>
          </a:prstGeom>
          <a:noFill/>
          <a:ln/>
        </p:spPr>
        <p:txBody>
          <a:bodyPr wrap="square" lIns="0" tIns="0" rIns="0" bIns="0" rtlCol="0" anchor="t"/>
          <a:lstStyle/>
          <a:p>
            <a:pPr algn="l" indent="0" marL="0">
              <a:buNone/>
            </a:pPr>
            <a:r>
              <a:rPr lang="en-US" sz="1500" dirty="0">
                <a:solidFill>
                  <a:schemeClr val="tx1"/>
                </a:solidFill>
              </a:rPr>
              <a:t>longest a revocation at the source goes unnoticed for confidential documents; in-app grants apply on the next query</a:t>
            </a:r>
            <a:endParaRPr lang="en-US" sz="1500" dirty="0"/>
          </a:p>
        </p:txBody>
      </p:sp>
      <p:sp>
        <p:nvSpPr>
          <p:cNvPr id="9" name="stack-282"/>
          <p:cNvSpPr/>
          <p:nvPr/>
        </p:nvSpPr>
        <p:spPr>
          <a:xfrm>
            <a:off x="6263640" y="1371600"/>
            <a:ext cx="5349240" cy="4754880"/>
          </a:xfrm>
          <a:prstGeom prst="roundRect">
            <a:avLst>
              <a:gd name="adj" fmla="val 1538"/>
            </a:avLst>
          </a:prstGeom>
          <a:solidFill>
            <a:schemeClr val="bg2"/>
          </a:solidFill>
          <a:ln/>
        </p:spPr>
      </p:sp>
      <p:sp>
        <p:nvSpPr>
          <p:cNvPr id="10" name="text-283"/>
          <p:cNvSpPr txBox="1"/>
          <p:nvPr/>
        </p:nvSpPr>
        <p:spPr>
          <a:xfrm>
            <a:off x="6537960" y="1508760"/>
            <a:ext cx="4572000" cy="411480"/>
          </a:xfrm>
          <a:prstGeom prst="rect">
            <a:avLst/>
          </a:prstGeom>
          <a:noFill/>
          <a:ln/>
        </p:spPr>
        <p:txBody>
          <a:bodyPr wrap="square" lIns="0" tIns="0" rIns="0" bIns="0" rtlCol="0" anchor="t"/>
          <a:lstStyle/>
          <a:p>
            <a:pPr algn="l" indent="0" marL="0">
              <a:buNone/>
            </a:pPr>
            <a:r>
              <a:rPr lang="en-US" sz="1800" b="1" dirty="0">
                <a:solidFill>
                  <a:schemeClr val="tx2"/>
                </a:solidFill>
              </a:rPr>
              <a:t>Stack</a:t>
            </a:r>
            <a:endParaRPr lang="en-US" sz="1800" dirty="0"/>
          </a:p>
        </p:txBody>
      </p:sp>
      <p:sp>
        <p:nvSpPr>
          <p:cNvPr id="11" name="pill-284"/>
          <p:cNvSpPr txBox="1"/>
          <p:nvPr/>
        </p:nvSpPr>
        <p:spPr>
          <a:xfrm>
            <a:off x="6537960" y="2112264"/>
            <a:ext cx="100584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Model</a:t>
            </a:r>
            <a:endParaRPr lang="en-US" sz="1100" dirty="0"/>
          </a:p>
        </p:txBody>
      </p:sp>
      <p:sp>
        <p:nvSpPr>
          <p:cNvPr id="12" name="text-285"/>
          <p:cNvSpPr txBox="1"/>
          <p:nvPr/>
        </p:nvSpPr>
        <p:spPr>
          <a:xfrm>
            <a:off x="7726680" y="2057400"/>
            <a:ext cx="3749040" cy="502920"/>
          </a:xfrm>
          <a:prstGeom prst="rect">
            <a:avLst/>
          </a:prstGeom>
          <a:noFill/>
          <a:ln/>
        </p:spPr>
        <p:txBody>
          <a:bodyPr wrap="square" lIns="0" tIns="0" rIns="0" bIns="0" rtlCol="0" anchor="ctr"/>
          <a:lstStyle/>
          <a:p>
            <a:pPr algn="l" indent="0" marL="0">
              <a:buNone/>
            </a:pPr>
            <a:r>
              <a:rPr lang="en-US" sz="1350" dirty="0">
                <a:solidFill>
                  <a:schemeClr val="tx1"/>
                </a:solidFill>
              </a:rPr>
              <a:t>Tencent Cloud ADP chat; the demo uses local vectors, so no text goes to an embedding service</a:t>
            </a:r>
            <a:endParaRPr lang="en-US" sz="1350" dirty="0"/>
          </a:p>
        </p:txBody>
      </p:sp>
      <p:sp>
        <p:nvSpPr>
          <p:cNvPr id="13" name="pill-286"/>
          <p:cNvSpPr txBox="1"/>
          <p:nvPr/>
        </p:nvSpPr>
        <p:spPr>
          <a:xfrm>
            <a:off x="6537960" y="2770632"/>
            <a:ext cx="100584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API</a:t>
            </a:r>
            <a:endParaRPr lang="en-US" sz="1100" dirty="0"/>
          </a:p>
        </p:txBody>
      </p:sp>
      <p:sp>
        <p:nvSpPr>
          <p:cNvPr id="14" name="text-287"/>
          <p:cNvSpPr txBox="1"/>
          <p:nvPr/>
        </p:nvSpPr>
        <p:spPr>
          <a:xfrm>
            <a:off x="7726680" y="2715768"/>
            <a:ext cx="3749040" cy="502920"/>
          </a:xfrm>
          <a:prstGeom prst="rect">
            <a:avLst/>
          </a:prstGeom>
          <a:noFill/>
          <a:ln/>
        </p:spPr>
        <p:txBody>
          <a:bodyPr wrap="square" lIns="0" tIns="0" rIns="0" bIns="0" rtlCol="0" anchor="ctr"/>
          <a:lstStyle/>
          <a:p>
            <a:pPr algn="l" indent="0" marL="0">
              <a:buNone/>
            </a:pPr>
            <a:r>
              <a:rPr lang="en-US" sz="1350" dirty="0">
                <a:solidFill>
                  <a:schemeClr val="tx1"/>
                </a:solidFill>
              </a:rPr>
              <a:t>FastAPI + Pydantic v2; MCP server for AI agents</a:t>
            </a:r>
            <a:endParaRPr lang="en-US" sz="1350" dirty="0"/>
          </a:p>
        </p:txBody>
      </p:sp>
      <p:sp>
        <p:nvSpPr>
          <p:cNvPr id="15" name="pill-288"/>
          <p:cNvSpPr txBox="1"/>
          <p:nvPr/>
        </p:nvSpPr>
        <p:spPr>
          <a:xfrm>
            <a:off x="6537960" y="3429000"/>
            <a:ext cx="100584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Data</a:t>
            </a:r>
            <a:endParaRPr lang="en-US" sz="1100" dirty="0"/>
          </a:p>
        </p:txBody>
      </p:sp>
      <p:sp>
        <p:nvSpPr>
          <p:cNvPr id="16" name="text-289"/>
          <p:cNvSpPr txBox="1"/>
          <p:nvPr/>
        </p:nvSpPr>
        <p:spPr>
          <a:xfrm>
            <a:off x="7726680" y="3374136"/>
            <a:ext cx="3749040" cy="502920"/>
          </a:xfrm>
          <a:prstGeom prst="rect">
            <a:avLst/>
          </a:prstGeom>
          <a:noFill/>
          <a:ln/>
        </p:spPr>
        <p:txBody>
          <a:bodyPr wrap="square" lIns="0" tIns="0" rIns="0" bIns="0" rtlCol="0" anchor="ctr"/>
          <a:lstStyle/>
          <a:p>
            <a:pPr algn="l" indent="0" marL="0">
              <a:buNone/>
            </a:pPr>
            <a:r>
              <a:rPr lang="en-US" sz="1350" dirty="0">
                <a:solidFill>
                  <a:schemeClr val="tx1"/>
                </a:solidFill>
              </a:rPr>
              <a:t>Postgres 16 + pgvector hybrid search</a:t>
            </a:r>
            <a:endParaRPr lang="en-US" sz="1350" dirty="0"/>
          </a:p>
        </p:txBody>
      </p:sp>
      <p:sp>
        <p:nvSpPr>
          <p:cNvPr id="17" name="pill-290"/>
          <p:cNvSpPr txBox="1"/>
          <p:nvPr/>
        </p:nvSpPr>
        <p:spPr>
          <a:xfrm>
            <a:off x="6537960" y="4087368"/>
            <a:ext cx="100584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Jobs</a:t>
            </a:r>
            <a:endParaRPr lang="en-US" sz="1100" dirty="0"/>
          </a:p>
        </p:txBody>
      </p:sp>
      <p:sp>
        <p:nvSpPr>
          <p:cNvPr id="18" name="text-291"/>
          <p:cNvSpPr txBox="1"/>
          <p:nvPr/>
        </p:nvSpPr>
        <p:spPr>
          <a:xfrm>
            <a:off x="7726680" y="4032504"/>
            <a:ext cx="3749040" cy="502920"/>
          </a:xfrm>
          <a:prstGeom prst="rect">
            <a:avLst/>
          </a:prstGeom>
          <a:noFill/>
          <a:ln/>
        </p:spPr>
        <p:txBody>
          <a:bodyPr wrap="square" lIns="0" tIns="0" rIns="0" bIns="0" rtlCol="0" anchor="ctr"/>
          <a:lstStyle/>
          <a:p>
            <a:pPr algn="l" indent="0" marL="0">
              <a:buNone/>
            </a:pPr>
            <a:r>
              <a:rPr lang="en-US" sz="1350" dirty="0">
                <a:solidFill>
                  <a:schemeClr val="tx1"/>
                </a:solidFill>
              </a:rPr>
              <a:t>Redis + Celery: ingest, sync, verify, watchdog</a:t>
            </a:r>
            <a:endParaRPr lang="en-US" sz="1350" dirty="0"/>
          </a:p>
        </p:txBody>
      </p:sp>
      <p:sp>
        <p:nvSpPr>
          <p:cNvPr id="19" name="pill-292"/>
          <p:cNvSpPr txBox="1"/>
          <p:nvPr/>
        </p:nvSpPr>
        <p:spPr>
          <a:xfrm>
            <a:off x="6537960" y="4745736"/>
            <a:ext cx="100584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Web</a:t>
            </a:r>
            <a:endParaRPr lang="en-US" sz="1100" dirty="0"/>
          </a:p>
        </p:txBody>
      </p:sp>
      <p:sp>
        <p:nvSpPr>
          <p:cNvPr id="20" name="text-293"/>
          <p:cNvSpPr txBox="1"/>
          <p:nvPr/>
        </p:nvSpPr>
        <p:spPr>
          <a:xfrm>
            <a:off x="7726680" y="4690872"/>
            <a:ext cx="3749040" cy="502920"/>
          </a:xfrm>
          <a:prstGeom prst="rect">
            <a:avLst/>
          </a:prstGeom>
          <a:noFill/>
          <a:ln/>
        </p:spPr>
        <p:txBody>
          <a:bodyPr wrap="square" lIns="0" tIns="0" rIns="0" bIns="0" rtlCol="0" anchor="ctr"/>
          <a:lstStyle/>
          <a:p>
            <a:pPr algn="l" indent="0" marL="0">
              <a:buNone/>
            </a:pPr>
            <a:r>
              <a:rPr lang="en-US" sz="1350" dirty="0">
                <a:solidFill>
                  <a:schemeClr val="tx1"/>
                </a:solidFill>
              </a:rPr>
              <a:t>Next.js 15 + Tailwind</a:t>
            </a:r>
            <a:endParaRPr lang="en-US" sz="1350" dirty="0"/>
          </a:p>
        </p:txBody>
      </p:sp>
      <p:sp>
        <p:nvSpPr>
          <p:cNvPr id="21" name="pill-294"/>
          <p:cNvSpPr txBox="1"/>
          <p:nvPr/>
        </p:nvSpPr>
        <p:spPr>
          <a:xfrm>
            <a:off x="6537960" y="5404104"/>
            <a:ext cx="100584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Deploy</a:t>
            </a:r>
            <a:endParaRPr lang="en-US" sz="1100" dirty="0"/>
          </a:p>
        </p:txBody>
      </p:sp>
      <p:sp>
        <p:nvSpPr>
          <p:cNvPr id="22" name="text-295"/>
          <p:cNvSpPr txBox="1"/>
          <p:nvPr/>
        </p:nvSpPr>
        <p:spPr>
          <a:xfrm>
            <a:off x="7726680" y="5349240"/>
            <a:ext cx="3749040" cy="502920"/>
          </a:xfrm>
          <a:prstGeom prst="rect">
            <a:avLst/>
          </a:prstGeom>
          <a:noFill/>
          <a:ln/>
        </p:spPr>
        <p:txBody>
          <a:bodyPr wrap="square" lIns="0" tIns="0" rIns="0" bIns="0" rtlCol="0" anchor="ctr"/>
          <a:lstStyle/>
          <a:p>
            <a:pPr algn="l" indent="0" marL="0">
              <a:buNone/>
            </a:pPr>
            <a:r>
              <a:rPr lang="en-US" sz="1350" dirty="0">
                <a:solidFill>
                  <a:schemeClr val="tx1"/>
                </a:solidFill>
              </a:rPr>
              <a:t>One Docker Compose stack, ready for a single Tencent Cloud server</a:t>
            </a:r>
            <a:endParaRPr lang="en-US" sz="1350" dirty="0"/>
          </a:p>
        </p:txBody>
      </p:sp>
      <p:sp>
        <p:nvSpPr>
          <p:cNvPr id="23" name="text-296"/>
          <p:cNvSpPr txBox="1"/>
          <p:nvPr/>
        </p:nvSpPr>
        <p:spPr>
          <a:xfrm>
            <a:off x="548640" y="5989320"/>
            <a:ext cx="5486400" cy="365760"/>
          </a:xfrm>
          <a:prstGeom prst="rect">
            <a:avLst/>
          </a:prstGeom>
          <a:noFill/>
          <a:ln/>
        </p:spPr>
        <p:txBody>
          <a:bodyPr wrap="square" lIns="0" tIns="0" rIns="0" bIns="0" rtlCol="0" anchor="t"/>
          <a:lstStyle/>
          <a:p>
            <a:pPr algn="l" indent="0" marL="0">
              <a:buNone/>
            </a:pPr>
            <a:r>
              <a:rPr lang="en-US" sz="1000" i="1" dirty="0">
                <a:solidFill>
                  <a:schemeClr val="accent6"/>
                </a:solidFill>
              </a:rPr>
              <a:t>Test count: main plus PRs #9 and #10, 15 Oct 2026 (11 SQL tests run separately against Postgres).</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1463040"/>
          </a:xfrm>
          <a:prstGeom prst="rect">
            <a:avLst/>
          </a:prstGeom>
          <a:noFill/>
          <a:ln/>
        </p:spPr>
        <p:txBody>
          <a:bodyPr wrap="square" lIns="0" tIns="0" rIns="0" bIns="0" rtlCol="0" anchor="t"/>
          <a:lstStyle/>
          <a:p>
            <a:pPr algn="l" indent="0" marL="0">
              <a:buNone/>
            </a:pPr>
            <a:r>
              <a:rPr lang="en-US" sz="4000" b="1" dirty="0">
                <a:solidFill>
                  <a:schemeClr val="bg1"/>
                </a:solidFill>
              </a:rPr>
              <a:t>Ask anything. See only what you are allowed to. Prove every answer.</a:t>
            </a:r>
            <a:endParaRPr lang="en-US" sz="4000" dirty="0"/>
          </a:p>
        </p:txBody>
      </p:sp>
      <p:sp>
        <p:nvSpPr>
          <p:cNvPr id="3" name="icon-bg-297"/>
          <p:cNvSpPr/>
          <p:nvPr/>
        </p:nvSpPr>
        <p:spPr>
          <a:xfrm>
            <a:off x="640080" y="3429000"/>
            <a:ext cx="731520" cy="731520"/>
          </a:xfrm>
          <a:prstGeom prst="ellipse">
            <a:avLst/>
          </a:prstGeom>
          <a:solidFill>
            <a:schemeClr val="accent1"/>
          </a:solidFill>
          <a:ln/>
        </p:spPr>
      </p:sp>
      <p:pic>
        <p:nvPicPr>
          <p:cNvPr id="4" name="icon-298" descr="preencoded.png">    </p:cNvPr>
          <p:cNvPicPr>
            <a:picLocks noChangeAspect="1"/>
          </p:cNvPicPr>
          <p:nvPr/>
        </p:nvPicPr>
        <p:blipFill>
          <a:blip r:embed="rId1"/>
          <a:stretch>
            <a:fillRect/>
          </a:stretch>
        </p:blipFill>
        <p:spPr>
          <a:xfrm>
            <a:off x="801014" y="3589934"/>
            <a:ext cx="409651" cy="409651"/>
          </a:xfrm>
          <a:prstGeom prst="rect">
            <a:avLst/>
          </a:prstGeom>
        </p:spPr>
      </p:pic>
      <p:sp>
        <p:nvSpPr>
          <p:cNvPr id="5" name="text-299"/>
          <p:cNvSpPr txBox="1"/>
          <p:nvPr/>
        </p:nvSpPr>
        <p:spPr>
          <a:xfrm>
            <a:off x="1508760" y="3429000"/>
            <a:ext cx="1463040" cy="731520"/>
          </a:xfrm>
          <a:prstGeom prst="rect">
            <a:avLst/>
          </a:prstGeom>
          <a:noFill/>
          <a:ln/>
        </p:spPr>
        <p:txBody>
          <a:bodyPr wrap="square" lIns="0" tIns="0" rIns="0" bIns="0" rtlCol="0" anchor="ctr"/>
          <a:lstStyle/>
          <a:p>
            <a:pPr algn="l" indent="0" marL="0">
              <a:buNone/>
            </a:pPr>
            <a:r>
              <a:rPr lang="en-US" sz="2000" b="1" dirty="0">
                <a:solidFill>
                  <a:schemeClr val="bg1"/>
                </a:solidFill>
              </a:rPr>
              <a:t>Permitted</a:t>
            </a:r>
            <a:endParaRPr lang="en-US" sz="2000" dirty="0"/>
          </a:p>
        </p:txBody>
      </p:sp>
      <p:sp>
        <p:nvSpPr>
          <p:cNvPr id="6" name="icon-bg-300"/>
          <p:cNvSpPr/>
          <p:nvPr/>
        </p:nvSpPr>
        <p:spPr>
          <a:xfrm>
            <a:off x="3291840" y="3429000"/>
            <a:ext cx="731520" cy="731520"/>
          </a:xfrm>
          <a:prstGeom prst="ellipse">
            <a:avLst/>
          </a:prstGeom>
          <a:solidFill>
            <a:schemeClr val="accent3"/>
          </a:solidFill>
          <a:ln/>
        </p:spPr>
      </p:sp>
      <p:pic>
        <p:nvPicPr>
          <p:cNvPr id="7" name="icon-301" descr="preencoded.png">    </p:cNvPr>
          <p:cNvPicPr>
            <a:picLocks noChangeAspect="1"/>
          </p:cNvPicPr>
          <p:nvPr/>
        </p:nvPicPr>
        <p:blipFill>
          <a:blip r:embed="rId2"/>
          <a:stretch>
            <a:fillRect/>
          </a:stretch>
        </p:blipFill>
        <p:spPr>
          <a:xfrm>
            <a:off x="3452774" y="3589934"/>
            <a:ext cx="409651" cy="409651"/>
          </a:xfrm>
          <a:prstGeom prst="rect">
            <a:avLst/>
          </a:prstGeom>
        </p:spPr>
      </p:pic>
      <p:sp>
        <p:nvSpPr>
          <p:cNvPr id="8" name="text-302"/>
          <p:cNvSpPr txBox="1"/>
          <p:nvPr/>
        </p:nvSpPr>
        <p:spPr>
          <a:xfrm>
            <a:off x="4160520" y="3429000"/>
            <a:ext cx="1463040" cy="731520"/>
          </a:xfrm>
          <a:prstGeom prst="rect">
            <a:avLst/>
          </a:prstGeom>
          <a:noFill/>
          <a:ln/>
        </p:spPr>
        <p:txBody>
          <a:bodyPr wrap="square" lIns="0" tIns="0" rIns="0" bIns="0" rtlCol="0" anchor="ctr"/>
          <a:lstStyle/>
          <a:p>
            <a:pPr algn="l" indent="0" marL="0">
              <a:buNone/>
            </a:pPr>
            <a:r>
              <a:rPr lang="en-US" sz="2000" b="1" dirty="0">
                <a:solidFill>
                  <a:schemeClr val="bg1"/>
                </a:solidFill>
              </a:rPr>
              <a:t>Fresh</a:t>
            </a:r>
            <a:endParaRPr lang="en-US" sz="2000" dirty="0"/>
          </a:p>
        </p:txBody>
      </p:sp>
      <p:sp>
        <p:nvSpPr>
          <p:cNvPr id="9" name="icon-bg-303"/>
          <p:cNvSpPr/>
          <p:nvPr/>
        </p:nvSpPr>
        <p:spPr>
          <a:xfrm>
            <a:off x="5943600" y="3429000"/>
            <a:ext cx="731520" cy="731520"/>
          </a:xfrm>
          <a:prstGeom prst="ellipse">
            <a:avLst/>
          </a:prstGeom>
          <a:solidFill>
            <a:schemeClr val="accent4"/>
          </a:solidFill>
          <a:ln/>
        </p:spPr>
      </p:sp>
      <p:pic>
        <p:nvPicPr>
          <p:cNvPr id="10" name="icon-304" descr="preencoded.png">    </p:cNvPr>
          <p:cNvPicPr>
            <a:picLocks noChangeAspect="1"/>
          </p:cNvPicPr>
          <p:nvPr/>
        </p:nvPicPr>
        <p:blipFill>
          <a:blip r:embed="rId3"/>
          <a:stretch>
            <a:fillRect/>
          </a:stretch>
        </p:blipFill>
        <p:spPr>
          <a:xfrm>
            <a:off x="6104534" y="3589934"/>
            <a:ext cx="409651" cy="409651"/>
          </a:xfrm>
          <a:prstGeom prst="rect">
            <a:avLst/>
          </a:prstGeom>
        </p:spPr>
      </p:pic>
      <p:sp>
        <p:nvSpPr>
          <p:cNvPr id="11" name="text-305"/>
          <p:cNvSpPr txBox="1"/>
          <p:nvPr/>
        </p:nvSpPr>
        <p:spPr>
          <a:xfrm>
            <a:off x="6812280" y="3429000"/>
            <a:ext cx="1463040" cy="731520"/>
          </a:xfrm>
          <a:prstGeom prst="rect">
            <a:avLst/>
          </a:prstGeom>
          <a:noFill/>
          <a:ln/>
        </p:spPr>
        <p:txBody>
          <a:bodyPr wrap="square" lIns="0" tIns="0" rIns="0" bIns="0" rtlCol="0" anchor="ctr"/>
          <a:lstStyle/>
          <a:p>
            <a:pPr algn="l" indent="0" marL="0">
              <a:buNone/>
            </a:pPr>
            <a:r>
              <a:rPr lang="en-US" sz="2000" b="1" dirty="0">
                <a:solidFill>
                  <a:schemeClr val="bg1"/>
                </a:solidFill>
              </a:rPr>
              <a:t>Grounded</a:t>
            </a:r>
            <a:endParaRPr lang="en-US" sz="2000" dirty="0"/>
          </a:p>
        </p:txBody>
      </p:sp>
      <p:sp>
        <p:nvSpPr>
          <p:cNvPr id="12" name="icon-bg-306"/>
          <p:cNvSpPr/>
          <p:nvPr/>
        </p:nvSpPr>
        <p:spPr>
          <a:xfrm>
            <a:off x="8595360" y="3429000"/>
            <a:ext cx="731520" cy="731520"/>
          </a:xfrm>
          <a:prstGeom prst="ellipse">
            <a:avLst/>
          </a:prstGeom>
          <a:solidFill>
            <a:schemeClr val="accent5"/>
          </a:solidFill>
          <a:ln/>
        </p:spPr>
      </p:sp>
      <p:pic>
        <p:nvPicPr>
          <p:cNvPr id="13" name="icon-307" descr="preencoded.png">    </p:cNvPr>
          <p:cNvPicPr>
            <a:picLocks noChangeAspect="1"/>
          </p:cNvPicPr>
          <p:nvPr/>
        </p:nvPicPr>
        <p:blipFill>
          <a:blip r:embed="rId4"/>
          <a:stretch>
            <a:fillRect/>
          </a:stretch>
        </p:blipFill>
        <p:spPr>
          <a:xfrm>
            <a:off x="8756294" y="3589934"/>
            <a:ext cx="409651" cy="409651"/>
          </a:xfrm>
          <a:prstGeom prst="rect">
            <a:avLst/>
          </a:prstGeom>
        </p:spPr>
      </p:pic>
      <p:sp>
        <p:nvSpPr>
          <p:cNvPr id="14" name="text-308"/>
          <p:cNvSpPr txBox="1"/>
          <p:nvPr/>
        </p:nvSpPr>
        <p:spPr>
          <a:xfrm>
            <a:off x="9464040" y="3429000"/>
            <a:ext cx="1463040" cy="731520"/>
          </a:xfrm>
          <a:prstGeom prst="rect">
            <a:avLst/>
          </a:prstGeom>
          <a:noFill/>
          <a:ln/>
        </p:spPr>
        <p:txBody>
          <a:bodyPr wrap="square" lIns="0" tIns="0" rIns="0" bIns="0" rtlCol="0" anchor="ctr"/>
          <a:lstStyle/>
          <a:p>
            <a:pPr algn="l" indent="0" marL="0">
              <a:buNone/>
            </a:pPr>
            <a:r>
              <a:rPr lang="en-US" sz="2000" b="1" dirty="0">
                <a:solidFill>
                  <a:schemeClr val="bg1"/>
                </a:solidFill>
              </a:rPr>
              <a:t>Audited</a:t>
            </a:r>
            <a:endParaRPr lang="en-US" sz="2000" dirty="0"/>
          </a:p>
        </p:txBody>
      </p:sp>
      <p:sp>
        <p:nvSpPr>
          <p:cNvPr id="15" name="text-309"/>
          <p:cNvSpPr txBox="1"/>
          <p:nvPr/>
        </p:nvSpPr>
        <p:spPr>
          <a:xfrm>
            <a:off x="640080" y="4937760"/>
            <a:ext cx="7315200" cy="365760"/>
          </a:xfrm>
          <a:prstGeom prst="rect">
            <a:avLst/>
          </a:prstGeom>
          <a:noFill/>
          <a:ln/>
        </p:spPr>
        <p:txBody>
          <a:bodyPr wrap="square" lIns="0" tIns="0" rIns="0" bIns="0" rtlCol="0" anchor="t"/>
          <a:lstStyle/>
          <a:p>
            <a:pPr algn="l" indent="0" marL="0">
              <a:buNone/>
            </a:pPr>
            <a:r>
              <a:rPr lang="en-US" sz="1600" dirty="0">
                <a:solidFill>
                  <a:srgbClr val="C9D8EE"/>
                </a:solidFill>
              </a:rPr>
              <a:t>github.com/pavan2184/tencent-hack</a:t>
            </a:r>
            <a:endParaRPr lang="en-US" sz="1600" dirty="0"/>
          </a:p>
        </p:txBody>
      </p:sp>
      <p:sp>
        <p:nvSpPr>
          <p:cNvPr id="16" name="text-310"/>
          <p:cNvSpPr txBox="1"/>
          <p:nvPr/>
        </p:nvSpPr>
        <p:spPr>
          <a:xfrm>
            <a:off x="640080" y="5989320"/>
            <a:ext cx="10515600" cy="365760"/>
          </a:xfrm>
          <a:prstGeom prst="rect">
            <a:avLst/>
          </a:prstGeom>
          <a:noFill/>
          <a:ln/>
        </p:spPr>
        <p:txBody>
          <a:bodyPr wrap="square" lIns="0" tIns="0" rIns="0" bIns="0" rtlCol="0" anchor="t"/>
          <a:lstStyle/>
          <a:p>
            <a:pPr algn="l" indent="0" marL="0">
              <a:buNone/>
            </a:pPr>
            <a:r>
              <a:rPr lang="en-US" sz="1300" dirty="0">
                <a:solidFill>
                  <a:srgbClr val="C9D8EE"/>
                </a:solidFill>
              </a:rPr>
              <a:t>Chai · Raphael · Pavan  ·  Tencent Cloud AI CAN DO IT Hackathon Singapore 2026</a:t>
            </a:r>
            <a:endParaRPr lang="en-US" sz="1300" dirty="0"/>
          </a:p>
        </p:txBody>
      </p:sp>
    </p:spTree>
  </p:cSld>
  <p:clrMapOvr>
    <a:masterClrMapping/>
  </p:clrMapOvr>
</p:sld>
</file>

<file path=ppt/theme/theme1.xml><?xml version="1.0" encoding="utf-8"?>
<a:theme xmlns:a="http://schemas.openxmlformats.org/drawingml/2006/main" name="Internal Brain">
  <a:themeElements>
    <a:clrScheme name="Internal Brain">
      <a:dk1>
        <a:srgbClr val="0F172A"/>
      </a:dk1>
      <a:lt1>
        <a:srgbClr val="FFFFFF"/>
      </a:lt1>
      <a:dk2>
        <a:srgbClr val="0B2545"/>
      </a:dk2>
      <a:lt2>
        <a:srgbClr val="EEF3F8"/>
      </a:lt2>
      <a:accent1>
        <a:srgbClr val="0E9F8E"/>
      </a:accent1>
      <a:accent2>
        <a:srgbClr val="E5484D"/>
      </a:accent2>
      <a:accent3>
        <a:srgbClr val="E9A23B"/>
      </a:accent3>
      <a:accent4>
        <a:srgbClr val="2F6FDB"/>
      </a:accent4>
      <a:accent5>
        <a:srgbClr val="7C5CD6"/>
      </a:accent5>
      <a:accent6>
        <a:srgbClr val="64748B"/>
      </a:accent6>
      <a:hlink>
        <a:srgbClr val="2F6FDB"/>
      </a:hlink>
      <a:folHlink>
        <a:srgbClr val="7C5CD6"/>
      </a:folHlink>
    </a:clrScheme>
    <a:fontScheme name="Internal Br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Internal Brain: architecture and trust boundaries</dc:title>
  <dc:subject>PptxGenJS Presentation</dc:subject>
  <dc:creator>Chai Pin Zheng</dc:creator>
  <cp:lastModifiedBy>Chai Pin Zheng</cp:lastModifiedBy>
  <cp:revision>1</cp:revision>
  <dcterms:created xsi:type="dcterms:W3CDTF">2026-10-16T08:13:55Z</dcterms:created>
  <dcterms:modified xsi:type="dcterms:W3CDTF">2026-10-16T08:13:55Z</dcterms:modified>
</cp:coreProperties>
</file>